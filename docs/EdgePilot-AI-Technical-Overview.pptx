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151C"/>
                </a:solidFill>
                <a:latin typeface="Arial"/>
              </a:defRPr>
            </a:pPr>
            <a:r>
              <a:rPr sz="1300" b="0" i="0" u="none" strike="noStrike">
                <a:solidFill>
                  <a:srgbClr val="10151C"/>
                </a:solidFill>
                <a:latin typeface="Arial"/>
              </a:rPr>
              <a:t>Effective weight after renormalisation (%)</a:t>
            </a:r>
          </a:p>
        </c:rich>
      </c:tx>
      <c:layout/>
      <c:overlay val="0"/>
    </c:title>
    <c:autoTitleDeleted val="0"/>
    <c:plotArea>
      <c:layout/>
      <c:barChart>
        <c:barDir val="col"/>
        <c:grouping val="clustered"/>
        <c:varyColors val="0"/>
        <c:ser>
          <c:idx val="0"/>
          <c:order val="0"/>
          <c:tx>
            <c:strRef>
              <c:f>Sheet1!$B$1</c:f>
              <c:strCache>
                <c:ptCount val="1"/>
                <c:pt idx="0">
                  <c:v>Local run — all four assessable</c:v>
                </c:pt>
              </c:strCache>
            </c:strRef>
          </c:tx>
          <c:spPr>
            <a:solidFill>
              <a:srgbClr val="00926B"/>
            </a:solidFill>
            <a:effectLst/>
          </c:spPr>
          <c:invertIfNegative val="0"/>
          <c:dLbls>
            <c:numFmt formatCode="0.0" sourceLinked="0"/>
            <c:txPr>
              <a:bodyPr/>
              <a:lstStyle/>
              <a:p>
                <a:pPr>
                  <a:defRPr b="0" i="0" strike="noStrike" sz="950" u="none">
                    <a:solidFill>
                      <a:srgbClr val="5B6672"/>
                    </a:solidFill>
                    <a:latin typeface="Arial"/>
                  </a:defRPr>
                </a:pPr>
              </a:p>
            </c:txPr>
            <c:showLegendKey val="0"/>
            <c:showVal val="1"/>
            <c:showCatName val="0"/>
            <c:showSerName val="0"/>
            <c:showPercent val="0"/>
            <c:showBubbleSize val="0"/>
            <c:showLeaderLines val="0"/>
          </c:dLbls>
          <c:cat>
            <c:multiLvlStrRef>
              <c:f>Sheet1!$A$2:$A$5</c:f>
              <c:multiLvlStrCache>
                <c:ptCount val="4"/>
                <c:lvl>
                  <c:pt idx="0">
                    <c:v>hardware</c:v>
                  </c:pt>
                  <c:pt idx="1">
                    <c:v>latency</c:v>
                  </c:pt>
                  <c:pt idx="2">
                    <c:v>cost</c:v>
                  </c:pt>
                  <c:pt idx="3">
                    <c:v>reliability</c:v>
                  </c:pt>
                </c:lvl>
              </c:multiLvlStrCache>
            </c:multiLvlStrRef>
          </c:cat>
          <c:val>
            <c:numRef>
              <c:f>Sheet1!$B$2:$B$5</c:f>
              <c:numCache>
                <c:formatCode>General</c:formatCode>
                <c:ptCount val="4"/>
                <c:pt idx="0">
                  <c:v>31.3</c:v>
                </c:pt>
                <c:pt idx="1">
                  <c:v>25</c:v>
                </c:pt>
                <c:pt idx="2">
                  <c:v>18.8</c:v>
                </c:pt>
                <c:pt idx="3">
                  <c:v>25</c:v>
                </c:pt>
              </c:numCache>
            </c:numRef>
          </c:val>
        </c:ser>
        <c:ser>
          <c:idx val="1"/>
          <c:order val="1"/>
          <c:tx>
            <c:strRef>
              <c:f>Sheet1!$C$1</c:f>
              <c:strCache>
                <c:ptCount val="1"/>
                <c:pt idx="0">
                  <c:v>Cloud run — hardware excluded</c:v>
                </c:pt>
              </c:strCache>
            </c:strRef>
          </c:tx>
          <c:spPr>
            <a:solidFill>
              <a:srgbClr val="2B5BD7"/>
            </a:solidFill>
            <a:effectLst/>
          </c:spPr>
          <c:invertIfNegative val="0"/>
          <c:dLbls>
            <c:numFmt formatCode="0.0" sourceLinked="0"/>
            <c:txPr>
              <a:bodyPr/>
              <a:lstStyle/>
              <a:p>
                <a:pPr>
                  <a:defRPr b="0" i="0" strike="noStrike" sz="950" u="none">
                    <a:solidFill>
                      <a:srgbClr val="5B6672"/>
                    </a:solidFill>
                    <a:latin typeface="Arial"/>
                  </a:defRPr>
                </a:pPr>
              </a:p>
            </c:txPr>
            <c:showLegendKey val="0"/>
            <c:showVal val="1"/>
            <c:showCatName val="0"/>
            <c:showSerName val="0"/>
            <c:showPercent val="0"/>
            <c:showBubbleSize val="0"/>
            <c:showLeaderLines val="0"/>
          </c:dLbls>
          <c:cat>
            <c:multiLvlStrRef>
              <c:f>Sheet1!$A$2:$A$5</c:f>
              <c:multiLvlStrCache>
                <c:ptCount val="4"/>
                <c:lvl>
                  <c:pt idx="0">
                    <c:v>hardware</c:v>
                  </c:pt>
                  <c:pt idx="1">
                    <c:v>latency</c:v>
                  </c:pt>
                  <c:pt idx="2">
                    <c:v>cost</c:v>
                  </c:pt>
                  <c:pt idx="3">
                    <c:v>reliability</c:v>
                  </c:pt>
                </c:lvl>
              </c:multiLvlStrCache>
            </c:multiLvlStrRef>
          </c:cat>
          <c:val>
            <c:numRef>
              <c:f>Sheet1!$C$2:$C$5</c:f>
              <c:numCache>
                <c:formatCode>General</c:formatCode>
                <c:ptCount val="4"/>
                <c:pt idx="0">
                  <c:v>0</c:v>
                </c:pt>
                <c:pt idx="1">
                  <c:v>36.4</c:v>
                </c:pt>
                <c:pt idx="2">
                  <c:v>27.3</c:v>
                </c:pt>
                <c:pt idx="3">
                  <c:v>36.4</c:v>
                </c:pt>
              </c:numCache>
            </c:numRef>
          </c:val>
        </c:ser>
        <c:dLbls>
          <c:numFmt formatCode="0.0" sourceLinked="0"/>
          <c:txPr>
            <a:bodyPr/>
            <a:lstStyle/>
            <a:p>
              <a:pPr>
                <a:defRPr b="0" i="0" strike="noStrike" sz="950" u="none">
                  <a:solidFill>
                    <a:srgbClr val="5B667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Courier New"/>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8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6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6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EdgePilot AI. Next.js 16 App Router, TypeScript, hexagonal module boundaries, Postgres via Prisma. 31,687 lines across 172 TS/TSX/MJS files in src, scripts and tests; 351 automated cases. The thesis of the whole system is in the subtitle: every number carries a label saying how it was obtained, and a number that could not be obtained is null, never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MeasurementStatus in infrastructure/providers/types.ts is a four-value union attached per field, per iteration. It is the constraint every other design decision in this deck follows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hosted deployment is the reason this split exists: the server is a container in a datacentre with no Ollama in it and no route to the visitor’s laptop. Only the tab can reach it. But scoring stays server-side so the two kinds of run remain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7,570 ms figure is iteration 1 of evidence/benchmark/measured-ollama-llama3.2_latest.json, captured before the cold-start discard existed. Averaged in, it pulls the mean to 2,759 ms against a p50 of 1,542 ms — a 79 percent inflation of the headline number. That artefact is why the N+1 discard was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AIProvider port exposes one error_message string and is not owned by this module, so the code rides inside it and is re-surfaced as error_code on MeasuredIteration. A chain that ends in timeout answers 504; one that ends in unauthorized answers 502. When every provider fails the response is success:false but still carries the full run in data — the chain is what an operator needs to diagnose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are FITS_GPU, PARTIAL_OFFLOAD, CPU_ONLY, NOT_APPLICABLE (cloud) and NOT_OBSERVED (no probe). The last two return null, which is what drives the renormalisation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evidence is regenerated in pretest and proves the deterministic local/cloud integration path without claiming provider performance. Live evidence is only written when a real provider ran. Manifest 1.0.1 changed only a metadata URL — the images are byte-identical to 1.0.0 — and the dataset card records that explicitly so evidence carrying the older hash stays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point: the system is built so that the least convenient answer is the one it is easiest to emit — null instead of zero, FAIL instead of a moved threshold, a refusal instead of a plausible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116"/>
          </a:solidFill>
          <a:ln w="12700">
            <a:solidFill>
              <a:srgbClr val="0E1116"/>
            </a:solidFill>
            <a:prstDash val="solid"/>
          </a:ln>
        </p:spPr>
      </p:sp>
      <p:sp>
        <p:nvSpPr>
          <p:cNvPr id="3" name="Text 1"/>
          <p:cNvSpPr txBox="1"/>
          <p:nvPr/>
        </p:nvSpPr>
        <p:spPr>
          <a:xfrm>
            <a:off x="777240" y="1481328"/>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EdgePilot AI</a:t>
            </a:r>
            <a:endParaRPr lang="en-US" sz="5400" dirty="0"/>
          </a:p>
        </p:txBody>
      </p:sp>
      <p:sp>
        <p:nvSpPr>
          <p:cNvPr id="4" name="Text 2"/>
          <p:cNvSpPr txBox="1"/>
          <p:nvPr/>
        </p:nvSpPr>
        <p:spPr>
          <a:xfrm>
            <a:off x="804672" y="2432304"/>
            <a:ext cx="9509760" cy="822960"/>
          </a:xfrm>
          <a:prstGeom prst="rect">
            <a:avLst/>
          </a:prstGeom>
          <a:noFill/>
          <a:ln/>
        </p:spPr>
        <p:txBody>
          <a:bodyPr wrap="square" lIns="0" tIns="0" rIns="0" bIns="0" rtlCol="0" anchor="ctr"/>
          <a:lstStyle/>
          <a:p>
            <a:pPr indent="0" marL="0">
              <a:lnSpc>
                <a:spcPts val="2400"/>
              </a:lnSpc>
              <a:buNone/>
            </a:pPr>
            <a:r>
              <a:rPr lang="en-US" sz="1700" dirty="0">
                <a:solidFill>
                  <a:srgbClr val="A7B2BE"/>
                </a:solidFill>
                <a:latin typeface="Calibri" pitchFamily="34" charset="0"/>
                <a:ea typeface="Calibri" pitchFamily="34" charset="-122"/>
                <a:cs typeface="Calibri" pitchFamily="34" charset="-120"/>
              </a:rPr>
              <a:t>A decision-support system that answers "local, cloud, or not on this device" from</a:t>
            </a:r>
            <a:endParaRPr lang="en-US" sz="1700" dirty="0"/>
          </a:p>
          <a:p>
            <a:pPr indent="0" marL="0">
              <a:lnSpc>
                <a:spcPts val="2400"/>
              </a:lnSpc>
              <a:buNone/>
            </a:pPr>
            <a:r>
              <a:rPr lang="en-US" sz="1700" dirty="0">
                <a:solidFill>
                  <a:srgbClr val="A7B2BE"/>
                </a:solidFill>
                <a:latin typeface="Calibri" pitchFamily="34" charset="0"/>
                <a:ea typeface="Calibri" pitchFamily="34" charset="-122"/>
                <a:cs typeface="Calibri" pitchFamily="34" charset="-120"/>
              </a:rPr>
              <a:t>measurements — and refuses to answer from anything else.</a:t>
            </a:r>
            <a:endParaRPr lang="en-US" sz="1700" dirty="0"/>
          </a:p>
        </p:txBody>
      </p:sp>
      <p:sp>
        <p:nvSpPr>
          <p:cNvPr id="5" name="Shape 3"/>
          <p:cNvSpPr/>
          <p:nvPr/>
        </p:nvSpPr>
        <p:spPr>
          <a:xfrm>
            <a:off x="804672" y="3401568"/>
            <a:ext cx="3008376" cy="274320"/>
          </a:xfrm>
          <a:prstGeom prst="roundRect">
            <a:avLst>
              <a:gd name="adj" fmla="val 50000"/>
            </a:avLst>
          </a:prstGeom>
          <a:solidFill>
            <a:srgbClr val="10261F"/>
          </a:solidFill>
          <a:ln w="12700">
            <a:solidFill>
              <a:srgbClr val="10261F"/>
            </a:solidFill>
            <a:prstDash val="solid"/>
          </a:ln>
        </p:spPr>
      </p:sp>
      <p:sp>
        <p:nvSpPr>
          <p:cNvPr id="6" name="Text 4"/>
          <p:cNvSpPr txBox="1"/>
          <p:nvPr/>
        </p:nvSpPr>
        <p:spPr>
          <a:xfrm>
            <a:off x="804672" y="3401568"/>
            <a:ext cx="3008376"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Next.js 16 · App Router</a:t>
            </a:r>
            <a:endParaRPr lang="en-US" sz="1000" dirty="0"/>
          </a:p>
        </p:txBody>
      </p:sp>
      <p:sp>
        <p:nvSpPr>
          <p:cNvPr id="7" name="Shape 5"/>
          <p:cNvSpPr/>
          <p:nvPr/>
        </p:nvSpPr>
        <p:spPr>
          <a:xfrm>
            <a:off x="3959352" y="3401568"/>
            <a:ext cx="3008376" cy="274320"/>
          </a:xfrm>
          <a:prstGeom prst="roundRect">
            <a:avLst>
              <a:gd name="adj" fmla="val 50000"/>
            </a:avLst>
          </a:prstGeom>
          <a:solidFill>
            <a:srgbClr val="10261F"/>
          </a:solidFill>
          <a:ln w="12700">
            <a:solidFill>
              <a:srgbClr val="10261F"/>
            </a:solidFill>
            <a:prstDash val="solid"/>
          </a:ln>
        </p:spPr>
      </p:sp>
      <p:sp>
        <p:nvSpPr>
          <p:cNvPr id="8" name="Text 6"/>
          <p:cNvSpPr txBox="1"/>
          <p:nvPr/>
        </p:nvSpPr>
        <p:spPr>
          <a:xfrm>
            <a:off x="3959352" y="3401568"/>
            <a:ext cx="3008376"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TypeScript 5.3 · strict</a:t>
            </a:r>
            <a:endParaRPr lang="en-US" sz="1000" dirty="0"/>
          </a:p>
        </p:txBody>
      </p:sp>
      <p:sp>
        <p:nvSpPr>
          <p:cNvPr id="9" name="Shape 7"/>
          <p:cNvSpPr/>
          <p:nvPr/>
        </p:nvSpPr>
        <p:spPr>
          <a:xfrm>
            <a:off x="7114032" y="3401568"/>
            <a:ext cx="2295144" cy="274320"/>
          </a:xfrm>
          <a:prstGeom prst="roundRect">
            <a:avLst>
              <a:gd name="adj" fmla="val 50000"/>
            </a:avLst>
          </a:prstGeom>
          <a:solidFill>
            <a:srgbClr val="10261F"/>
          </a:solidFill>
          <a:ln w="12700">
            <a:solidFill>
              <a:srgbClr val="10261F"/>
            </a:solidFill>
            <a:prstDash val="solid"/>
          </a:ln>
        </p:spPr>
      </p:sp>
      <p:sp>
        <p:nvSpPr>
          <p:cNvPr id="10" name="Text 8"/>
          <p:cNvSpPr txBox="1"/>
          <p:nvPr/>
        </p:nvSpPr>
        <p:spPr>
          <a:xfrm>
            <a:off x="7114032" y="3401568"/>
            <a:ext cx="2295144"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Hexagonal modules</a:t>
            </a:r>
            <a:endParaRPr lang="en-US" sz="1000" dirty="0"/>
          </a:p>
        </p:txBody>
      </p:sp>
      <p:sp>
        <p:nvSpPr>
          <p:cNvPr id="11" name="Shape 9"/>
          <p:cNvSpPr/>
          <p:nvPr/>
        </p:nvSpPr>
        <p:spPr>
          <a:xfrm>
            <a:off x="9555480" y="3401568"/>
            <a:ext cx="2532888" cy="274320"/>
          </a:xfrm>
          <a:prstGeom prst="roundRect">
            <a:avLst>
              <a:gd name="adj" fmla="val 50000"/>
            </a:avLst>
          </a:prstGeom>
          <a:solidFill>
            <a:srgbClr val="10261F"/>
          </a:solidFill>
          <a:ln w="12700">
            <a:solidFill>
              <a:srgbClr val="10261F"/>
            </a:solidFill>
            <a:prstDash val="solid"/>
          </a:ln>
        </p:spPr>
      </p:sp>
      <p:sp>
        <p:nvSpPr>
          <p:cNvPr id="12" name="Text 10"/>
          <p:cNvSpPr txBox="1"/>
          <p:nvPr/>
        </p:nvSpPr>
        <p:spPr>
          <a:xfrm>
            <a:off x="9555480" y="3401568"/>
            <a:ext cx="2532888"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Postgres · Prisma 5</a:t>
            </a:r>
            <a:endParaRPr lang="en-US" sz="1000" dirty="0"/>
          </a:p>
        </p:txBody>
      </p:sp>
      <p:sp>
        <p:nvSpPr>
          <p:cNvPr id="13" name="Text 11"/>
          <p:cNvSpPr txBox="1"/>
          <p:nvPr/>
        </p:nvSpPr>
        <p:spPr>
          <a:xfrm>
            <a:off x="777240" y="4206240"/>
            <a:ext cx="237744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31.7k</a:t>
            </a:r>
            <a:endParaRPr lang="en-US" sz="4000" dirty="0"/>
          </a:p>
        </p:txBody>
      </p:sp>
      <p:sp>
        <p:nvSpPr>
          <p:cNvPr id="14" name="Text 12"/>
          <p:cNvSpPr txBox="1"/>
          <p:nvPr/>
        </p:nvSpPr>
        <p:spPr>
          <a:xfrm>
            <a:off x="777240" y="4919472"/>
            <a:ext cx="2468880" cy="640080"/>
          </a:xfrm>
          <a:prstGeom prst="rect">
            <a:avLst/>
          </a:prstGeom>
          <a:noFill/>
          <a:ln/>
        </p:spPr>
        <p:txBody>
          <a:bodyPr wrap="square" lIns="0" tIns="0" rIns="0" bIns="0" rtlCol="0" anchor="ctr"/>
          <a:lstStyle/>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lines of TS/TSX</a:t>
            </a:r>
            <a:endParaRPr lang="en-US" sz="1150" dirty="0"/>
          </a:p>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across 172 files</a:t>
            </a:r>
            <a:endParaRPr lang="en-US" sz="1150" dirty="0"/>
          </a:p>
        </p:txBody>
      </p:sp>
      <p:sp>
        <p:nvSpPr>
          <p:cNvPr id="15" name="Text 13"/>
          <p:cNvSpPr txBox="1"/>
          <p:nvPr/>
        </p:nvSpPr>
        <p:spPr>
          <a:xfrm>
            <a:off x="3520440" y="4206240"/>
            <a:ext cx="237744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351</a:t>
            </a:r>
            <a:endParaRPr lang="en-US" sz="4000" dirty="0"/>
          </a:p>
        </p:txBody>
      </p:sp>
      <p:sp>
        <p:nvSpPr>
          <p:cNvPr id="16" name="Text 14"/>
          <p:cNvSpPr txBox="1"/>
          <p:nvPr/>
        </p:nvSpPr>
        <p:spPr>
          <a:xfrm>
            <a:off x="3520440" y="4919472"/>
            <a:ext cx="2468880" cy="640080"/>
          </a:xfrm>
          <a:prstGeom prst="rect">
            <a:avLst/>
          </a:prstGeom>
          <a:noFill/>
          <a:ln/>
        </p:spPr>
        <p:txBody>
          <a:bodyPr wrap="square" lIns="0" tIns="0" rIns="0" bIns="0" rtlCol="0" anchor="ctr"/>
          <a:lstStyle/>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automated cases</a:t>
            </a:r>
            <a:endParaRPr lang="en-US" sz="1150" dirty="0"/>
          </a:p>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in 5 suites</a:t>
            </a:r>
            <a:endParaRPr lang="en-US" sz="1150" dirty="0"/>
          </a:p>
        </p:txBody>
      </p:sp>
      <p:sp>
        <p:nvSpPr>
          <p:cNvPr id="17" name="Text 15"/>
          <p:cNvSpPr txBox="1"/>
          <p:nvPr/>
        </p:nvSpPr>
        <p:spPr>
          <a:xfrm>
            <a:off x="6263640" y="4206240"/>
            <a:ext cx="237744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8</a:t>
            </a:r>
            <a:endParaRPr lang="en-US" sz="4000" dirty="0"/>
          </a:p>
        </p:txBody>
      </p:sp>
      <p:sp>
        <p:nvSpPr>
          <p:cNvPr id="18" name="Text 16"/>
          <p:cNvSpPr txBox="1"/>
          <p:nvPr/>
        </p:nvSpPr>
        <p:spPr>
          <a:xfrm>
            <a:off x="6263640" y="4919472"/>
            <a:ext cx="2468880" cy="640080"/>
          </a:xfrm>
          <a:prstGeom prst="rect">
            <a:avLst/>
          </a:prstGeom>
          <a:noFill/>
          <a:ln/>
        </p:spPr>
        <p:txBody>
          <a:bodyPr wrap="square" lIns="0" tIns="0" rIns="0" bIns="0" rtlCol="0" anchor="ctr"/>
          <a:lstStyle/>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documented provider</a:t>
            </a:r>
            <a:endParaRPr lang="en-US" sz="1150" dirty="0"/>
          </a:p>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error codes</a:t>
            </a:r>
            <a:endParaRPr lang="en-US" sz="1150" dirty="0"/>
          </a:p>
        </p:txBody>
      </p:sp>
      <p:sp>
        <p:nvSpPr>
          <p:cNvPr id="19" name="Text 17"/>
          <p:cNvSpPr txBox="1"/>
          <p:nvPr/>
        </p:nvSpPr>
        <p:spPr>
          <a:xfrm>
            <a:off x="9006840" y="4206240"/>
            <a:ext cx="237744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4</a:t>
            </a:r>
            <a:endParaRPr lang="en-US" sz="4000" dirty="0"/>
          </a:p>
        </p:txBody>
      </p:sp>
      <p:sp>
        <p:nvSpPr>
          <p:cNvPr id="20" name="Text 18"/>
          <p:cNvSpPr txBox="1"/>
          <p:nvPr/>
        </p:nvSpPr>
        <p:spPr>
          <a:xfrm>
            <a:off x="9006840" y="4919472"/>
            <a:ext cx="2468880" cy="640080"/>
          </a:xfrm>
          <a:prstGeom prst="rect">
            <a:avLst/>
          </a:prstGeom>
          <a:noFill/>
          <a:ln/>
        </p:spPr>
        <p:txBody>
          <a:bodyPr wrap="square" lIns="0" tIns="0" rIns="0" bIns="0" rtlCol="0" anchor="ctr"/>
          <a:lstStyle/>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measurement</a:t>
            </a:r>
            <a:endParaRPr lang="en-US" sz="1150" dirty="0"/>
          </a:p>
          <a:p>
            <a:pPr indent="0" marL="0">
              <a:lnSpc>
                <a:spcPts val="1400"/>
              </a:lnSpc>
              <a:buNone/>
            </a:pPr>
            <a:r>
              <a:rPr lang="en-US" sz="1150" dirty="0">
                <a:solidFill>
                  <a:srgbClr val="A7B2BE"/>
                </a:solidFill>
                <a:latin typeface="Calibri" pitchFamily="34" charset="0"/>
                <a:ea typeface="Calibri" pitchFamily="34" charset="-122"/>
                <a:cs typeface="Calibri" pitchFamily="34" charset="-120"/>
              </a:rPr>
              <a:t>provenance states</a:t>
            </a:r>
            <a:endParaRPr lang="en-US" sz="1150" dirty="0"/>
          </a:p>
        </p:txBody>
      </p:sp>
      <p:sp>
        <p:nvSpPr>
          <p:cNvPr id="21" name="Text 19"/>
          <p:cNvSpPr txBox="1"/>
          <p:nvPr/>
        </p:nvSpPr>
        <p:spPr>
          <a:xfrm>
            <a:off x="804672" y="6172200"/>
            <a:ext cx="7315200" cy="274320"/>
          </a:xfrm>
          <a:prstGeom prst="rect">
            <a:avLst/>
          </a:prstGeom>
          <a:noFill/>
          <a:ln/>
        </p:spPr>
        <p:txBody>
          <a:bodyPr wrap="square" lIns="0" tIns="0" rIns="0" bIns="0" rtlCol="0" anchor="ctr"/>
          <a:lstStyle/>
          <a:p>
            <a:pPr indent="0" marL="0">
              <a:buNone/>
            </a:pPr>
            <a:r>
              <a:rPr lang="en-US" sz="1000" dirty="0">
                <a:solidFill>
                  <a:srgbClr val="4A5560"/>
                </a:solidFill>
                <a:latin typeface="Courier New" pitchFamily="34" charset="0"/>
                <a:ea typeface="Courier New" pitchFamily="34" charset="-122"/>
                <a:cs typeface="Courier New" pitchFamily="34" charset="-120"/>
              </a:rPr>
              <a:t>Technical overview  ·  AGPL-3.0-or-later  ·  main @ ae6e7ac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PROBLEM</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Placement decisions are made on vibes; the numbers that exist are unlabelled</a:t>
            </a:r>
            <a:endParaRPr lang="en-US" sz="3000" dirty="0"/>
          </a:p>
        </p:txBody>
      </p:sp>
      <p:sp>
        <p:nvSpPr>
          <p:cNvPr id="4" name="Text 2"/>
          <p:cNvSpPr txBox="1"/>
          <p:nvPr/>
        </p:nvSpPr>
        <p:spPr>
          <a:xfrm>
            <a:off x="566928" y="1572768"/>
            <a:ext cx="5029200" cy="2377440"/>
          </a:xfrm>
          <a:prstGeom prst="rect">
            <a:avLst/>
          </a:prstGeom>
          <a:noFill/>
          <a:ln/>
        </p:spPr>
        <p:txBody>
          <a:bodyPr wrap="square" lIns="0" tIns="0" rIns="0" bIns="0" rtlCol="0" anchor="t"/>
          <a:lstStyle/>
          <a:p>
            <a:pPr algn="l" indent="0" marL="0">
              <a:lnSpc>
                <a:spcPts val="1900"/>
              </a:lnSpc>
              <a:buNone/>
            </a:pPr>
            <a:r>
              <a:rPr lang="en-US" sz="1350" dirty="0">
                <a:solidFill>
                  <a:srgbClr val="5B6672"/>
                </a:solidFill>
                <a:latin typeface="Calibri" pitchFamily="34" charset="0"/>
                <a:ea typeface="Calibri" pitchFamily="34" charset="-122"/>
                <a:cs typeface="Calibri" pitchFamily="34" charset="-120"/>
              </a:rPr>
              <a:t>Choosing where a model runs is a measurement problem that is almost always answered by demo impressions. The three ways it goes wrong are all measurement failures, not judgement failures:</a:t>
            </a:r>
            <a:endParaRPr lang="en-US" sz="1350" dirty="0"/>
          </a:p>
        </p:txBody>
      </p:sp>
      <p:sp>
        <p:nvSpPr>
          <p:cNvPr id="5" name="Shape 3"/>
          <p:cNvSpPr/>
          <p:nvPr/>
        </p:nvSpPr>
        <p:spPr>
          <a:xfrm>
            <a:off x="566928" y="3054096"/>
            <a:ext cx="274320" cy="274320"/>
          </a:xfrm>
          <a:prstGeom prst="roundRect">
            <a:avLst>
              <a:gd name="adj" fmla="val 50000"/>
            </a:avLst>
          </a:prstGeom>
          <a:solidFill>
            <a:srgbClr val="F8E2DC"/>
          </a:solidFill>
          <a:ln w="12700">
            <a:solidFill>
              <a:srgbClr val="F8E2DC"/>
            </a:solidFill>
            <a:prstDash val="solid"/>
          </a:ln>
        </p:spPr>
      </p:sp>
      <p:sp>
        <p:nvSpPr>
          <p:cNvPr id="6" name="Text 4"/>
          <p:cNvSpPr txBox="1"/>
          <p:nvPr/>
        </p:nvSpPr>
        <p:spPr>
          <a:xfrm>
            <a:off x="566928" y="3054096"/>
            <a:ext cx="274320" cy="274320"/>
          </a:xfrm>
          <a:prstGeom prst="rect">
            <a:avLst/>
          </a:prstGeom>
          <a:noFill/>
          <a:ln/>
        </p:spPr>
        <p:txBody>
          <a:bodyPr wrap="square" lIns="0" tIns="0" rIns="0" bIns="0" rtlCol="0" anchor="ctr"/>
          <a:lstStyle/>
          <a:p>
            <a:pPr algn="ctr" indent="0" marL="0">
              <a:buNone/>
            </a:pPr>
            <a:r>
              <a:rPr lang="en-US" sz="1050" b="1" dirty="0">
                <a:solidFill>
                  <a:srgbClr val="C24127"/>
                </a:solidFill>
                <a:latin typeface="Courier New" pitchFamily="34" charset="0"/>
                <a:ea typeface="Courier New" pitchFamily="34" charset="-122"/>
                <a:cs typeface="Courier New" pitchFamily="34" charset="-120"/>
              </a:rPr>
              <a:t>1</a:t>
            </a:r>
            <a:endParaRPr lang="en-US" sz="1050" dirty="0"/>
          </a:p>
        </p:txBody>
      </p:sp>
      <p:sp>
        <p:nvSpPr>
          <p:cNvPr id="7" name="Text 5"/>
          <p:cNvSpPr txBox="1"/>
          <p:nvPr/>
        </p:nvSpPr>
        <p:spPr>
          <a:xfrm>
            <a:off x="969264" y="2999232"/>
            <a:ext cx="4663440" cy="274320"/>
          </a:xfrm>
          <a:prstGeom prst="rect">
            <a:avLst/>
          </a:prstGeom>
          <a:noFill/>
          <a:ln/>
        </p:spPr>
        <p:txBody>
          <a:bodyPr wrap="square" lIns="0" tIns="0" rIns="0" bIns="0" rtlCol="0" anchor="t"/>
          <a:lstStyle/>
          <a:p>
            <a:pPr algn="l" indent="0" marL="0">
              <a:lnSpc>
                <a:spcPts val="1700"/>
              </a:lnSpc>
              <a:buNone/>
            </a:pPr>
            <a:r>
              <a:rPr lang="en-US" sz="1350" b="1" dirty="0">
                <a:solidFill>
                  <a:srgbClr val="10151C"/>
                </a:solidFill>
                <a:latin typeface="Calibri" pitchFamily="34" charset="0"/>
                <a:ea typeface="Calibri" pitchFamily="34" charset="-122"/>
                <a:cs typeface="Calibri" pitchFamily="34" charset="-120"/>
              </a:rPr>
              <a:t>Cold start read as steady state</a:t>
            </a:r>
            <a:endParaRPr lang="en-US" sz="1350" dirty="0"/>
          </a:p>
        </p:txBody>
      </p:sp>
      <p:sp>
        <p:nvSpPr>
          <p:cNvPr id="8" name="Text 6"/>
          <p:cNvSpPr txBox="1"/>
          <p:nvPr/>
        </p:nvSpPr>
        <p:spPr>
          <a:xfrm>
            <a:off x="969264" y="3291840"/>
            <a:ext cx="4663440" cy="548640"/>
          </a:xfrm>
          <a:prstGeom prst="rect">
            <a:avLst/>
          </a:prstGeom>
          <a:noFill/>
          <a:ln/>
        </p:spPr>
        <p:txBody>
          <a:bodyPr wrap="square" lIns="0" tIns="0" rIns="0" bIns="0" rtlCol="0" anchor="t"/>
          <a:lstStyle/>
          <a:p>
            <a:pPr algn="l" indent="0" marL="0">
              <a:lnSpc>
                <a:spcPts val="1500"/>
              </a:lnSpc>
              <a:buNone/>
            </a:pPr>
            <a:r>
              <a:rPr lang="en-US" sz="1200" dirty="0">
                <a:solidFill>
                  <a:srgbClr val="5B6672"/>
                </a:solidFill>
                <a:latin typeface="Calibri" pitchFamily="34" charset="0"/>
                <a:ea typeface="Calibri" pitchFamily="34" charset="-122"/>
                <a:cs typeface="Calibri" pitchFamily="34" charset="-120"/>
              </a:rPr>
              <a:t>The first call loads weights off disk. Averaged in, it moves the mean by multiples.</a:t>
            </a:r>
            <a:endParaRPr lang="en-US" sz="1200" dirty="0"/>
          </a:p>
        </p:txBody>
      </p:sp>
      <p:sp>
        <p:nvSpPr>
          <p:cNvPr id="9" name="Shape 7"/>
          <p:cNvSpPr/>
          <p:nvPr/>
        </p:nvSpPr>
        <p:spPr>
          <a:xfrm>
            <a:off x="566928" y="4078224"/>
            <a:ext cx="274320" cy="274320"/>
          </a:xfrm>
          <a:prstGeom prst="roundRect">
            <a:avLst>
              <a:gd name="adj" fmla="val 50000"/>
            </a:avLst>
          </a:prstGeom>
          <a:solidFill>
            <a:srgbClr val="F8E2DC"/>
          </a:solidFill>
          <a:ln w="12700">
            <a:solidFill>
              <a:srgbClr val="F8E2DC"/>
            </a:solidFill>
            <a:prstDash val="solid"/>
          </a:ln>
        </p:spPr>
      </p:sp>
      <p:sp>
        <p:nvSpPr>
          <p:cNvPr id="10" name="Text 8"/>
          <p:cNvSpPr txBox="1"/>
          <p:nvPr/>
        </p:nvSpPr>
        <p:spPr>
          <a:xfrm>
            <a:off x="566928" y="4078224"/>
            <a:ext cx="274320" cy="274320"/>
          </a:xfrm>
          <a:prstGeom prst="rect">
            <a:avLst/>
          </a:prstGeom>
          <a:noFill/>
          <a:ln/>
        </p:spPr>
        <p:txBody>
          <a:bodyPr wrap="square" lIns="0" tIns="0" rIns="0" bIns="0" rtlCol="0" anchor="ctr"/>
          <a:lstStyle/>
          <a:p>
            <a:pPr algn="ctr" indent="0" marL="0">
              <a:buNone/>
            </a:pPr>
            <a:r>
              <a:rPr lang="en-US" sz="1050" b="1" dirty="0">
                <a:solidFill>
                  <a:srgbClr val="C24127"/>
                </a:solidFill>
                <a:latin typeface="Courier New" pitchFamily="34" charset="0"/>
                <a:ea typeface="Courier New" pitchFamily="34" charset="-122"/>
                <a:cs typeface="Courier New" pitchFamily="34" charset="-120"/>
              </a:rPr>
              <a:t>2</a:t>
            </a:r>
            <a:endParaRPr lang="en-US" sz="1050" dirty="0"/>
          </a:p>
        </p:txBody>
      </p:sp>
      <p:sp>
        <p:nvSpPr>
          <p:cNvPr id="11" name="Text 9"/>
          <p:cNvSpPr txBox="1"/>
          <p:nvPr/>
        </p:nvSpPr>
        <p:spPr>
          <a:xfrm>
            <a:off x="969264" y="4023360"/>
            <a:ext cx="4663440" cy="274320"/>
          </a:xfrm>
          <a:prstGeom prst="rect">
            <a:avLst/>
          </a:prstGeom>
          <a:noFill/>
          <a:ln/>
        </p:spPr>
        <p:txBody>
          <a:bodyPr wrap="square" lIns="0" tIns="0" rIns="0" bIns="0" rtlCol="0" anchor="t"/>
          <a:lstStyle/>
          <a:p>
            <a:pPr algn="l" indent="0" marL="0">
              <a:lnSpc>
                <a:spcPts val="1700"/>
              </a:lnSpc>
              <a:buNone/>
            </a:pPr>
            <a:r>
              <a:rPr lang="en-US" sz="1350" b="1" dirty="0">
                <a:solidFill>
                  <a:srgbClr val="10151C"/>
                </a:solidFill>
                <a:latin typeface="Calibri" pitchFamily="34" charset="0"/>
                <a:ea typeface="Calibri" pitchFamily="34" charset="-122"/>
                <a:cs typeface="Calibri" pitchFamily="34" charset="-120"/>
              </a:rPr>
              <a:t>Zero standing in for unmeasured</a:t>
            </a:r>
            <a:endParaRPr lang="en-US" sz="1350" dirty="0"/>
          </a:p>
        </p:txBody>
      </p:sp>
      <p:sp>
        <p:nvSpPr>
          <p:cNvPr id="12" name="Text 10"/>
          <p:cNvSpPr txBox="1"/>
          <p:nvPr/>
        </p:nvSpPr>
        <p:spPr>
          <a:xfrm>
            <a:off x="969264" y="4315968"/>
            <a:ext cx="4663440" cy="548640"/>
          </a:xfrm>
          <a:prstGeom prst="rect">
            <a:avLst/>
          </a:prstGeom>
          <a:noFill/>
          <a:ln/>
        </p:spPr>
        <p:txBody>
          <a:bodyPr wrap="square" lIns="0" tIns="0" rIns="0" bIns="0" rtlCol="0" anchor="t"/>
          <a:lstStyle/>
          <a:p>
            <a:pPr algn="l" indent="0" marL="0">
              <a:lnSpc>
                <a:spcPts val="1500"/>
              </a:lnSpc>
              <a:buNone/>
            </a:pPr>
            <a:r>
              <a:rPr lang="en-US" sz="1200" dirty="0">
                <a:solidFill>
                  <a:srgbClr val="5B6672"/>
                </a:solidFill>
                <a:latin typeface="Calibri" pitchFamily="34" charset="0"/>
                <a:ea typeface="Calibri" pitchFamily="34" charset="-122"/>
                <a:cs typeface="Calibri" pitchFamily="34" charset="-120"/>
              </a:rPr>
              <a:t>A provider that reports no token count is not a provider that produced zero tokens.</a:t>
            </a:r>
            <a:endParaRPr lang="en-US" sz="1200" dirty="0"/>
          </a:p>
        </p:txBody>
      </p:sp>
      <p:sp>
        <p:nvSpPr>
          <p:cNvPr id="13" name="Shape 11"/>
          <p:cNvSpPr/>
          <p:nvPr/>
        </p:nvSpPr>
        <p:spPr>
          <a:xfrm>
            <a:off x="566928" y="5102352"/>
            <a:ext cx="274320" cy="274320"/>
          </a:xfrm>
          <a:prstGeom prst="roundRect">
            <a:avLst>
              <a:gd name="adj" fmla="val 50000"/>
            </a:avLst>
          </a:prstGeom>
          <a:solidFill>
            <a:srgbClr val="F8E2DC"/>
          </a:solidFill>
          <a:ln w="12700">
            <a:solidFill>
              <a:srgbClr val="F8E2DC"/>
            </a:solidFill>
            <a:prstDash val="solid"/>
          </a:ln>
        </p:spPr>
      </p:sp>
      <p:sp>
        <p:nvSpPr>
          <p:cNvPr id="14" name="Text 12"/>
          <p:cNvSpPr txBox="1"/>
          <p:nvPr/>
        </p:nvSpPr>
        <p:spPr>
          <a:xfrm>
            <a:off x="566928" y="5102352"/>
            <a:ext cx="274320" cy="274320"/>
          </a:xfrm>
          <a:prstGeom prst="rect">
            <a:avLst/>
          </a:prstGeom>
          <a:noFill/>
          <a:ln/>
        </p:spPr>
        <p:txBody>
          <a:bodyPr wrap="square" lIns="0" tIns="0" rIns="0" bIns="0" rtlCol="0" anchor="ctr"/>
          <a:lstStyle/>
          <a:p>
            <a:pPr algn="ctr" indent="0" marL="0">
              <a:buNone/>
            </a:pPr>
            <a:r>
              <a:rPr lang="en-US" sz="1050" b="1" dirty="0">
                <a:solidFill>
                  <a:srgbClr val="C24127"/>
                </a:solidFill>
                <a:latin typeface="Courier New" pitchFamily="34" charset="0"/>
                <a:ea typeface="Courier New" pitchFamily="34" charset="-122"/>
                <a:cs typeface="Courier New" pitchFamily="34" charset="-120"/>
              </a:rPr>
              <a:t>3</a:t>
            </a:r>
            <a:endParaRPr lang="en-US" sz="1050" dirty="0"/>
          </a:p>
        </p:txBody>
      </p:sp>
      <p:sp>
        <p:nvSpPr>
          <p:cNvPr id="15" name="Text 13"/>
          <p:cNvSpPr txBox="1"/>
          <p:nvPr/>
        </p:nvSpPr>
        <p:spPr>
          <a:xfrm>
            <a:off x="969264" y="5047488"/>
            <a:ext cx="4663440" cy="274320"/>
          </a:xfrm>
          <a:prstGeom prst="rect">
            <a:avLst/>
          </a:prstGeom>
          <a:noFill/>
          <a:ln/>
        </p:spPr>
        <p:txBody>
          <a:bodyPr wrap="square" lIns="0" tIns="0" rIns="0" bIns="0" rtlCol="0" anchor="t"/>
          <a:lstStyle/>
          <a:p>
            <a:pPr algn="l" indent="0" marL="0">
              <a:lnSpc>
                <a:spcPts val="1700"/>
              </a:lnSpc>
              <a:buNone/>
            </a:pPr>
            <a:r>
              <a:rPr lang="en-US" sz="1350" b="1" dirty="0">
                <a:solidFill>
                  <a:srgbClr val="10151C"/>
                </a:solidFill>
                <a:latin typeface="Calibri" pitchFamily="34" charset="0"/>
                <a:ea typeface="Calibri" pitchFamily="34" charset="-122"/>
                <a:cs typeface="Calibri" pitchFamily="34" charset="-120"/>
              </a:rPr>
              <a:t>Privacy averaged into a score</a:t>
            </a:r>
            <a:endParaRPr lang="en-US" sz="1350" dirty="0"/>
          </a:p>
        </p:txBody>
      </p:sp>
      <p:sp>
        <p:nvSpPr>
          <p:cNvPr id="16" name="Text 14"/>
          <p:cNvSpPr txBox="1"/>
          <p:nvPr/>
        </p:nvSpPr>
        <p:spPr>
          <a:xfrm>
            <a:off x="969264" y="5340096"/>
            <a:ext cx="4663440" cy="548640"/>
          </a:xfrm>
          <a:prstGeom prst="rect">
            <a:avLst/>
          </a:prstGeom>
          <a:noFill/>
          <a:ln/>
        </p:spPr>
        <p:txBody>
          <a:bodyPr wrap="square" lIns="0" tIns="0" rIns="0" bIns="0" rtlCol="0" anchor="t"/>
          <a:lstStyle/>
          <a:p>
            <a:pPr algn="l" indent="0" marL="0">
              <a:lnSpc>
                <a:spcPts val="1500"/>
              </a:lnSpc>
              <a:buNone/>
            </a:pPr>
            <a:r>
              <a:rPr lang="en-US" sz="1200" dirty="0">
                <a:solidFill>
                  <a:srgbClr val="5B6672"/>
                </a:solidFill>
                <a:latin typeface="Calibri" pitchFamily="34" charset="0"/>
                <a:ea typeface="Calibri" pitchFamily="34" charset="-122"/>
                <a:cs typeface="Calibri" pitchFamily="34" charset="-120"/>
              </a:rPr>
              <a:t>A fast vendor arithmetically cancels a data policy that should have disqualified it.</a:t>
            </a:r>
            <a:endParaRPr lang="en-US" sz="1200" dirty="0"/>
          </a:p>
        </p:txBody>
      </p:sp>
      <p:sp>
        <p:nvSpPr>
          <p:cNvPr id="17" name="Shape 15"/>
          <p:cNvSpPr/>
          <p:nvPr/>
        </p:nvSpPr>
        <p:spPr>
          <a:xfrm>
            <a:off x="6035040" y="1536192"/>
            <a:ext cx="5596128" cy="4261104"/>
          </a:xfrm>
          <a:prstGeom prst="roundRect">
            <a:avLst>
              <a:gd name="adj" fmla="val 1717"/>
            </a:avLst>
          </a:prstGeom>
          <a:solidFill>
            <a:srgbClr val="0E1116"/>
          </a:solidFill>
          <a:ln w="12700">
            <a:solidFill>
              <a:srgbClr val="0E1116"/>
            </a:solidFill>
            <a:prstDash val="solid"/>
          </a:ln>
        </p:spPr>
      </p:sp>
      <p:sp>
        <p:nvSpPr>
          <p:cNvPr id="18" name="Text 16"/>
          <p:cNvSpPr txBox="1"/>
          <p:nvPr/>
        </p:nvSpPr>
        <p:spPr>
          <a:xfrm>
            <a:off x="6400800" y="1883664"/>
            <a:ext cx="4572000" cy="256032"/>
          </a:xfrm>
          <a:prstGeom prst="rect">
            <a:avLst/>
          </a:prstGeom>
          <a:noFill/>
          <a:ln/>
        </p:spPr>
        <p:txBody>
          <a:bodyPr wrap="square" lIns="0" tIns="0" rIns="0" bIns="0" rtlCol="0" anchor="ctr"/>
          <a:lstStyle/>
          <a:p>
            <a:pPr indent="0" marL="0">
              <a:buNone/>
            </a:pPr>
            <a:r>
              <a:rPr lang="en-US" sz="1050" b="1" spc="140" kern="0" dirty="0">
                <a:solidFill>
                  <a:srgbClr val="00926B"/>
                </a:solidFill>
                <a:latin typeface="Courier New" pitchFamily="34" charset="0"/>
                <a:ea typeface="Courier New" pitchFamily="34" charset="-122"/>
                <a:cs typeface="Courier New" pitchFamily="34" charset="-120"/>
              </a:rPr>
              <a:t>THE INVARIANT</a:t>
            </a:r>
            <a:endParaRPr lang="en-US" sz="1050" dirty="0"/>
          </a:p>
        </p:txBody>
      </p:sp>
      <p:sp>
        <p:nvSpPr>
          <p:cNvPr id="19" name="Text 17"/>
          <p:cNvSpPr txBox="1"/>
          <p:nvPr/>
        </p:nvSpPr>
        <p:spPr>
          <a:xfrm>
            <a:off x="6400800" y="2231136"/>
            <a:ext cx="4846320" cy="1005840"/>
          </a:xfrm>
          <a:prstGeom prst="rect">
            <a:avLst/>
          </a:prstGeom>
          <a:noFill/>
          <a:ln/>
        </p:spPr>
        <p:txBody>
          <a:bodyPr wrap="square" lIns="0" tIns="0" rIns="0" bIns="0" rtlCol="0" anchor="ctr"/>
          <a:lstStyle/>
          <a:p>
            <a:pPr indent="0" marL="0">
              <a:lnSpc>
                <a:spcPts val="3000"/>
              </a:lnSpc>
              <a:buNone/>
            </a:pPr>
            <a:r>
              <a:rPr lang="en-US" sz="2200" b="1" dirty="0">
                <a:solidFill>
                  <a:srgbClr val="FFFFFF"/>
                </a:solidFill>
                <a:latin typeface="Arial" pitchFamily="34" charset="0"/>
                <a:ea typeface="Arial" pitchFamily="34" charset="-122"/>
                <a:cs typeface="Arial" pitchFamily="34" charset="-120"/>
              </a:rPr>
              <a:t>No figure leaves this system</a:t>
            </a:r>
            <a:endParaRPr lang="en-US" sz="2200" dirty="0"/>
          </a:p>
          <a:p>
            <a:pPr indent="0" marL="0">
              <a:lnSpc>
                <a:spcPts val="3000"/>
              </a:lnSpc>
              <a:buNone/>
            </a:pPr>
            <a:r>
              <a:rPr lang="en-US" sz="2200" b="1" dirty="0">
                <a:solidFill>
                  <a:srgbClr val="FFFFFF"/>
                </a:solidFill>
                <a:latin typeface="Arial" pitchFamily="34" charset="0"/>
                <a:ea typeface="Arial" pitchFamily="34" charset="-122"/>
                <a:cs typeface="Arial" pitchFamily="34" charset="-120"/>
              </a:rPr>
              <a:t>without a label saying how it</a:t>
            </a:r>
            <a:endParaRPr lang="en-US" sz="2200" dirty="0"/>
          </a:p>
          <a:p>
            <a:pPr indent="0" marL="0">
              <a:lnSpc>
                <a:spcPts val="3000"/>
              </a:lnSpc>
              <a:buNone/>
            </a:pPr>
            <a:r>
              <a:rPr lang="en-US" sz="2200" b="1" dirty="0">
                <a:solidFill>
                  <a:srgbClr val="FFFFFF"/>
                </a:solidFill>
                <a:latin typeface="Arial" pitchFamily="34" charset="0"/>
                <a:ea typeface="Arial" pitchFamily="34" charset="-122"/>
                <a:cs typeface="Arial" pitchFamily="34" charset="-120"/>
              </a:rPr>
              <a:t>was obtained.</a:t>
            </a:r>
            <a:endParaRPr lang="en-US" sz="2200" dirty="0"/>
          </a:p>
        </p:txBody>
      </p:sp>
      <p:sp>
        <p:nvSpPr>
          <p:cNvPr id="20" name="Shape 18"/>
          <p:cNvSpPr/>
          <p:nvPr/>
        </p:nvSpPr>
        <p:spPr>
          <a:xfrm>
            <a:off x="6400800" y="3419856"/>
            <a:ext cx="1170432" cy="274320"/>
          </a:xfrm>
          <a:prstGeom prst="roundRect">
            <a:avLst>
              <a:gd name="adj" fmla="val 50000"/>
            </a:avLst>
          </a:prstGeom>
          <a:solidFill>
            <a:srgbClr val="00926B"/>
          </a:solidFill>
          <a:ln w="12700">
            <a:solidFill>
              <a:srgbClr val="00926B"/>
            </a:solidFill>
            <a:prstDash val="solid"/>
          </a:ln>
        </p:spPr>
      </p:sp>
      <p:sp>
        <p:nvSpPr>
          <p:cNvPr id="21" name="Text 19"/>
          <p:cNvSpPr txBox="1"/>
          <p:nvPr/>
        </p:nvSpPr>
        <p:spPr>
          <a:xfrm>
            <a:off x="6400800" y="3419856"/>
            <a:ext cx="1170432"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measured</a:t>
            </a:r>
            <a:endParaRPr lang="en-US" sz="1000" dirty="0"/>
          </a:p>
        </p:txBody>
      </p:sp>
      <p:sp>
        <p:nvSpPr>
          <p:cNvPr id="22" name="Text 20"/>
          <p:cNvSpPr txBox="1"/>
          <p:nvPr/>
        </p:nvSpPr>
        <p:spPr>
          <a:xfrm>
            <a:off x="7699248" y="3438144"/>
            <a:ext cx="3611880" cy="502920"/>
          </a:xfrm>
          <a:prstGeom prst="rect">
            <a:avLst/>
          </a:prstGeom>
          <a:noFill/>
          <a:ln/>
        </p:spPr>
        <p:txBody>
          <a:bodyPr wrap="square" lIns="0" tIns="0" rIns="0" bIns="0" rtlCol="0" anchor="ctr"/>
          <a:lstStyle/>
          <a:p>
            <a:pPr indent="0" marL="0">
              <a:lnSpc>
                <a:spcPts val="1300"/>
              </a:lnSpc>
              <a:buNone/>
            </a:pPr>
            <a:r>
              <a:rPr lang="en-US" sz="1100" dirty="0">
                <a:solidFill>
                  <a:srgbClr val="A7B2BE"/>
                </a:solidFill>
                <a:latin typeface="Calibri" pitchFamily="34" charset="0"/>
                <a:ea typeface="Calibri" pitchFamily="34" charset="-122"/>
                <a:cs typeface="Calibri" pitchFamily="34" charset="-120"/>
              </a:rPr>
              <a:t>a clock reading, or a count the provider itself reported</a:t>
            </a:r>
            <a:endParaRPr lang="en-US" sz="1100" dirty="0"/>
          </a:p>
        </p:txBody>
      </p:sp>
      <p:sp>
        <p:nvSpPr>
          <p:cNvPr id="23" name="Shape 21"/>
          <p:cNvSpPr/>
          <p:nvPr/>
        </p:nvSpPr>
        <p:spPr>
          <a:xfrm>
            <a:off x="6400800" y="3986784"/>
            <a:ext cx="1170432" cy="274320"/>
          </a:xfrm>
          <a:prstGeom prst="roundRect">
            <a:avLst>
              <a:gd name="adj" fmla="val 50000"/>
            </a:avLst>
          </a:prstGeom>
          <a:solidFill>
            <a:srgbClr val="00926B"/>
          </a:solidFill>
          <a:ln w="12700">
            <a:solidFill>
              <a:srgbClr val="00926B"/>
            </a:solidFill>
            <a:prstDash val="solid"/>
          </a:ln>
        </p:spPr>
      </p:sp>
      <p:sp>
        <p:nvSpPr>
          <p:cNvPr id="24" name="Text 22"/>
          <p:cNvSpPr txBox="1"/>
          <p:nvPr/>
        </p:nvSpPr>
        <p:spPr>
          <a:xfrm>
            <a:off x="6400800" y="3986784"/>
            <a:ext cx="1170432"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derived</a:t>
            </a:r>
            <a:endParaRPr lang="en-US" sz="1000" dirty="0"/>
          </a:p>
        </p:txBody>
      </p:sp>
      <p:sp>
        <p:nvSpPr>
          <p:cNvPr id="25" name="Text 23"/>
          <p:cNvSpPr txBox="1"/>
          <p:nvPr/>
        </p:nvSpPr>
        <p:spPr>
          <a:xfrm>
            <a:off x="7699248" y="4005072"/>
            <a:ext cx="3611880" cy="502920"/>
          </a:xfrm>
          <a:prstGeom prst="rect">
            <a:avLst/>
          </a:prstGeom>
          <a:noFill/>
          <a:ln/>
        </p:spPr>
        <p:txBody>
          <a:bodyPr wrap="square" lIns="0" tIns="0" rIns="0" bIns="0" rtlCol="0" anchor="ctr"/>
          <a:lstStyle/>
          <a:p>
            <a:pPr indent="0" marL="0">
              <a:lnSpc>
                <a:spcPts val="1300"/>
              </a:lnSpc>
              <a:buNone/>
            </a:pPr>
            <a:r>
              <a:rPr lang="en-US" sz="1100" dirty="0">
                <a:solidFill>
                  <a:srgbClr val="A7B2BE"/>
                </a:solidFill>
                <a:latin typeface="Calibri" pitchFamily="34" charset="0"/>
                <a:ea typeface="Calibri" pitchFamily="34" charset="-122"/>
                <a:cs typeface="Calibri" pitchFamily="34" charset="-120"/>
              </a:rPr>
              <a:t>arithmetic over measured values only — tokens ÷ seconds</a:t>
            </a:r>
            <a:endParaRPr lang="en-US" sz="1100" dirty="0"/>
          </a:p>
        </p:txBody>
      </p:sp>
      <p:sp>
        <p:nvSpPr>
          <p:cNvPr id="26" name="Shape 24"/>
          <p:cNvSpPr/>
          <p:nvPr/>
        </p:nvSpPr>
        <p:spPr>
          <a:xfrm>
            <a:off x="6400800" y="4553712"/>
            <a:ext cx="1170432" cy="274320"/>
          </a:xfrm>
          <a:prstGeom prst="roundRect">
            <a:avLst>
              <a:gd name="adj" fmla="val 50000"/>
            </a:avLst>
          </a:prstGeom>
          <a:solidFill>
            <a:srgbClr val="00926B"/>
          </a:solidFill>
          <a:ln w="12700">
            <a:solidFill>
              <a:srgbClr val="00926B"/>
            </a:solidFill>
            <a:prstDash val="solid"/>
          </a:ln>
        </p:spPr>
      </p:sp>
      <p:sp>
        <p:nvSpPr>
          <p:cNvPr id="27" name="Text 25"/>
          <p:cNvSpPr txBox="1"/>
          <p:nvPr/>
        </p:nvSpPr>
        <p:spPr>
          <a:xfrm>
            <a:off x="6400800" y="4553712"/>
            <a:ext cx="1170432"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unavailable</a:t>
            </a:r>
            <a:endParaRPr lang="en-US" sz="1000" dirty="0"/>
          </a:p>
        </p:txBody>
      </p:sp>
      <p:sp>
        <p:nvSpPr>
          <p:cNvPr id="28" name="Text 26"/>
          <p:cNvSpPr txBox="1"/>
          <p:nvPr/>
        </p:nvSpPr>
        <p:spPr>
          <a:xfrm>
            <a:off x="7699248" y="4572000"/>
            <a:ext cx="3611880" cy="502920"/>
          </a:xfrm>
          <a:prstGeom prst="rect">
            <a:avLst/>
          </a:prstGeom>
          <a:noFill/>
          <a:ln/>
        </p:spPr>
        <p:txBody>
          <a:bodyPr wrap="square" lIns="0" tIns="0" rIns="0" bIns="0" rtlCol="0" anchor="ctr"/>
          <a:lstStyle/>
          <a:p>
            <a:pPr indent="0" marL="0">
              <a:lnSpc>
                <a:spcPts val="1300"/>
              </a:lnSpc>
              <a:buNone/>
            </a:pPr>
            <a:r>
              <a:rPr lang="en-US" sz="1100" dirty="0">
                <a:solidFill>
                  <a:srgbClr val="A7B2BE"/>
                </a:solidFill>
                <a:latin typeface="Calibri" pitchFamily="34" charset="0"/>
                <a:ea typeface="Calibri" pitchFamily="34" charset="-122"/>
                <a:cs typeface="Calibri" pitchFamily="34" charset="-120"/>
              </a:rPr>
              <a:t>not reported and not derivable. The field is null, never 0</a:t>
            </a:r>
            <a:endParaRPr lang="en-US" sz="1100" dirty="0"/>
          </a:p>
        </p:txBody>
      </p:sp>
      <p:sp>
        <p:nvSpPr>
          <p:cNvPr id="29" name="Shape 27"/>
          <p:cNvSpPr/>
          <p:nvPr/>
        </p:nvSpPr>
        <p:spPr>
          <a:xfrm>
            <a:off x="6400800" y="5120640"/>
            <a:ext cx="1170432" cy="274320"/>
          </a:xfrm>
          <a:prstGeom prst="roundRect">
            <a:avLst>
              <a:gd name="adj" fmla="val 50000"/>
            </a:avLst>
          </a:prstGeom>
          <a:solidFill>
            <a:srgbClr val="00926B"/>
          </a:solidFill>
          <a:ln w="12700">
            <a:solidFill>
              <a:srgbClr val="00926B"/>
            </a:solidFill>
            <a:prstDash val="solid"/>
          </a:ln>
        </p:spPr>
      </p:sp>
      <p:sp>
        <p:nvSpPr>
          <p:cNvPr id="30" name="Text 28"/>
          <p:cNvSpPr txBox="1"/>
          <p:nvPr/>
        </p:nvSpPr>
        <p:spPr>
          <a:xfrm>
            <a:off x="6400800" y="5120640"/>
            <a:ext cx="1170432"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simulated</a:t>
            </a:r>
            <a:endParaRPr lang="en-US" sz="1000" dirty="0"/>
          </a:p>
        </p:txBody>
      </p:sp>
      <p:sp>
        <p:nvSpPr>
          <p:cNvPr id="31" name="Text 29"/>
          <p:cNvSpPr txBox="1"/>
          <p:nvPr/>
        </p:nvSpPr>
        <p:spPr>
          <a:xfrm>
            <a:off x="7699248" y="5138928"/>
            <a:ext cx="3611880" cy="502920"/>
          </a:xfrm>
          <a:prstGeom prst="rect">
            <a:avLst/>
          </a:prstGeom>
          <a:noFill/>
          <a:ln/>
        </p:spPr>
        <p:txBody>
          <a:bodyPr wrap="square" lIns="0" tIns="0" rIns="0" bIns="0" rtlCol="0" anchor="ctr"/>
          <a:lstStyle/>
          <a:p>
            <a:pPr indent="0" marL="0">
              <a:lnSpc>
                <a:spcPts val="1300"/>
              </a:lnSpc>
              <a:buNone/>
            </a:pPr>
            <a:r>
              <a:rPr lang="en-US" sz="1100" dirty="0">
                <a:solidFill>
                  <a:srgbClr val="A7B2BE"/>
                </a:solidFill>
                <a:latin typeface="Calibri" pitchFamily="34" charset="0"/>
                <a:ea typeface="Calibri" pitchFamily="34" charset="-122"/>
                <a:cs typeface="Calibri" pitchFamily="34" charset="-120"/>
              </a:rPr>
              <a:t>produced by the demo adapter, not by a real model</a:t>
            </a:r>
            <a:endParaRPr lang="en-US" sz="1100" dirty="0"/>
          </a:p>
        </p:txBody>
      </p:sp>
      <p:sp>
        <p:nvSpPr>
          <p:cNvPr id="32" name="Text 30"/>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TOPOLOGY</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Three execution planes, because a server cannot reach a visitor’s GPU</a:t>
            </a:r>
            <a:endParaRPr lang="en-US" sz="3000" dirty="0"/>
          </a:p>
        </p:txBody>
      </p:sp>
      <p:sp>
        <p:nvSpPr>
          <p:cNvPr id="4" name="Shape 2"/>
          <p:cNvSpPr/>
          <p:nvPr/>
        </p:nvSpPr>
        <p:spPr>
          <a:xfrm>
            <a:off x="566928" y="1554480"/>
            <a:ext cx="3310128" cy="3639312"/>
          </a:xfrm>
          <a:prstGeom prst="roundRect">
            <a:avLst>
              <a:gd name="adj" fmla="val 2210"/>
            </a:avLst>
          </a:prstGeom>
          <a:solidFill>
            <a:srgbClr val="F2F4F6"/>
          </a:solidFill>
          <a:ln w="12700">
            <a:solidFill>
              <a:srgbClr val="F2F4F6"/>
            </a:solidFill>
            <a:prstDash val="solid"/>
          </a:ln>
        </p:spPr>
      </p:sp>
      <p:sp>
        <p:nvSpPr>
          <p:cNvPr id="5" name="Shape 3"/>
          <p:cNvSpPr/>
          <p:nvPr/>
        </p:nvSpPr>
        <p:spPr>
          <a:xfrm>
            <a:off x="566928" y="1554480"/>
            <a:ext cx="3310128" cy="786384"/>
          </a:xfrm>
          <a:prstGeom prst="roundRect">
            <a:avLst>
              <a:gd name="adj" fmla="val 9302"/>
            </a:avLst>
          </a:prstGeom>
          <a:solidFill>
            <a:srgbClr val="00926B"/>
          </a:solidFill>
          <a:ln w="12700">
            <a:solidFill>
              <a:srgbClr val="00926B"/>
            </a:solidFill>
            <a:prstDash val="solid"/>
          </a:ln>
        </p:spPr>
      </p:sp>
      <p:sp>
        <p:nvSpPr>
          <p:cNvPr id="6" name="Text 4"/>
          <p:cNvSpPr txBox="1"/>
          <p:nvPr/>
        </p:nvSpPr>
        <p:spPr>
          <a:xfrm>
            <a:off x="804672" y="1682496"/>
            <a:ext cx="283464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Browser plane</a:t>
            </a:r>
            <a:endParaRPr lang="en-US" sz="1500" dirty="0"/>
          </a:p>
        </p:txBody>
      </p:sp>
      <p:sp>
        <p:nvSpPr>
          <p:cNvPr id="7" name="Text 5"/>
          <p:cNvSpPr txBox="1"/>
          <p:nvPr/>
        </p:nvSpPr>
        <p:spPr>
          <a:xfrm>
            <a:off x="804672" y="1965960"/>
            <a:ext cx="2834640" cy="256032"/>
          </a:xfrm>
          <a:prstGeom prst="rect">
            <a:avLst/>
          </a:prstGeom>
          <a:noFill/>
          <a:ln/>
        </p:spPr>
        <p:txBody>
          <a:bodyPr wrap="square" lIns="0" tIns="0" rIns="0" bIns="0" rtlCol="0" anchor="ctr"/>
          <a:lstStyle/>
          <a:p>
            <a:pPr indent="0" marL="0">
              <a:buNone/>
            </a:pPr>
            <a:r>
              <a:rPr lang="en-US" sz="1000" dirty="0">
                <a:solidFill>
                  <a:srgbClr val="E9F4F0"/>
                </a:solidFill>
                <a:latin typeface="Courier New" pitchFamily="34" charset="0"/>
                <a:ea typeface="Courier New" pitchFamily="34" charset="-122"/>
                <a:cs typeface="Courier New" pitchFamily="34" charset="-120"/>
              </a:rPr>
              <a:t>the visitor’s machine</a:t>
            </a:r>
            <a:endParaRPr lang="en-US" sz="1000" dirty="0"/>
          </a:p>
        </p:txBody>
      </p:sp>
      <p:sp>
        <p:nvSpPr>
          <p:cNvPr id="8" name="Text 6"/>
          <p:cNvSpPr txBox="1"/>
          <p:nvPr/>
        </p:nvSpPr>
        <p:spPr>
          <a:xfrm>
            <a:off x="804672" y="2542032"/>
            <a:ext cx="2871216" cy="30175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browser-ollama.ts drives the tab’s own fetch to http://localhost:11434</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OllamaCatalog / OllamaProvider / OllamaResidencyProbe reused verbatim — plain fetch, no server dependency</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Requires OLLAMA_ORIGINS to name the site origin; a CORS refusal is indistinguishable from "not running", so the remedy text says both</a:t>
            </a:r>
            <a:endParaRPr lang="en-US" sz="1100" dirty="0"/>
          </a:p>
        </p:txBody>
      </p:sp>
      <p:sp>
        <p:nvSpPr>
          <p:cNvPr id="9" name="Shape 7"/>
          <p:cNvSpPr/>
          <p:nvPr/>
        </p:nvSpPr>
        <p:spPr>
          <a:xfrm>
            <a:off x="4443984" y="1554480"/>
            <a:ext cx="3310128" cy="3639312"/>
          </a:xfrm>
          <a:prstGeom prst="roundRect">
            <a:avLst>
              <a:gd name="adj" fmla="val 2210"/>
            </a:avLst>
          </a:prstGeom>
          <a:solidFill>
            <a:srgbClr val="F2F4F6"/>
          </a:solidFill>
          <a:ln w="12700">
            <a:solidFill>
              <a:srgbClr val="F2F4F6"/>
            </a:solidFill>
            <a:prstDash val="solid"/>
          </a:ln>
        </p:spPr>
      </p:sp>
      <p:sp>
        <p:nvSpPr>
          <p:cNvPr id="10" name="Shape 8"/>
          <p:cNvSpPr/>
          <p:nvPr/>
        </p:nvSpPr>
        <p:spPr>
          <a:xfrm>
            <a:off x="4443984" y="1554480"/>
            <a:ext cx="3310128" cy="786384"/>
          </a:xfrm>
          <a:prstGeom prst="roundRect">
            <a:avLst>
              <a:gd name="adj" fmla="val 9302"/>
            </a:avLst>
          </a:prstGeom>
          <a:solidFill>
            <a:srgbClr val="0E1116"/>
          </a:solidFill>
          <a:ln w="12700">
            <a:solidFill>
              <a:srgbClr val="0E1116"/>
            </a:solidFill>
            <a:prstDash val="solid"/>
          </a:ln>
        </p:spPr>
      </p:sp>
      <p:sp>
        <p:nvSpPr>
          <p:cNvPr id="11" name="Text 9"/>
          <p:cNvSpPr txBox="1"/>
          <p:nvPr/>
        </p:nvSpPr>
        <p:spPr>
          <a:xfrm>
            <a:off x="4681728" y="1682496"/>
            <a:ext cx="283464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Server plane</a:t>
            </a:r>
            <a:endParaRPr lang="en-US" sz="1500" dirty="0"/>
          </a:p>
        </p:txBody>
      </p:sp>
      <p:sp>
        <p:nvSpPr>
          <p:cNvPr id="12" name="Text 10"/>
          <p:cNvSpPr txBox="1"/>
          <p:nvPr/>
        </p:nvSpPr>
        <p:spPr>
          <a:xfrm>
            <a:off x="4681728" y="1965960"/>
            <a:ext cx="2834640" cy="256032"/>
          </a:xfrm>
          <a:prstGeom prst="rect">
            <a:avLst/>
          </a:prstGeom>
          <a:noFill/>
          <a:ln/>
        </p:spPr>
        <p:txBody>
          <a:bodyPr wrap="square" lIns="0" tIns="0" rIns="0" bIns="0" rtlCol="0" anchor="ctr"/>
          <a:lstStyle/>
          <a:p>
            <a:pPr indent="0" marL="0">
              <a:buNone/>
            </a:pPr>
            <a:r>
              <a:rPr lang="en-US" sz="1000" dirty="0">
                <a:solidFill>
                  <a:srgbClr val="A7B2BE"/>
                </a:solidFill>
                <a:latin typeface="Courier New" pitchFamily="34" charset="0"/>
                <a:ea typeface="Courier New" pitchFamily="34" charset="-122"/>
                <a:cs typeface="Courier New" pitchFamily="34" charset="-120"/>
              </a:rPr>
              <a:t>Next.js route handlers</a:t>
            </a:r>
            <a:endParaRPr lang="en-US" sz="1000" dirty="0"/>
          </a:p>
        </p:txBody>
      </p:sp>
      <p:sp>
        <p:nvSpPr>
          <p:cNvPr id="13" name="Text 11"/>
          <p:cNvSpPr txBox="1"/>
          <p:nvPr/>
        </p:nvSpPr>
        <p:spPr>
          <a:xfrm>
            <a:off x="4681728" y="2542032"/>
            <a:ext cx="2871216" cy="30175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Zod validation before the DI container builds a use case — a malformed body never costs a token</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BenchmarkRunner scores every run, browser-measured or server-measured, through one code path</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force-dynamic on all routes: inference must never be statically evaluated or cached</a:t>
            </a:r>
            <a:endParaRPr lang="en-US" sz="1100" dirty="0"/>
          </a:p>
        </p:txBody>
      </p:sp>
      <p:sp>
        <p:nvSpPr>
          <p:cNvPr id="14" name="Shape 12"/>
          <p:cNvSpPr/>
          <p:nvPr/>
        </p:nvSpPr>
        <p:spPr>
          <a:xfrm>
            <a:off x="8321040" y="1554480"/>
            <a:ext cx="3310128" cy="3639312"/>
          </a:xfrm>
          <a:prstGeom prst="roundRect">
            <a:avLst>
              <a:gd name="adj" fmla="val 2210"/>
            </a:avLst>
          </a:prstGeom>
          <a:solidFill>
            <a:srgbClr val="F2F4F6"/>
          </a:solidFill>
          <a:ln w="12700">
            <a:solidFill>
              <a:srgbClr val="F2F4F6"/>
            </a:solidFill>
            <a:prstDash val="solid"/>
          </a:ln>
        </p:spPr>
      </p:sp>
      <p:sp>
        <p:nvSpPr>
          <p:cNvPr id="15" name="Shape 13"/>
          <p:cNvSpPr/>
          <p:nvPr/>
        </p:nvSpPr>
        <p:spPr>
          <a:xfrm>
            <a:off x="8321040" y="1554480"/>
            <a:ext cx="3310128" cy="786384"/>
          </a:xfrm>
          <a:prstGeom prst="roundRect">
            <a:avLst>
              <a:gd name="adj" fmla="val 9302"/>
            </a:avLst>
          </a:prstGeom>
          <a:solidFill>
            <a:srgbClr val="2B5BD7"/>
          </a:solidFill>
          <a:ln w="12700">
            <a:solidFill>
              <a:srgbClr val="2B5BD7"/>
            </a:solidFill>
            <a:prstDash val="solid"/>
          </a:ln>
        </p:spPr>
      </p:sp>
      <p:sp>
        <p:nvSpPr>
          <p:cNvPr id="16" name="Text 14"/>
          <p:cNvSpPr txBox="1"/>
          <p:nvPr/>
        </p:nvSpPr>
        <p:spPr>
          <a:xfrm>
            <a:off x="8558784" y="1682496"/>
            <a:ext cx="283464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Vendor plane</a:t>
            </a:r>
            <a:endParaRPr lang="en-US" sz="1500" dirty="0"/>
          </a:p>
        </p:txBody>
      </p:sp>
      <p:sp>
        <p:nvSpPr>
          <p:cNvPr id="17" name="Text 15"/>
          <p:cNvSpPr txBox="1"/>
          <p:nvPr/>
        </p:nvSpPr>
        <p:spPr>
          <a:xfrm>
            <a:off x="8558784" y="1965960"/>
            <a:ext cx="2834640" cy="256032"/>
          </a:xfrm>
          <a:prstGeom prst="rect">
            <a:avLst/>
          </a:prstGeom>
          <a:noFill/>
          <a:ln/>
        </p:spPr>
        <p:txBody>
          <a:bodyPr wrap="square" lIns="0" tIns="0" rIns="0" bIns="0" rtlCol="0" anchor="ctr"/>
          <a:lstStyle/>
          <a:p>
            <a:pPr indent="0" marL="0">
              <a:buNone/>
            </a:pPr>
            <a:r>
              <a:rPr lang="en-US" sz="1000" dirty="0">
                <a:solidFill>
                  <a:srgbClr val="E9F4F0"/>
                </a:solidFill>
                <a:latin typeface="Courier New" pitchFamily="34" charset="0"/>
                <a:ea typeface="Courier New" pitchFamily="34" charset="-122"/>
                <a:cs typeface="Courier New" pitchFamily="34" charset="-120"/>
              </a:rPr>
              <a:t>Gemini · Groq</a:t>
            </a:r>
            <a:endParaRPr lang="en-US" sz="1000" dirty="0"/>
          </a:p>
        </p:txBody>
      </p:sp>
      <p:sp>
        <p:nvSpPr>
          <p:cNvPr id="18" name="Text 16"/>
          <p:cNvSpPr txBox="1"/>
          <p:nvPr/>
        </p:nvSpPr>
        <p:spPr>
          <a:xfrm>
            <a:off x="8558784" y="2542032"/>
            <a:ext cx="2871216" cy="30175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Server-side keys only; config.ts throws if imported into a client bundle</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Visitor may supply their own key per request via x-edgepilot-*-key headers — never stored, logged or echoed</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Server-key cloud runs capped at 5 per session per hour</a:t>
            </a:r>
            <a:endParaRPr lang="en-US" sz="1100" dirty="0"/>
          </a:p>
        </p:txBody>
      </p:sp>
      <p:sp>
        <p:nvSpPr>
          <p:cNvPr id="19" name="Text 17"/>
          <p:cNvSpPr txBox="1"/>
          <p:nvPr/>
        </p:nvSpPr>
        <p:spPr>
          <a:xfrm>
            <a:off x="566928" y="6053328"/>
            <a:ext cx="11064240" cy="365760"/>
          </a:xfrm>
          <a:prstGeom prst="rect">
            <a:avLst/>
          </a:prstGeom>
          <a:noFill/>
          <a:ln/>
        </p:spPr>
        <p:txBody>
          <a:bodyPr wrap="square" lIns="0" tIns="0" rIns="0" bIns="0" rtlCol="0" anchor="t"/>
          <a:lstStyle/>
          <a:p>
            <a:pPr algn="l" indent="0" marL="0">
              <a:lnSpc>
                <a:spcPts val="1400"/>
              </a:lnSpc>
              <a:buNone/>
            </a:pPr>
            <a:r>
              <a:rPr lang="en-US" sz="1150" dirty="0">
                <a:solidFill>
                  <a:srgbClr val="5B6672"/>
                </a:solidFill>
                <a:latin typeface="Calibri" pitchFamily="34" charset="0"/>
                <a:ea typeface="Calibri" pitchFamily="34" charset="-122"/>
                <a:cs typeface="Calibri" pitchFamily="34" charset="-120"/>
              </a:rPr>
              <a:t>A recorded browser run returns to the server as RecordedMeasurement and is replayed through RecordedProvider, so cold-start isolation, hardware fit, readiness and every limitation line are byte-for-byte the same logic as a server-measured run.</a:t>
            </a:r>
            <a:endParaRPr lang="en-US" sz="1150" dirty="0"/>
          </a:p>
        </p:txBody>
      </p:sp>
      <p:sp>
        <p:nvSpPr>
          <p:cNvPr id="20" name="Text 18"/>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ARCHITECTURE</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Ports and adapters, with the dependency rule enforced by module layout</a:t>
            </a:r>
            <a:endParaRPr lang="en-US" sz="3000" dirty="0"/>
          </a:p>
        </p:txBody>
      </p:sp>
      <p:sp>
        <p:nvSpPr>
          <p:cNvPr id="4" name="Shape 2"/>
          <p:cNvSpPr/>
          <p:nvPr/>
        </p:nvSpPr>
        <p:spPr>
          <a:xfrm>
            <a:off x="566928" y="1627632"/>
            <a:ext cx="6492240" cy="1078992"/>
          </a:xfrm>
          <a:prstGeom prst="roundRect">
            <a:avLst>
              <a:gd name="adj" fmla="val 6780"/>
            </a:avLst>
          </a:prstGeom>
          <a:solidFill>
            <a:srgbClr val="DCE5FA"/>
          </a:solidFill>
          <a:ln w="12700">
            <a:solidFill>
              <a:srgbClr val="DCE5FA"/>
            </a:solidFill>
            <a:prstDash val="solid"/>
          </a:ln>
        </p:spPr>
      </p:sp>
      <p:sp>
        <p:nvSpPr>
          <p:cNvPr id="5" name="Text 3"/>
          <p:cNvSpPr txBox="1"/>
          <p:nvPr/>
        </p:nvSpPr>
        <p:spPr>
          <a:xfrm>
            <a:off x="786384" y="1755648"/>
            <a:ext cx="3108960" cy="292608"/>
          </a:xfrm>
          <a:prstGeom prst="rect">
            <a:avLst/>
          </a:prstGeom>
          <a:noFill/>
          <a:ln/>
        </p:spPr>
        <p:txBody>
          <a:bodyPr wrap="square" lIns="0" tIns="0" rIns="0" bIns="0" rtlCol="0" anchor="ctr"/>
          <a:lstStyle/>
          <a:p>
            <a:pPr indent="0" marL="0">
              <a:buNone/>
            </a:pPr>
            <a:r>
              <a:rPr lang="en-US" sz="1300" b="1" dirty="0">
                <a:solidFill>
                  <a:srgbClr val="2B5BD7"/>
                </a:solidFill>
                <a:latin typeface="Courier New" pitchFamily="34" charset="0"/>
                <a:ea typeface="Courier New" pitchFamily="34" charset="-122"/>
                <a:cs typeface="Courier New" pitchFamily="34" charset="-120"/>
              </a:rPr>
              <a:t>infrastructure/</a:t>
            </a:r>
            <a:endParaRPr lang="en-US" sz="1300" dirty="0"/>
          </a:p>
        </p:txBody>
      </p:sp>
      <p:sp>
        <p:nvSpPr>
          <p:cNvPr id="6" name="Text 4"/>
          <p:cNvSpPr txBox="1"/>
          <p:nvPr/>
        </p:nvSpPr>
        <p:spPr>
          <a:xfrm>
            <a:off x="786384" y="2066544"/>
            <a:ext cx="6035040" cy="566928"/>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BaseProvider · Ollama/Gemini/Groq/Demo/Recorded · PrismaBenchmarkRepository · OllamaResidencyProbe · CloudCatalog · config.ts · container.ts</a:t>
            </a:r>
            <a:endParaRPr lang="en-US" sz="1100" dirty="0"/>
          </a:p>
        </p:txBody>
      </p:sp>
      <p:sp>
        <p:nvSpPr>
          <p:cNvPr id="7" name="Shape 5"/>
          <p:cNvSpPr/>
          <p:nvPr/>
        </p:nvSpPr>
        <p:spPr>
          <a:xfrm>
            <a:off x="566928" y="2926080"/>
            <a:ext cx="5120640" cy="1078992"/>
          </a:xfrm>
          <a:prstGeom prst="roundRect">
            <a:avLst>
              <a:gd name="adj" fmla="val 6780"/>
            </a:avLst>
          </a:prstGeom>
          <a:solidFill>
            <a:srgbClr val="D6F0E7"/>
          </a:solidFill>
          <a:ln w="12700">
            <a:solidFill>
              <a:srgbClr val="D6F0E7"/>
            </a:solidFill>
            <a:prstDash val="solid"/>
          </a:ln>
        </p:spPr>
      </p:sp>
      <p:sp>
        <p:nvSpPr>
          <p:cNvPr id="8" name="Text 6"/>
          <p:cNvSpPr txBox="1"/>
          <p:nvPr/>
        </p:nvSpPr>
        <p:spPr>
          <a:xfrm>
            <a:off x="786384" y="3054096"/>
            <a:ext cx="3108960" cy="292608"/>
          </a:xfrm>
          <a:prstGeom prst="rect">
            <a:avLst/>
          </a:prstGeom>
          <a:noFill/>
          <a:ln/>
        </p:spPr>
        <p:txBody>
          <a:bodyPr wrap="square" lIns="0" tIns="0" rIns="0" bIns="0" rtlCol="0" anchor="ctr"/>
          <a:lstStyle/>
          <a:p>
            <a:pPr indent="0" marL="0">
              <a:buNone/>
            </a:pPr>
            <a:r>
              <a:rPr lang="en-US" sz="1300" b="1" dirty="0">
                <a:solidFill>
                  <a:srgbClr val="00926B"/>
                </a:solidFill>
                <a:latin typeface="Courier New" pitchFamily="34" charset="0"/>
                <a:ea typeface="Courier New" pitchFamily="34" charset="-122"/>
                <a:cs typeface="Courier New" pitchFamily="34" charset="-120"/>
              </a:rPr>
              <a:t>application/</a:t>
            </a:r>
            <a:endParaRPr lang="en-US" sz="1300" dirty="0"/>
          </a:p>
        </p:txBody>
      </p:sp>
      <p:sp>
        <p:nvSpPr>
          <p:cNvPr id="9" name="Text 7"/>
          <p:cNvSpPr txBox="1"/>
          <p:nvPr/>
        </p:nvSpPr>
        <p:spPr>
          <a:xfrm>
            <a:off x="786384" y="3364992"/>
            <a:ext cx="4663440" cy="566928"/>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RunBenchmark · RunComparison · BenchmarkRunner · DTOs (BenchmarkRequest, BenchmarkMeasurement, LocalRuntime)</a:t>
            </a:r>
            <a:endParaRPr lang="en-US" sz="1100" dirty="0"/>
          </a:p>
        </p:txBody>
      </p:sp>
      <p:sp>
        <p:nvSpPr>
          <p:cNvPr id="10" name="Shape 8"/>
          <p:cNvSpPr/>
          <p:nvPr/>
        </p:nvSpPr>
        <p:spPr>
          <a:xfrm>
            <a:off x="566928" y="4224528"/>
            <a:ext cx="3749040" cy="1078992"/>
          </a:xfrm>
          <a:prstGeom prst="roundRect">
            <a:avLst>
              <a:gd name="adj" fmla="val 6780"/>
            </a:avLst>
          </a:prstGeom>
          <a:solidFill>
            <a:srgbClr val="E8ECEF"/>
          </a:solidFill>
          <a:ln w="12700">
            <a:solidFill>
              <a:srgbClr val="E8ECEF"/>
            </a:solidFill>
            <a:prstDash val="solid"/>
          </a:ln>
        </p:spPr>
      </p:sp>
      <p:sp>
        <p:nvSpPr>
          <p:cNvPr id="11" name="Text 9"/>
          <p:cNvSpPr txBox="1"/>
          <p:nvPr/>
        </p:nvSpPr>
        <p:spPr>
          <a:xfrm>
            <a:off x="786384" y="4352544"/>
            <a:ext cx="3108960" cy="292608"/>
          </a:xfrm>
          <a:prstGeom prst="rect">
            <a:avLst/>
          </a:prstGeom>
          <a:noFill/>
          <a:ln/>
        </p:spPr>
        <p:txBody>
          <a:bodyPr wrap="square" lIns="0" tIns="0" rIns="0" bIns="0" rtlCol="0" anchor="ctr"/>
          <a:lstStyle/>
          <a:p>
            <a:pPr indent="0" marL="0">
              <a:buNone/>
            </a:pPr>
            <a:r>
              <a:rPr lang="en-US" sz="1300" b="1" dirty="0">
                <a:solidFill>
                  <a:srgbClr val="0E1116"/>
                </a:solidFill>
                <a:latin typeface="Courier New" pitchFamily="34" charset="0"/>
                <a:ea typeface="Courier New" pitchFamily="34" charset="-122"/>
                <a:cs typeface="Courier New" pitchFamily="34" charset="-120"/>
              </a:rPr>
              <a:t>core/</a:t>
            </a:r>
            <a:endParaRPr lang="en-US" sz="1300" dirty="0"/>
          </a:p>
        </p:txBody>
      </p:sp>
      <p:sp>
        <p:nvSpPr>
          <p:cNvPr id="12" name="Text 10"/>
          <p:cNvSpPr txBox="1"/>
          <p:nvPr/>
        </p:nvSpPr>
        <p:spPr>
          <a:xfrm>
            <a:off x="786384" y="4663440"/>
            <a:ext cx="3291840" cy="566928"/>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Entities · Ports (AIProvider, BenchmarkRepository) · ReadinessCalculator · PrivacyAssessor · HardwareFitAssessor · ComparisonPlanner · ModelModality</a:t>
            </a:r>
            <a:endParaRPr lang="en-US" sz="1100" dirty="0"/>
          </a:p>
        </p:txBody>
      </p:sp>
      <p:sp>
        <p:nvSpPr>
          <p:cNvPr id="13" name="Text 11"/>
          <p:cNvSpPr txBox="1"/>
          <p:nvPr/>
        </p:nvSpPr>
        <p:spPr>
          <a:xfrm>
            <a:off x="566928" y="5614416"/>
            <a:ext cx="6492240" cy="292608"/>
          </a:xfrm>
          <a:prstGeom prst="rect">
            <a:avLst/>
          </a:prstGeom>
          <a:noFill/>
          <a:ln/>
        </p:spPr>
        <p:txBody>
          <a:bodyPr wrap="square" lIns="0" tIns="0" rIns="0" bIns="0" rtlCol="0" anchor="t"/>
          <a:lstStyle/>
          <a:p>
            <a:pPr indent="0" marL="0">
              <a:buNone/>
            </a:pPr>
            <a:r>
              <a:rPr lang="en-US" sz="1100" b="1" dirty="0">
                <a:solidFill>
                  <a:srgbClr val="0E1116"/>
                </a:solidFill>
                <a:latin typeface="Courier New" pitchFamily="34" charset="0"/>
                <a:ea typeface="Courier New" pitchFamily="34" charset="-122"/>
                <a:cs typeface="Courier New" pitchFamily="34" charset="-120"/>
              </a:rPr>
              <a:t>infrastructure  →  application  →  core        core depends on nothing</a:t>
            </a:r>
            <a:endParaRPr lang="en-US" sz="1100" dirty="0"/>
          </a:p>
        </p:txBody>
      </p:sp>
      <p:sp>
        <p:nvSpPr>
          <p:cNvPr id="14" name="Text 12"/>
          <p:cNvSpPr txBox="1"/>
          <p:nvPr/>
        </p:nvSpPr>
        <p:spPr>
          <a:xfrm>
            <a:off x="566928" y="5943600"/>
            <a:ext cx="6492240" cy="457200"/>
          </a:xfrm>
          <a:prstGeom prst="rect">
            <a:avLst/>
          </a:prstGeom>
          <a:noFill/>
          <a:ln/>
        </p:spPr>
        <p:txBody>
          <a:bodyPr wrap="square" lIns="0" tIns="0" rIns="0" bIns="0" rtlCol="0" anchor="t"/>
          <a:lstStyle/>
          <a:p>
            <a:pPr indent="0" marL="0">
              <a:lnSpc>
                <a:spcPts val="1400"/>
              </a:lnSpc>
              <a:buNone/>
            </a:pPr>
            <a:r>
              <a:rPr lang="en-US" sz="1100" dirty="0">
                <a:solidFill>
                  <a:srgbClr val="5B6672"/>
                </a:solidFill>
                <a:latin typeface="Calibri" pitchFamily="34" charset="0"/>
                <a:ea typeface="Calibri" pitchFamily="34" charset="-122"/>
                <a:cs typeface="Calibri" pitchFamily="34" charset="-120"/>
              </a:rPr>
              <a:t>The arrows are the only permitted direction. Enforced by module layout and by the fact that core imports nothing from the other two.</a:t>
            </a:r>
            <a:endParaRPr lang="en-US" sz="1100" dirty="0"/>
          </a:p>
        </p:txBody>
      </p:sp>
      <p:sp>
        <p:nvSpPr>
          <p:cNvPr id="15" name="Shape 13"/>
          <p:cNvSpPr/>
          <p:nvPr/>
        </p:nvSpPr>
        <p:spPr>
          <a:xfrm>
            <a:off x="7187184" y="1627632"/>
            <a:ext cx="4443984" cy="3913632"/>
          </a:xfrm>
          <a:prstGeom prst="roundRect">
            <a:avLst>
              <a:gd name="adj" fmla="val 1869"/>
            </a:avLst>
          </a:prstGeom>
          <a:solidFill>
            <a:srgbClr val="0E1116"/>
          </a:solidFill>
          <a:ln w="12700">
            <a:solidFill>
              <a:srgbClr val="0E1116"/>
            </a:solidFill>
            <a:prstDash val="solid"/>
          </a:ln>
        </p:spPr>
      </p:sp>
      <p:sp>
        <p:nvSpPr>
          <p:cNvPr id="16" name="Text 14"/>
          <p:cNvSpPr txBox="1"/>
          <p:nvPr/>
        </p:nvSpPr>
        <p:spPr>
          <a:xfrm>
            <a:off x="7498080" y="1847088"/>
            <a:ext cx="384048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the rule buys</a:t>
            </a:r>
            <a:endParaRPr lang="en-US" sz="1600" dirty="0"/>
          </a:p>
        </p:txBody>
      </p:sp>
      <p:sp>
        <p:nvSpPr>
          <p:cNvPr id="17" name="Text 15"/>
          <p:cNvSpPr txBox="1"/>
          <p:nvPr/>
        </p:nvSpPr>
        <p:spPr>
          <a:xfrm>
            <a:off x="7498080" y="2304288"/>
            <a:ext cx="3877056" cy="310896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50" dirty="0">
                <a:solidFill>
                  <a:srgbClr val="A7B2BE"/>
                </a:solidFill>
                <a:latin typeface="Calibri" pitchFamily="34" charset="0"/>
                <a:ea typeface="Calibri" pitchFamily="34" charset="-122"/>
                <a:cs typeface="Calibri" pitchFamily="34" charset="-120"/>
              </a:rPr>
              <a:t>Every scoring rule is a pure function over plain TypeScript — tested with no network, no database, no React</a:t>
            </a:r>
            <a:endParaRPr lang="en-US" sz="1150" dirty="0"/>
          </a:p>
          <a:p>
            <a:pPr marL="342900" indent="-342900">
              <a:lnSpc>
                <a:spcPts val="1400"/>
              </a:lnSpc>
              <a:spcAft>
                <a:spcPts val="900"/>
              </a:spcAft>
              <a:buSzPct val="100000"/>
              <a:buChar char="–"/>
            </a:pPr>
            <a:r>
              <a:rPr lang="en-US" sz="1150" dirty="0">
                <a:solidFill>
                  <a:srgbClr val="A7B2BE"/>
                </a:solidFill>
                <a:latin typeface="Calibri" pitchFamily="34" charset="0"/>
                <a:ea typeface="Calibri" pitchFamily="34" charset="-122"/>
                <a:cs typeface="Calibri" pitchFamily="34" charset="-120"/>
              </a:rPr>
              <a:t>Five adapters satisfy one port; the runner is written against ProviderChain, which the full registry and a single-provider recorded chain both satisfy</a:t>
            </a:r>
            <a:endParaRPr lang="en-US" sz="1150" dirty="0"/>
          </a:p>
          <a:p>
            <a:pPr marL="342900" indent="-342900">
              <a:lnSpc>
                <a:spcPts val="1400"/>
              </a:lnSpc>
              <a:spcAft>
                <a:spcPts val="900"/>
              </a:spcAft>
              <a:buSzPct val="100000"/>
              <a:buChar char="–"/>
            </a:pPr>
            <a:r>
              <a:rPr lang="en-US" sz="1150" dirty="0">
                <a:solidFill>
                  <a:srgbClr val="A7B2BE"/>
                </a:solidFill>
                <a:latin typeface="Calibri" pitchFamily="34" charset="0"/>
                <a:ea typeface="Calibri" pitchFamily="34" charset="-122"/>
                <a:cs typeface="Calibri" pitchFamily="34" charset="-120"/>
              </a:rPr>
              <a:t>The vision module keeps a separate image-capable VisionProvider port rather than widening the shared text port</a:t>
            </a:r>
            <a:endParaRPr lang="en-US" sz="1150" dirty="0"/>
          </a:p>
          <a:p>
            <a:pPr marL="342900" indent="-342900">
              <a:lnSpc>
                <a:spcPts val="1400"/>
              </a:lnSpc>
              <a:spcAft>
                <a:spcPts val="900"/>
              </a:spcAft>
              <a:buSzPct val="100000"/>
              <a:buChar char="–"/>
            </a:pPr>
            <a:r>
              <a:rPr lang="en-US" sz="1150" dirty="0">
                <a:solidFill>
                  <a:srgbClr val="A7B2BE"/>
                </a:solidFill>
                <a:latin typeface="Calibri" pitchFamily="34" charset="0"/>
                <a:ea typeface="Calibri" pitchFamily="34" charset="-122"/>
                <a:cs typeface="Calibri" pitchFamily="34" charset="-120"/>
              </a:rPr>
              <a:t>container.ts composes per request; a registry built from a visitor’s key is never cached</a:t>
            </a:r>
            <a:endParaRPr lang="en-US" sz="1150" dirty="0"/>
          </a:p>
        </p:txBody>
      </p:sp>
      <p:sp>
        <p:nvSpPr>
          <p:cNvPr id="18" name="Text 16"/>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PROVIDER LAYER</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One template method, so four adapters cannot drift on how they measure</a:t>
            </a:r>
            <a:endParaRPr lang="en-US" sz="3000" dirty="0"/>
          </a:p>
        </p:txBody>
      </p:sp>
      <p:sp>
        <p:nvSpPr>
          <p:cNvPr id="4" name="Shape 2"/>
          <p:cNvSpPr/>
          <p:nvPr/>
        </p:nvSpPr>
        <p:spPr>
          <a:xfrm>
            <a:off x="566928" y="1572768"/>
            <a:ext cx="5486400" cy="3346704"/>
          </a:xfrm>
          <a:prstGeom prst="roundRect">
            <a:avLst>
              <a:gd name="adj" fmla="val 2186"/>
            </a:avLst>
          </a:prstGeom>
          <a:solidFill>
            <a:srgbClr val="F2F4F6"/>
          </a:solidFill>
          <a:ln w="12700">
            <a:solidFill>
              <a:srgbClr val="F2F4F6"/>
            </a:solidFill>
            <a:prstDash val="solid"/>
          </a:ln>
        </p:spPr>
      </p:sp>
      <p:sp>
        <p:nvSpPr>
          <p:cNvPr id="5" name="Text 3"/>
          <p:cNvSpPr txBox="1"/>
          <p:nvPr/>
        </p:nvSpPr>
        <p:spPr>
          <a:xfrm>
            <a:off x="841248" y="1792224"/>
            <a:ext cx="5029200" cy="292608"/>
          </a:xfrm>
          <a:prstGeom prst="rect">
            <a:avLst/>
          </a:prstGeom>
          <a:noFill/>
          <a:ln/>
        </p:spPr>
        <p:txBody>
          <a:bodyPr wrap="square" lIns="0" tIns="0" rIns="0" bIns="0" rtlCol="0" anchor="ctr"/>
          <a:lstStyle/>
          <a:p>
            <a:pPr indent="0" marL="0">
              <a:buNone/>
            </a:pPr>
            <a:r>
              <a:rPr lang="en-US" sz="1450" b="1" dirty="0">
                <a:solidFill>
                  <a:srgbClr val="10151C"/>
                </a:solidFill>
                <a:latin typeface="Arial" pitchFamily="34" charset="0"/>
                <a:ea typeface="Arial" pitchFamily="34" charset="-122"/>
                <a:cs typeface="Arial" pitchFamily="34" charset="-120"/>
              </a:rPr>
              <a:t>BaseProvider — abstract, owns everything measurable</a:t>
            </a:r>
            <a:endParaRPr lang="en-US" sz="1450" dirty="0"/>
          </a:p>
        </p:txBody>
      </p:sp>
      <p:sp>
        <p:nvSpPr>
          <p:cNvPr id="6" name="Text 4"/>
          <p:cNvSpPr txBox="1"/>
          <p:nvPr/>
        </p:nvSpPr>
        <p:spPr>
          <a:xfrm>
            <a:off x="841248" y="2212848"/>
            <a:ext cx="5029200" cy="1371600"/>
          </a:xfrm>
          <a:prstGeom prst="rect">
            <a:avLst/>
          </a:prstGeom>
          <a:noFill/>
          <a:ln/>
        </p:spPr>
        <p:txBody>
          <a:bodyPr wrap="square" lIns="0" tIns="0" rIns="0" bIns="0" rtlCol="0" anchor="t"/>
          <a:lstStyle/>
          <a:p>
            <a:pPr algn="l" indent="0" marL="0">
              <a:lnSpc>
                <a:spcPts val="1500"/>
              </a:lnSpc>
              <a:buNone/>
            </a:pPr>
            <a:r>
              <a:rPr lang="en-US" sz="1150" dirty="0">
                <a:solidFill>
                  <a:srgbClr val="0E1116"/>
                </a:solidFill>
                <a:latin typeface="Courier New" pitchFamily="34" charset="0"/>
                <a:ea typeface="Courier New" pitchFamily="34" charset="-122"/>
                <a:cs typeface="Courier New" pitchFamily="34" charset="-120"/>
              </a:rPr>
              <a:t>protected abstract streamOnce(</a:t>
            </a:r>
            <a:endParaRPr lang="en-US" sz="1150" dirty="0"/>
          </a:p>
          <a:p>
            <a:pPr algn="l" indent="0" marL="0">
              <a:lnSpc>
                <a:spcPts val="1500"/>
              </a:lnSpc>
              <a:buNone/>
            </a:pPr>
            <a:r>
              <a:rPr lang="en-US" sz="1150" dirty="0">
                <a:solidFill>
                  <a:srgbClr val="0E1116"/>
                </a:solidFill>
                <a:latin typeface="Courier New" pitchFamily="34" charset="0"/>
                <a:ea typeface="Courier New" pitchFamily="34" charset="-122"/>
                <a:cs typeface="Courier New" pitchFamily="34" charset="-120"/>
              </a:rPr>
              <a:t>    prompt, model, signal, startedAt</a:t>
            </a:r>
            <a:endParaRPr lang="en-US" sz="1150" dirty="0"/>
          </a:p>
          <a:p>
            <a:pPr algn="l" indent="0" marL="0">
              <a:lnSpc>
                <a:spcPts val="1500"/>
              </a:lnSpc>
              <a:buNone/>
            </a:pPr>
            <a:r>
              <a:rPr lang="en-US" sz="1150" dirty="0">
                <a:solidFill>
                  <a:srgbClr val="0E1116"/>
                </a:solidFill>
                <a:latin typeface="Courier New" pitchFamily="34" charset="0"/>
                <a:ea typeface="Courier New" pitchFamily="34" charset="-122"/>
                <a:cs typeface="Courier New" pitchFamily="34" charset="-120"/>
              </a:rPr>
              <a:t>): Promise&lt;StreamOutcome&gt;</a:t>
            </a:r>
            <a:endParaRPr lang="en-US" sz="1150" dirty="0"/>
          </a:p>
          <a:p>
            <a:pPr algn="l" indent="0" marL="0">
              <a:lnSpc>
                <a:spcPts val="1500"/>
              </a:lnSpc>
              <a:buNone/>
            </a:pPr>
            <a:endParaRPr lang="en-US" sz="1150" dirty="0"/>
          </a:p>
          <a:p>
            <a:pPr algn="l" indent="0" marL="0">
              <a:lnSpc>
                <a:spcPts val="1500"/>
              </a:lnSpc>
              <a:buNone/>
            </a:pPr>
            <a:r>
              <a:rPr lang="en-US" sz="1150" dirty="0">
                <a:solidFill>
                  <a:srgbClr val="0E1116"/>
                </a:solidFill>
                <a:latin typeface="Courier New" pitchFamily="34" charset="0"/>
                <a:ea typeface="Courier New" pitchFamily="34" charset="-122"/>
                <a:cs typeface="Courier New" pitchFamily="34" charset="-120"/>
              </a:rPr>
              <a:t>StreamOutcome = { text, ttftMs, usage }</a:t>
            </a:r>
            <a:endParaRPr lang="en-US" sz="1150" dirty="0"/>
          </a:p>
        </p:txBody>
      </p:sp>
      <p:sp>
        <p:nvSpPr>
          <p:cNvPr id="7" name="Text 5"/>
          <p:cNvSpPr txBox="1"/>
          <p:nvPr/>
        </p:nvSpPr>
        <p:spPr>
          <a:xfrm>
            <a:off x="841248" y="3767328"/>
            <a:ext cx="4937760" cy="1828800"/>
          </a:xfrm>
          <a:prstGeom prst="rect">
            <a:avLst/>
          </a:prstGeom>
          <a:noFill/>
          <a:ln/>
        </p:spPr>
        <p:txBody>
          <a:bodyPr wrap="square" lIns="0" tIns="0" rIns="0" bIns="0" rtlCol="0" anchor="t"/>
          <a:lstStyle/>
          <a:p>
            <a:pPr algn="l" indent="0" marL="0">
              <a:lnSpc>
                <a:spcPts val="1600"/>
              </a:lnSpc>
              <a:buNone/>
            </a:pPr>
            <a:r>
              <a:rPr lang="en-US" sz="1200" dirty="0">
                <a:solidFill>
                  <a:srgbClr val="5B6672"/>
                </a:solidFill>
                <a:latin typeface="Calibri" pitchFamily="34" charset="0"/>
                <a:ea typeface="Calibri" pitchFamily="34" charset="-122"/>
                <a:cs typeface="Calibri" pitchFamily="34" charset="-120"/>
              </a:rPr>
              <a:t>The single subclass hook. Timing, AbortSignal timeout enforcement, error classification, iteration and narrowing to the shared BenchmarkResult all live in the base class. Nothing throws across the module boundary: a failed iteration is still a measurement, and swallowing it would inflate the reliability score it is counted against.</a:t>
            </a:r>
            <a:endParaRPr lang="en-US" sz="1200" dirty="0"/>
          </a:p>
        </p:txBody>
      </p:sp>
      <p:sp>
        <p:nvSpPr>
          <p:cNvPr id="8" name="Text 6"/>
          <p:cNvSpPr txBox="1"/>
          <p:nvPr/>
        </p:nvSpPr>
        <p:spPr>
          <a:xfrm>
            <a:off x="566928" y="5138928"/>
            <a:ext cx="5486400" cy="640080"/>
          </a:xfrm>
          <a:prstGeom prst="rect">
            <a:avLst/>
          </a:prstGeom>
          <a:noFill/>
          <a:ln/>
        </p:spPr>
        <p:txBody>
          <a:bodyPr wrap="square" lIns="0" tIns="0" rIns="0" bIns="0" rtlCol="0" anchor="t"/>
          <a:lstStyle/>
          <a:p>
            <a:pPr indent="0" marL="0">
              <a:lnSpc>
                <a:spcPts val="1400"/>
              </a:lnSpc>
              <a:buNone/>
            </a:pPr>
            <a:r>
              <a:rPr lang="en-US" sz="1150" dirty="0">
                <a:solidFill>
                  <a:srgbClr val="5B6672"/>
                </a:solidFill>
                <a:latin typeface="Calibri" pitchFamily="34" charset="0"/>
                <a:ea typeface="Calibri" pitchFamily="34" charset="-122"/>
                <a:cs typeface="Calibri" pitchFamily="34" charset="-120"/>
              </a:rPr>
              <a:t>Each adapter also carries an officialSource URL — the vendor documentation for the streaming and usage contract it reads — so a recommendation can cite where its numbers come from.</a:t>
            </a:r>
            <a:endParaRPr lang="en-US" sz="1150" dirty="0"/>
          </a:p>
        </p:txBody>
      </p:sp>
      <p:sp>
        <p:nvSpPr>
          <p:cNvPr id="9" name="Shape 7"/>
          <p:cNvSpPr/>
          <p:nvPr/>
        </p:nvSpPr>
        <p:spPr>
          <a:xfrm>
            <a:off x="6272784" y="1572768"/>
            <a:ext cx="5358384" cy="969264"/>
          </a:xfrm>
          <a:prstGeom prst="roundRect">
            <a:avLst>
              <a:gd name="adj" fmla="val 7547"/>
            </a:avLst>
          </a:prstGeom>
          <a:solidFill>
            <a:srgbClr val="FFFFFF"/>
          </a:solidFill>
          <a:ln w="12700">
            <a:solidFill>
              <a:srgbClr val="FFFFFF"/>
            </a:solidFill>
            <a:prstDash val="solid"/>
          </a:ln>
        </p:spPr>
      </p:sp>
      <p:sp>
        <p:nvSpPr>
          <p:cNvPr id="10" name="Shape 8"/>
          <p:cNvSpPr/>
          <p:nvPr/>
        </p:nvSpPr>
        <p:spPr>
          <a:xfrm>
            <a:off x="6272784" y="1572768"/>
            <a:ext cx="5358384" cy="969264"/>
          </a:xfrm>
          <a:prstGeom prst="roundRect">
            <a:avLst>
              <a:gd name="adj" fmla="val 7547"/>
            </a:avLst>
          </a:prstGeom>
          <a:solidFill>
            <a:srgbClr val="FFFFFF"/>
          </a:solidFill>
          <a:ln w="12700">
            <a:solidFill>
              <a:srgbClr val="E8ECEF"/>
            </a:solidFill>
            <a:prstDash val="solid"/>
          </a:ln>
        </p:spPr>
      </p:sp>
      <p:sp>
        <p:nvSpPr>
          <p:cNvPr id="11" name="Text 9"/>
          <p:cNvSpPr txBox="1"/>
          <p:nvPr/>
        </p:nvSpPr>
        <p:spPr>
          <a:xfrm>
            <a:off x="6528816" y="1700784"/>
            <a:ext cx="4754880" cy="256032"/>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TTFT semantics</a:t>
            </a:r>
            <a:endParaRPr lang="en-US" sz="1150" dirty="0"/>
          </a:p>
        </p:txBody>
      </p:sp>
      <p:sp>
        <p:nvSpPr>
          <p:cNvPr id="12" name="Text 10"/>
          <p:cNvSpPr txBox="1"/>
          <p:nvPr/>
        </p:nvSpPr>
        <p:spPr>
          <a:xfrm>
            <a:off x="6528816" y="1975104"/>
            <a:ext cx="4882896" cy="530352"/>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Elapsed at the first token of content — not the first byte, not the first chunk, which for several providers carries only a role or preamble.</a:t>
            </a:r>
            <a:endParaRPr lang="en-US" sz="1100" dirty="0"/>
          </a:p>
        </p:txBody>
      </p:sp>
      <p:sp>
        <p:nvSpPr>
          <p:cNvPr id="13" name="Shape 11"/>
          <p:cNvSpPr/>
          <p:nvPr/>
        </p:nvSpPr>
        <p:spPr>
          <a:xfrm>
            <a:off x="6272784" y="2670048"/>
            <a:ext cx="5358384" cy="969264"/>
          </a:xfrm>
          <a:prstGeom prst="roundRect">
            <a:avLst>
              <a:gd name="adj" fmla="val 7547"/>
            </a:avLst>
          </a:prstGeom>
          <a:solidFill>
            <a:srgbClr val="F2F4F6"/>
          </a:solidFill>
          <a:ln w="12700">
            <a:solidFill>
              <a:srgbClr val="F2F4F6"/>
            </a:solidFill>
            <a:prstDash val="solid"/>
          </a:ln>
        </p:spPr>
      </p:sp>
      <p:sp>
        <p:nvSpPr>
          <p:cNvPr id="14" name="Shape 12"/>
          <p:cNvSpPr/>
          <p:nvPr/>
        </p:nvSpPr>
        <p:spPr>
          <a:xfrm>
            <a:off x="6272784" y="2670048"/>
            <a:ext cx="5358384" cy="969264"/>
          </a:xfrm>
          <a:prstGeom prst="roundRect">
            <a:avLst>
              <a:gd name="adj" fmla="val 7547"/>
            </a:avLst>
          </a:prstGeom>
          <a:solidFill>
            <a:srgbClr val="F2F4F6"/>
          </a:solidFill>
          <a:ln w="12700">
            <a:solidFill>
              <a:srgbClr val="E8ECEF"/>
            </a:solidFill>
            <a:prstDash val="solid"/>
          </a:ln>
        </p:spPr>
      </p:sp>
      <p:sp>
        <p:nvSpPr>
          <p:cNvPr id="15" name="Text 13"/>
          <p:cNvSpPr txBox="1"/>
          <p:nvPr/>
        </p:nvSpPr>
        <p:spPr>
          <a:xfrm>
            <a:off x="6528816" y="2798064"/>
            <a:ext cx="4754880" cy="256032"/>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Token counts</a:t>
            </a:r>
            <a:endParaRPr lang="en-US" sz="1150" dirty="0"/>
          </a:p>
        </p:txBody>
      </p:sp>
      <p:sp>
        <p:nvSpPr>
          <p:cNvPr id="16" name="Text 14"/>
          <p:cNvSpPr txBox="1"/>
          <p:nvPr/>
        </p:nvSpPr>
        <p:spPr>
          <a:xfrm>
            <a:off x="6528816" y="3072384"/>
            <a:ext cx="4882896" cy="530352"/>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Read from each provider’s own usage metadata (Ollama eval_count / eval_duration; SDK usage blocks). Never estimated from output text length.</a:t>
            </a:r>
            <a:endParaRPr lang="en-US" sz="1100" dirty="0"/>
          </a:p>
        </p:txBody>
      </p:sp>
      <p:sp>
        <p:nvSpPr>
          <p:cNvPr id="17" name="Shape 15"/>
          <p:cNvSpPr/>
          <p:nvPr/>
        </p:nvSpPr>
        <p:spPr>
          <a:xfrm>
            <a:off x="6272784" y="3767328"/>
            <a:ext cx="5358384" cy="969264"/>
          </a:xfrm>
          <a:prstGeom prst="roundRect">
            <a:avLst>
              <a:gd name="adj" fmla="val 7547"/>
            </a:avLst>
          </a:prstGeom>
          <a:solidFill>
            <a:srgbClr val="FFFFFF"/>
          </a:solidFill>
          <a:ln w="12700">
            <a:solidFill>
              <a:srgbClr val="FFFFFF"/>
            </a:solidFill>
            <a:prstDash val="solid"/>
          </a:ln>
        </p:spPr>
      </p:sp>
      <p:sp>
        <p:nvSpPr>
          <p:cNvPr id="18" name="Shape 16"/>
          <p:cNvSpPr/>
          <p:nvPr/>
        </p:nvSpPr>
        <p:spPr>
          <a:xfrm>
            <a:off x="6272784" y="3767328"/>
            <a:ext cx="5358384" cy="969264"/>
          </a:xfrm>
          <a:prstGeom prst="roundRect">
            <a:avLst>
              <a:gd name="adj" fmla="val 7547"/>
            </a:avLst>
          </a:prstGeom>
          <a:solidFill>
            <a:srgbClr val="FFFFFF"/>
          </a:solidFill>
          <a:ln w="12700">
            <a:solidFill>
              <a:srgbClr val="E8ECEF"/>
            </a:solidFill>
            <a:prstDash val="solid"/>
          </a:ln>
        </p:spPr>
      </p:sp>
      <p:sp>
        <p:nvSpPr>
          <p:cNvPr id="19" name="Text 17"/>
          <p:cNvSpPr txBox="1"/>
          <p:nvPr/>
        </p:nvSpPr>
        <p:spPr>
          <a:xfrm>
            <a:off x="6528816" y="3895344"/>
            <a:ext cx="4754880" cy="256032"/>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Throughput</a:t>
            </a:r>
            <a:endParaRPr lang="en-US" sz="1150" dirty="0"/>
          </a:p>
        </p:txBody>
      </p:sp>
      <p:sp>
        <p:nvSpPr>
          <p:cNvPr id="20" name="Text 18"/>
          <p:cNvSpPr txBox="1"/>
          <p:nvPr/>
        </p:nvSpPr>
        <p:spPr>
          <a:xfrm>
            <a:off x="6528816" y="4169664"/>
            <a:ext cx="4882896" cy="530352"/>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tokens ÷ seconds, labelled derived. Null when output tokens were unavailable — a rate cannot be derived from a count nobody reported.</a:t>
            </a:r>
            <a:endParaRPr lang="en-US" sz="1100" dirty="0"/>
          </a:p>
        </p:txBody>
      </p:sp>
      <p:sp>
        <p:nvSpPr>
          <p:cNvPr id="21" name="Shape 19"/>
          <p:cNvSpPr/>
          <p:nvPr/>
        </p:nvSpPr>
        <p:spPr>
          <a:xfrm>
            <a:off x="6272784" y="4864608"/>
            <a:ext cx="5358384" cy="969264"/>
          </a:xfrm>
          <a:prstGeom prst="roundRect">
            <a:avLst>
              <a:gd name="adj" fmla="val 7547"/>
            </a:avLst>
          </a:prstGeom>
          <a:solidFill>
            <a:srgbClr val="F2F4F6"/>
          </a:solidFill>
          <a:ln w="12700">
            <a:solidFill>
              <a:srgbClr val="F2F4F6"/>
            </a:solidFill>
            <a:prstDash val="solid"/>
          </a:ln>
        </p:spPr>
      </p:sp>
      <p:sp>
        <p:nvSpPr>
          <p:cNvPr id="22" name="Shape 20"/>
          <p:cNvSpPr/>
          <p:nvPr/>
        </p:nvSpPr>
        <p:spPr>
          <a:xfrm>
            <a:off x="6272784" y="4864608"/>
            <a:ext cx="5358384" cy="969264"/>
          </a:xfrm>
          <a:prstGeom prst="roundRect">
            <a:avLst>
              <a:gd name="adj" fmla="val 7547"/>
            </a:avLst>
          </a:prstGeom>
          <a:solidFill>
            <a:srgbClr val="F2F4F6"/>
          </a:solidFill>
          <a:ln w="12700">
            <a:solidFill>
              <a:srgbClr val="E8ECEF"/>
            </a:solidFill>
            <a:prstDash val="solid"/>
          </a:ln>
        </p:spPr>
      </p:sp>
      <p:sp>
        <p:nvSpPr>
          <p:cNvPr id="23" name="Text 21"/>
          <p:cNvSpPr txBox="1"/>
          <p:nvPr/>
        </p:nvSpPr>
        <p:spPr>
          <a:xfrm>
            <a:off x="6528816" y="4992624"/>
            <a:ext cx="4754880" cy="256032"/>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Timeout</a:t>
            </a:r>
            <a:endParaRPr lang="en-US" sz="1150" dirty="0"/>
          </a:p>
        </p:txBody>
      </p:sp>
      <p:sp>
        <p:nvSpPr>
          <p:cNvPr id="24" name="Text 22"/>
          <p:cNvSpPr txBox="1"/>
          <p:nvPr/>
        </p:nvSpPr>
        <p:spPr>
          <a:xfrm>
            <a:off x="6528816" y="5266944"/>
            <a:ext cx="4882896" cy="530352"/>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DEFAULT_TIMEOUT_MS = 60 000, overridable in [100, 600 000]. Injectable fetch and clock make every adapter testable with no network and no real timer.</a:t>
            </a:r>
            <a:endParaRPr lang="en-US" sz="1100" dirty="0"/>
          </a:p>
        </p:txBody>
      </p:sp>
      <p:sp>
        <p:nvSpPr>
          <p:cNvPr id="25" name="Text 23"/>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MEASUREMENT DISCIPLINE</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The first call is thrown away, and unmeasured never becomes zero</a:t>
            </a:r>
            <a:endParaRPr lang="en-US" sz="3000" dirty="0"/>
          </a:p>
        </p:txBody>
      </p:sp>
      <p:sp>
        <p:nvSpPr>
          <p:cNvPr id="4" name="Shape 2"/>
          <p:cNvSpPr/>
          <p:nvPr/>
        </p:nvSpPr>
        <p:spPr>
          <a:xfrm>
            <a:off x="566928" y="1554480"/>
            <a:ext cx="5440680" cy="2212848"/>
          </a:xfrm>
          <a:prstGeom prst="roundRect">
            <a:avLst>
              <a:gd name="adj" fmla="val 3306"/>
            </a:avLst>
          </a:prstGeom>
          <a:solidFill>
            <a:srgbClr val="0E1116"/>
          </a:solidFill>
          <a:ln w="12700">
            <a:solidFill>
              <a:srgbClr val="0E1116"/>
            </a:solidFill>
            <a:prstDash val="solid"/>
          </a:ln>
        </p:spPr>
      </p:sp>
      <p:sp>
        <p:nvSpPr>
          <p:cNvPr id="5" name="Text 3"/>
          <p:cNvSpPr txBox="1"/>
          <p:nvPr/>
        </p:nvSpPr>
        <p:spPr>
          <a:xfrm>
            <a:off x="841248" y="1755648"/>
            <a:ext cx="4846320" cy="256032"/>
          </a:xfrm>
          <a:prstGeom prst="rect">
            <a:avLst/>
          </a:prstGeom>
          <a:noFill/>
          <a:ln/>
        </p:spPr>
        <p:txBody>
          <a:bodyPr wrap="square" lIns="0" tIns="0" rIns="0" bIns="0" rtlCol="0" anchor="ctr"/>
          <a:lstStyle/>
          <a:p>
            <a:pPr indent="0" marL="0">
              <a:buNone/>
            </a:pPr>
            <a:r>
              <a:rPr lang="en-US" sz="1050" spc="120" kern="0" dirty="0">
                <a:solidFill>
                  <a:srgbClr val="00926B"/>
                </a:solidFill>
                <a:latin typeface="Courier New" pitchFamily="34" charset="0"/>
                <a:ea typeface="Courier New" pitchFamily="34" charset="-122"/>
                <a:cs typeface="Courier New" pitchFamily="34" charset="-120"/>
              </a:rPr>
              <a:t>Observed on this repository’s own evidence file</a:t>
            </a:r>
            <a:endParaRPr lang="en-US" sz="1050" dirty="0"/>
          </a:p>
        </p:txBody>
      </p:sp>
      <p:sp>
        <p:nvSpPr>
          <p:cNvPr id="6" name="Text 4"/>
          <p:cNvSpPr txBox="1"/>
          <p:nvPr/>
        </p:nvSpPr>
        <p:spPr>
          <a:xfrm>
            <a:off x="841248" y="2066544"/>
            <a:ext cx="2377440" cy="566928"/>
          </a:xfrm>
          <a:prstGeom prst="rect">
            <a:avLst/>
          </a:prstGeom>
          <a:noFill/>
          <a:ln/>
        </p:spPr>
        <p:txBody>
          <a:bodyPr wrap="square" lIns="0" tIns="0" rIns="0" bIns="0" rtlCol="0" anchor="ctr"/>
          <a:lstStyle/>
          <a:p>
            <a:pPr indent="0" marL="0">
              <a:buNone/>
            </a:pPr>
            <a:r>
              <a:rPr lang="en-US" sz="3300" b="1" dirty="0">
                <a:solidFill>
                  <a:srgbClr val="C24127"/>
                </a:solidFill>
                <a:latin typeface="Arial" pitchFamily="34" charset="0"/>
                <a:ea typeface="Arial" pitchFamily="34" charset="-122"/>
                <a:cs typeface="Arial" pitchFamily="34" charset="-120"/>
              </a:rPr>
              <a:t>7 570 ms</a:t>
            </a:r>
            <a:endParaRPr lang="en-US" sz="3300" dirty="0"/>
          </a:p>
        </p:txBody>
      </p:sp>
      <p:sp>
        <p:nvSpPr>
          <p:cNvPr id="7" name="Text 5"/>
          <p:cNvSpPr txBox="1"/>
          <p:nvPr/>
        </p:nvSpPr>
        <p:spPr>
          <a:xfrm>
            <a:off x="841248" y="2670048"/>
            <a:ext cx="2377440" cy="548640"/>
          </a:xfrm>
          <a:prstGeom prst="rect">
            <a:avLst/>
          </a:prstGeom>
          <a:noFill/>
          <a:ln/>
        </p:spPr>
        <p:txBody>
          <a:bodyPr wrap="square" lIns="0" tIns="0" rIns="0" bIns="0" rtlCol="0" anchor="ctr"/>
          <a:lstStyle/>
          <a:p>
            <a:pPr indent="0" marL="0">
              <a:lnSpc>
                <a:spcPts val="1400"/>
              </a:lnSpc>
              <a:buNone/>
            </a:pPr>
            <a:r>
              <a:rPr lang="en-US" sz="1100" dirty="0">
                <a:solidFill>
                  <a:srgbClr val="A7B2BE"/>
                </a:solidFill>
                <a:latin typeface="Calibri" pitchFamily="34" charset="0"/>
                <a:ea typeface="Calibri" pitchFamily="34" charset="-122"/>
                <a:cs typeface="Calibri" pitchFamily="34" charset="-120"/>
              </a:rPr>
              <a:t>iteration 1 — weights read off disk</a:t>
            </a:r>
            <a:endParaRPr lang="en-US" sz="1100" dirty="0"/>
          </a:p>
          <a:p>
            <a:pPr indent="0" marL="0">
              <a:lnSpc>
                <a:spcPts val="1400"/>
              </a:lnSpc>
              <a:buNone/>
            </a:pPr>
            <a:r>
              <a:rPr lang="en-US" sz="1100" dirty="0">
                <a:solidFill>
                  <a:srgbClr val="A7B2BE"/>
                </a:solidFill>
                <a:latin typeface="Calibri" pitchFamily="34" charset="0"/>
                <a:ea typeface="Calibri" pitchFamily="34" charset="-122"/>
                <a:cs typeface="Calibri" pitchFamily="34" charset="-120"/>
              </a:rPr>
              <a:t>ttft 6 169 ms</a:t>
            </a:r>
            <a:endParaRPr lang="en-US" sz="1100" dirty="0"/>
          </a:p>
        </p:txBody>
      </p:sp>
      <p:sp>
        <p:nvSpPr>
          <p:cNvPr id="8" name="Text 6"/>
          <p:cNvSpPr txBox="1"/>
          <p:nvPr/>
        </p:nvSpPr>
        <p:spPr>
          <a:xfrm>
            <a:off x="3401568" y="2066544"/>
            <a:ext cx="2377440" cy="566928"/>
          </a:xfrm>
          <a:prstGeom prst="rect">
            <a:avLst/>
          </a:prstGeom>
          <a:noFill/>
          <a:ln/>
        </p:spPr>
        <p:txBody>
          <a:bodyPr wrap="square" lIns="0" tIns="0" rIns="0" bIns="0" rtlCol="0" anchor="ctr"/>
          <a:lstStyle/>
          <a:p>
            <a:pPr indent="0" marL="0">
              <a:buNone/>
            </a:pPr>
            <a:r>
              <a:rPr lang="en-US" sz="3300" b="1" dirty="0">
                <a:solidFill>
                  <a:srgbClr val="00926B"/>
                </a:solidFill>
                <a:latin typeface="Arial" pitchFamily="34" charset="0"/>
                <a:ea typeface="Arial" pitchFamily="34" charset="-122"/>
                <a:cs typeface="Arial" pitchFamily="34" charset="-120"/>
              </a:rPr>
              <a:t>1 542 ms</a:t>
            </a:r>
            <a:endParaRPr lang="en-US" sz="3300" dirty="0"/>
          </a:p>
        </p:txBody>
      </p:sp>
      <p:sp>
        <p:nvSpPr>
          <p:cNvPr id="9" name="Text 7"/>
          <p:cNvSpPr txBox="1"/>
          <p:nvPr/>
        </p:nvSpPr>
        <p:spPr>
          <a:xfrm>
            <a:off x="3401568" y="2670048"/>
            <a:ext cx="2377440" cy="548640"/>
          </a:xfrm>
          <a:prstGeom prst="rect">
            <a:avLst/>
          </a:prstGeom>
          <a:noFill/>
          <a:ln/>
        </p:spPr>
        <p:txBody>
          <a:bodyPr wrap="square" lIns="0" tIns="0" rIns="0" bIns="0" rtlCol="0" anchor="ctr"/>
          <a:lstStyle/>
          <a:p>
            <a:pPr indent="0" marL="0">
              <a:lnSpc>
                <a:spcPts val="1400"/>
              </a:lnSpc>
              <a:buNone/>
            </a:pPr>
            <a:r>
              <a:rPr lang="en-US" sz="1100" dirty="0">
                <a:solidFill>
                  <a:srgbClr val="A7B2BE"/>
                </a:solidFill>
                <a:latin typeface="Calibri" pitchFamily="34" charset="0"/>
                <a:ea typeface="Calibri" pitchFamily="34" charset="-122"/>
                <a:cs typeface="Calibri" pitchFamily="34" charset="-120"/>
              </a:rPr>
              <a:t>p50 of the warm iterations</a:t>
            </a:r>
            <a:endParaRPr lang="en-US" sz="1100" dirty="0"/>
          </a:p>
          <a:p>
            <a:pPr indent="0" marL="0">
              <a:lnSpc>
                <a:spcPts val="1400"/>
              </a:lnSpc>
              <a:buNone/>
            </a:pPr>
            <a:r>
              <a:rPr lang="en-US" sz="1100" dirty="0">
                <a:solidFill>
                  <a:srgbClr val="A7B2BE"/>
                </a:solidFill>
                <a:latin typeface="Calibri" pitchFamily="34" charset="0"/>
                <a:ea typeface="Calibri" pitchFamily="34" charset="-122"/>
                <a:cs typeface="Calibri" pitchFamily="34" charset="-120"/>
              </a:rPr>
              <a:t>ttft 87–92 ms</a:t>
            </a:r>
            <a:endParaRPr lang="en-US" sz="1100" dirty="0"/>
          </a:p>
        </p:txBody>
      </p:sp>
      <p:sp>
        <p:nvSpPr>
          <p:cNvPr id="10" name="Text 8"/>
          <p:cNvSpPr txBox="1"/>
          <p:nvPr/>
        </p:nvSpPr>
        <p:spPr>
          <a:xfrm>
            <a:off x="841248" y="3310128"/>
            <a:ext cx="4937760" cy="274320"/>
          </a:xfrm>
          <a:prstGeom prst="rect">
            <a:avLst/>
          </a:prstGeom>
          <a:noFill/>
          <a:ln/>
        </p:spPr>
        <p:txBody>
          <a:bodyPr wrap="square" lIns="0" tIns="0" rIns="0" bIns="0" rtlCol="0" anchor="ctr"/>
          <a:lstStyle/>
          <a:p>
            <a:pPr indent="0" marL="0">
              <a:buNone/>
            </a:pPr>
            <a:r>
              <a:rPr lang="en-US" sz="950" dirty="0">
                <a:solidFill>
                  <a:srgbClr val="6E7A86"/>
                </a:solidFill>
                <a:latin typeface="Courier New" pitchFamily="34" charset="0"/>
                <a:ea typeface="Courier New" pitchFamily="34" charset="-122"/>
                <a:cs typeface="Courier New" pitchFamily="34" charset="-120"/>
              </a:rPr>
              <a:t>llama3.2:latest · Q4_K_M · 5 iterations · i7-14700HX · fully VRAM-resident</a:t>
            </a:r>
            <a:endParaRPr lang="en-US" sz="950" dirty="0"/>
          </a:p>
        </p:txBody>
      </p:sp>
      <p:sp>
        <p:nvSpPr>
          <p:cNvPr id="11" name="Text 9"/>
          <p:cNvSpPr txBox="1"/>
          <p:nvPr/>
        </p:nvSpPr>
        <p:spPr>
          <a:xfrm>
            <a:off x="566928" y="3968496"/>
            <a:ext cx="5440680" cy="219456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200" dirty="0">
                <a:solidFill>
                  <a:srgbClr val="10151C"/>
                </a:solidFill>
                <a:latin typeface="Calibri" pitchFamily="34" charset="0"/>
                <a:ea typeface="Calibri" pitchFamily="34" charset="-122"/>
                <a:cs typeface="Calibri" pitchFamily="34" charset="-120"/>
              </a:rPr>
              <a:t>The runner requests iterations + 1 and discards the first; selection, the success tally and every score look only at the iterations the caller asked for</a:t>
            </a:r>
            <a:endParaRPr lang="en-US" sz="1200" dirty="0"/>
          </a:p>
          <a:p>
            <a:pPr marL="342900" indent="-342900">
              <a:lnSpc>
                <a:spcPts val="1500"/>
              </a:lnSpc>
              <a:spcAft>
                <a:spcPts val="900"/>
              </a:spcAft>
              <a:buSzPct val="100000"/>
              <a:buChar char="–"/>
            </a:pPr>
            <a:r>
              <a:rPr lang="en-US" sz="1200" dirty="0">
                <a:solidFill>
                  <a:srgbClr val="10151C"/>
                </a:solidFill>
                <a:latin typeface="Calibri" pitchFamily="34" charset="0"/>
                <a:ea typeface="Calibri" pitchFamily="34" charset="-122"/>
                <a:cs typeface="Calibri" pitchFamily="34" charset="-120"/>
              </a:rPr>
              <a:t>Residency is probed before the first call — after it, the model is always loaded, and "slow model" vs "read off disk" is unrecoverable</a:t>
            </a:r>
            <a:endParaRPr lang="en-US" sz="1200" dirty="0"/>
          </a:p>
          <a:p>
            <a:pPr marL="342900" indent="-342900">
              <a:lnSpc>
                <a:spcPts val="1500"/>
              </a:lnSpc>
              <a:spcAft>
                <a:spcPts val="900"/>
              </a:spcAft>
              <a:buSzPct val="100000"/>
              <a:buChar char="–"/>
            </a:pPr>
            <a:r>
              <a:rPr lang="en-US" sz="1200" dirty="0">
                <a:solidFill>
                  <a:srgbClr val="10151C"/>
                </a:solidFill>
                <a:latin typeface="Calibri" pitchFamily="34" charset="0"/>
                <a:ea typeface="Calibri" pitchFamily="34" charset="-122"/>
                <a:cs typeface="Calibri" pitchFamily="34" charset="-120"/>
              </a:rPr>
              <a:t>The discarded call is still returned, as coldStart, with residentBefore attached</a:t>
            </a:r>
            <a:endParaRPr lang="en-US" sz="1200" dirty="0"/>
          </a:p>
        </p:txBody>
      </p:sp>
      <p:sp>
        <p:nvSpPr>
          <p:cNvPr id="12" name="Shape 10"/>
          <p:cNvSpPr/>
          <p:nvPr/>
        </p:nvSpPr>
        <p:spPr>
          <a:xfrm>
            <a:off x="6272784" y="1554480"/>
            <a:ext cx="5358384" cy="4608576"/>
          </a:xfrm>
          <a:prstGeom prst="roundRect">
            <a:avLst>
              <a:gd name="adj" fmla="val 1587"/>
            </a:avLst>
          </a:prstGeom>
          <a:solidFill>
            <a:srgbClr val="F2F4F6"/>
          </a:solidFill>
          <a:ln w="12700">
            <a:solidFill>
              <a:srgbClr val="F2F4F6"/>
            </a:solidFill>
            <a:prstDash val="solid"/>
          </a:ln>
        </p:spPr>
      </p:sp>
      <p:sp>
        <p:nvSpPr>
          <p:cNvPr id="13" name="Text 11"/>
          <p:cNvSpPr txBox="1"/>
          <p:nvPr/>
        </p:nvSpPr>
        <p:spPr>
          <a:xfrm>
            <a:off x="6547104" y="1773936"/>
            <a:ext cx="4754880" cy="292608"/>
          </a:xfrm>
          <a:prstGeom prst="rect">
            <a:avLst/>
          </a:prstGeom>
          <a:noFill/>
          <a:ln/>
        </p:spPr>
        <p:txBody>
          <a:bodyPr wrap="square" lIns="0" tIns="0" rIns="0" bIns="0" rtlCol="0" anchor="ctr"/>
          <a:lstStyle/>
          <a:p>
            <a:pPr indent="0" marL="0">
              <a:buNone/>
            </a:pPr>
            <a:r>
              <a:rPr lang="en-US" sz="1500" b="1" dirty="0">
                <a:solidFill>
                  <a:srgbClr val="10151C"/>
                </a:solidFill>
                <a:latin typeface="Arial" pitchFamily="34" charset="0"/>
                <a:ea typeface="Arial" pitchFamily="34" charset="-122"/>
                <a:cs typeface="Arial" pitchFamily="34" charset="-120"/>
              </a:rPr>
              <a:t>Nullable by construction</a:t>
            </a:r>
            <a:endParaRPr lang="en-US" sz="1500" dirty="0"/>
          </a:p>
        </p:txBody>
      </p:sp>
      <p:sp>
        <p:nvSpPr>
          <p:cNvPr id="14" name="Text 12"/>
          <p:cNvSpPr txBox="1"/>
          <p:nvPr/>
        </p:nvSpPr>
        <p:spPr>
          <a:xfrm>
            <a:off x="6547104" y="2139696"/>
            <a:ext cx="4828032" cy="548640"/>
          </a:xfrm>
          <a:prstGeom prst="rect">
            <a:avLst/>
          </a:prstGeom>
          <a:noFill/>
          <a:ln/>
        </p:spPr>
        <p:txBody>
          <a:bodyPr wrap="square" lIns="0" tIns="0" rIns="0" bIns="0" rtlCol="0" anchor="t"/>
          <a:lstStyle/>
          <a:p>
            <a:pPr algn="l" indent="0" marL="0">
              <a:lnSpc>
                <a:spcPts val="1400"/>
              </a:lnSpc>
              <a:buNone/>
            </a:pPr>
            <a:r>
              <a:rPr lang="en-US" sz="1150" dirty="0">
                <a:solidFill>
                  <a:srgbClr val="5B6672"/>
                </a:solidFill>
                <a:latin typeface="Calibri" pitchFamily="34" charset="0"/>
                <a:ea typeface="Calibri" pitchFamily="34" charset="-122"/>
                <a:cs typeface="Calibri" pitchFamily="34" charset="-120"/>
              </a:rPr>
              <a:t>Every aggregate in MeasurementSummary is nullable. With zero successful iterations there is no mean latency, and reporting 0 would be the most misleading number the system could emit.</a:t>
            </a:r>
            <a:endParaRPr lang="en-US" sz="1150" dirty="0"/>
          </a:p>
        </p:txBody>
      </p:sp>
      <p:sp>
        <p:nvSpPr>
          <p:cNvPr id="15" name="Text 13"/>
          <p:cNvSpPr txBox="1"/>
          <p:nvPr/>
        </p:nvSpPr>
        <p:spPr>
          <a:xfrm>
            <a:off x="6547104" y="2816352"/>
            <a:ext cx="1874520" cy="274320"/>
          </a:xfrm>
          <a:prstGeom prst="rect">
            <a:avLst/>
          </a:prstGeom>
          <a:noFill/>
          <a:ln/>
        </p:spPr>
        <p:txBody>
          <a:bodyPr wrap="square" lIns="0" tIns="0" rIns="0" bIns="0" rtlCol="0" anchor="t"/>
          <a:lstStyle/>
          <a:p>
            <a:pPr indent="0" marL="0">
              <a:buNone/>
            </a:pPr>
            <a:r>
              <a:rPr lang="en-US" sz="1050" b="1" dirty="0">
                <a:solidFill>
                  <a:srgbClr val="2B5BD7"/>
                </a:solidFill>
                <a:latin typeface="Courier New" pitchFamily="34" charset="0"/>
                <a:ea typeface="Courier New" pitchFamily="34" charset="-122"/>
                <a:cs typeface="Courier New" pitchFamily="34" charset="-120"/>
              </a:rPr>
              <a:t>latency_ms_p50</a:t>
            </a:r>
            <a:endParaRPr lang="en-US" sz="1050" dirty="0"/>
          </a:p>
        </p:txBody>
      </p:sp>
      <p:sp>
        <p:nvSpPr>
          <p:cNvPr id="16" name="Text 14"/>
          <p:cNvSpPr txBox="1"/>
          <p:nvPr/>
        </p:nvSpPr>
        <p:spPr>
          <a:xfrm>
            <a:off x="8485632" y="2798064"/>
            <a:ext cx="2926080" cy="621792"/>
          </a:xfrm>
          <a:prstGeom prst="rect">
            <a:avLst/>
          </a:prstGeom>
          <a:noFill/>
          <a:ln/>
        </p:spPr>
        <p:txBody>
          <a:bodyPr wrap="square" lIns="0" tIns="0" rIns="0" bIns="0" rtlCol="0" anchor="t"/>
          <a:lstStyle/>
          <a:p>
            <a:pPr indent="0" marL="0">
              <a:lnSpc>
                <a:spcPts val="1250"/>
              </a:lnSpc>
              <a:buNone/>
            </a:pPr>
            <a:r>
              <a:rPr lang="en-US" sz="1050" dirty="0">
                <a:solidFill>
                  <a:srgbClr val="10151C"/>
                </a:solidFill>
                <a:latin typeface="Calibri" pitchFamily="34" charset="0"/>
                <a:ea typeface="Calibri" pitchFamily="34" charset="-122"/>
                <a:cs typeface="Calibri" pitchFamily="34" charset="-120"/>
              </a:rPr>
              <a:t>withheld below 3 successes — a percentile over one or two samples says nothing min and max do not</a:t>
            </a:r>
            <a:endParaRPr lang="en-US" sz="1050" dirty="0"/>
          </a:p>
        </p:txBody>
      </p:sp>
      <p:sp>
        <p:nvSpPr>
          <p:cNvPr id="17" name="Text 15"/>
          <p:cNvSpPr txBox="1"/>
          <p:nvPr/>
        </p:nvSpPr>
        <p:spPr>
          <a:xfrm>
            <a:off x="6547104" y="3474720"/>
            <a:ext cx="1874520" cy="274320"/>
          </a:xfrm>
          <a:prstGeom prst="rect">
            <a:avLst/>
          </a:prstGeom>
          <a:noFill/>
          <a:ln/>
        </p:spPr>
        <p:txBody>
          <a:bodyPr wrap="square" lIns="0" tIns="0" rIns="0" bIns="0" rtlCol="0" anchor="t"/>
          <a:lstStyle/>
          <a:p>
            <a:pPr indent="0" marL="0">
              <a:buNone/>
            </a:pPr>
            <a:r>
              <a:rPr lang="en-US" sz="1050" b="1" dirty="0">
                <a:solidFill>
                  <a:srgbClr val="2B5BD7"/>
                </a:solidFill>
                <a:latin typeface="Courier New" pitchFamily="34" charset="0"/>
                <a:ea typeface="Courier New" pitchFamily="34" charset="-122"/>
                <a:cs typeface="Courier New" pitchFamily="34" charset="-120"/>
              </a:rPr>
              <a:t>tokens_per_second</a:t>
            </a:r>
            <a:endParaRPr lang="en-US" sz="1050" dirty="0"/>
          </a:p>
        </p:txBody>
      </p:sp>
      <p:sp>
        <p:nvSpPr>
          <p:cNvPr id="18" name="Text 16"/>
          <p:cNvSpPr txBox="1"/>
          <p:nvPr/>
        </p:nvSpPr>
        <p:spPr>
          <a:xfrm>
            <a:off x="8485632" y="3456432"/>
            <a:ext cx="2926080" cy="621792"/>
          </a:xfrm>
          <a:prstGeom prst="rect">
            <a:avLst/>
          </a:prstGeom>
          <a:noFill/>
          <a:ln/>
        </p:spPr>
        <p:txBody>
          <a:bodyPr wrap="square" lIns="0" tIns="0" rIns="0" bIns="0" rtlCol="0" anchor="t"/>
          <a:lstStyle/>
          <a:p>
            <a:pPr indent="0" marL="0">
              <a:lnSpc>
                <a:spcPts val="1250"/>
              </a:lnSpc>
              <a:buNone/>
            </a:pPr>
            <a:r>
              <a:rPr lang="en-US" sz="1050" dirty="0">
                <a:solidFill>
                  <a:srgbClr val="10151C"/>
                </a:solidFill>
                <a:latin typeface="Calibri" pitchFamily="34" charset="0"/>
                <a:ea typeface="Calibri" pitchFamily="34" charset="-122"/>
                <a:cs typeface="Calibri" pitchFamily="34" charset="-120"/>
              </a:rPr>
              <a:t>null when output tokens were unavailable, not 0</a:t>
            </a:r>
            <a:endParaRPr lang="en-US" sz="1050" dirty="0"/>
          </a:p>
        </p:txBody>
      </p:sp>
      <p:sp>
        <p:nvSpPr>
          <p:cNvPr id="19" name="Text 17"/>
          <p:cNvSpPr txBox="1"/>
          <p:nvPr/>
        </p:nvSpPr>
        <p:spPr>
          <a:xfrm>
            <a:off x="6547104" y="4133088"/>
            <a:ext cx="1874520" cy="274320"/>
          </a:xfrm>
          <a:prstGeom prst="rect">
            <a:avLst/>
          </a:prstGeom>
          <a:noFill/>
          <a:ln/>
        </p:spPr>
        <p:txBody>
          <a:bodyPr wrap="square" lIns="0" tIns="0" rIns="0" bIns="0" rtlCol="0" anchor="t"/>
          <a:lstStyle/>
          <a:p>
            <a:pPr indent="0" marL="0">
              <a:buNone/>
            </a:pPr>
            <a:r>
              <a:rPr lang="en-US" sz="1050" b="1" dirty="0">
                <a:solidFill>
                  <a:srgbClr val="2B5BD7"/>
                </a:solidFill>
                <a:latin typeface="Courier New" pitchFamily="34" charset="0"/>
                <a:ea typeface="Courier New" pitchFamily="34" charset="-122"/>
                <a:cs typeface="Courier New" pitchFamily="34" charset="-120"/>
              </a:rPr>
              <a:t>hardwareFit</a:t>
            </a:r>
            <a:endParaRPr lang="en-US" sz="1050" dirty="0"/>
          </a:p>
        </p:txBody>
      </p:sp>
      <p:sp>
        <p:nvSpPr>
          <p:cNvPr id="20" name="Text 18"/>
          <p:cNvSpPr txBox="1"/>
          <p:nvPr/>
        </p:nvSpPr>
        <p:spPr>
          <a:xfrm>
            <a:off x="8485632" y="4114800"/>
            <a:ext cx="2926080" cy="621792"/>
          </a:xfrm>
          <a:prstGeom prst="rect">
            <a:avLst/>
          </a:prstGeom>
          <a:noFill/>
          <a:ln/>
        </p:spPr>
        <p:txBody>
          <a:bodyPr wrap="square" lIns="0" tIns="0" rIns="0" bIns="0" rtlCol="0" anchor="t"/>
          <a:lstStyle/>
          <a:p>
            <a:pPr indent="0" marL="0">
              <a:lnSpc>
                <a:spcPts val="1250"/>
              </a:lnSpc>
              <a:buNone/>
            </a:pPr>
            <a:r>
              <a:rPr lang="en-US" sz="1050" dirty="0">
                <a:solidFill>
                  <a:srgbClr val="10151C"/>
                </a:solidFill>
                <a:latin typeface="Calibri" pitchFamily="34" charset="0"/>
                <a:ea typeface="Calibri" pitchFamily="34" charset="-122"/>
                <a:cs typeface="Calibri" pitchFamily="34" charset="-120"/>
              </a:rPr>
              <a:t>null on cloud and on an unobserved local run; the score renormalises rather than averaging in a placeholder</a:t>
            </a:r>
            <a:endParaRPr lang="en-US" sz="1050" dirty="0"/>
          </a:p>
        </p:txBody>
      </p:sp>
      <p:sp>
        <p:nvSpPr>
          <p:cNvPr id="21" name="Text 19"/>
          <p:cNvSpPr txBox="1"/>
          <p:nvPr/>
        </p:nvSpPr>
        <p:spPr>
          <a:xfrm>
            <a:off x="6547104" y="4791456"/>
            <a:ext cx="1874520" cy="274320"/>
          </a:xfrm>
          <a:prstGeom prst="rect">
            <a:avLst/>
          </a:prstGeom>
          <a:noFill/>
          <a:ln/>
        </p:spPr>
        <p:txBody>
          <a:bodyPr wrap="square" lIns="0" tIns="0" rIns="0" bIns="0" rtlCol="0" anchor="t"/>
          <a:lstStyle/>
          <a:p>
            <a:pPr indent="0" marL="0">
              <a:buNone/>
            </a:pPr>
            <a:r>
              <a:rPr lang="en-US" sz="1050" b="1" dirty="0">
                <a:solidFill>
                  <a:srgbClr val="2B5BD7"/>
                </a:solidFill>
                <a:latin typeface="Courier New" pitchFamily="34" charset="0"/>
                <a:ea typeface="Courier New" pitchFamily="34" charset="-122"/>
                <a:cs typeface="Courier New" pitchFamily="34" charset="-120"/>
              </a:rPr>
              <a:t>latency_ms</a:t>
            </a:r>
            <a:endParaRPr lang="en-US" sz="1050" dirty="0"/>
          </a:p>
        </p:txBody>
      </p:sp>
      <p:sp>
        <p:nvSpPr>
          <p:cNvPr id="22" name="Text 20"/>
          <p:cNvSpPr txBox="1"/>
          <p:nvPr/>
        </p:nvSpPr>
        <p:spPr>
          <a:xfrm>
            <a:off x="8485632" y="4773168"/>
            <a:ext cx="2926080" cy="621792"/>
          </a:xfrm>
          <a:prstGeom prst="rect">
            <a:avLst/>
          </a:prstGeom>
          <a:noFill/>
          <a:ln/>
        </p:spPr>
        <p:txBody>
          <a:bodyPr wrap="square" lIns="0" tIns="0" rIns="0" bIns="0" rtlCol="0" anchor="t"/>
          <a:lstStyle/>
          <a:p>
            <a:pPr indent="0" marL="0">
              <a:lnSpc>
                <a:spcPts val="1250"/>
              </a:lnSpc>
              <a:buNone/>
            </a:pPr>
            <a:r>
              <a:rPr lang="en-US" sz="1050" dirty="0">
                <a:solidFill>
                  <a:srgbClr val="10151C"/>
                </a:solidFill>
                <a:latin typeface="Calibri" pitchFamily="34" charset="0"/>
                <a:ea typeface="Calibri" pitchFamily="34" charset="-122"/>
                <a:cs typeface="Calibri" pitchFamily="34" charset="-120"/>
              </a:rPr>
              <a:t>present even on a failed iteration — how long a call took to fail is evidence</a:t>
            </a:r>
            <a:endParaRPr lang="en-US" sz="1050" dirty="0"/>
          </a:p>
        </p:txBody>
      </p:sp>
      <p:sp>
        <p:nvSpPr>
          <p:cNvPr id="23" name="Text 21"/>
          <p:cNvSpPr txBox="1"/>
          <p:nvPr/>
        </p:nvSpPr>
        <p:spPr>
          <a:xfrm>
            <a:off x="6547104" y="5449824"/>
            <a:ext cx="1874520" cy="274320"/>
          </a:xfrm>
          <a:prstGeom prst="rect">
            <a:avLst/>
          </a:prstGeom>
          <a:noFill/>
          <a:ln/>
        </p:spPr>
        <p:txBody>
          <a:bodyPr wrap="square" lIns="0" tIns="0" rIns="0" bIns="0" rtlCol="0" anchor="t"/>
          <a:lstStyle/>
          <a:p>
            <a:pPr indent="0" marL="0">
              <a:buNone/>
            </a:pPr>
            <a:r>
              <a:rPr lang="en-US" sz="1050" b="1" dirty="0">
                <a:solidFill>
                  <a:srgbClr val="2B5BD7"/>
                </a:solidFill>
                <a:latin typeface="Courier New" pitchFamily="34" charset="0"/>
                <a:ea typeface="Courier New" pitchFamily="34" charset="-122"/>
                <a:cs typeface="Courier New" pitchFamily="34" charset="-120"/>
              </a:rPr>
              <a:t>modelLoadMs</a:t>
            </a:r>
            <a:endParaRPr lang="en-US" sz="1050" dirty="0"/>
          </a:p>
        </p:txBody>
      </p:sp>
      <p:sp>
        <p:nvSpPr>
          <p:cNvPr id="24" name="Text 22"/>
          <p:cNvSpPr txBox="1"/>
          <p:nvPr/>
        </p:nvSpPr>
        <p:spPr>
          <a:xfrm>
            <a:off x="8485632" y="5431536"/>
            <a:ext cx="2926080" cy="621792"/>
          </a:xfrm>
          <a:prstGeom prst="rect">
            <a:avLst/>
          </a:prstGeom>
          <a:noFill/>
          <a:ln/>
        </p:spPr>
        <p:txBody>
          <a:bodyPr wrap="square" lIns="0" tIns="0" rIns="0" bIns="0" rtlCol="0" anchor="t"/>
          <a:lstStyle/>
          <a:p>
            <a:pPr indent="0" marL="0">
              <a:lnSpc>
                <a:spcPts val="1250"/>
              </a:lnSpc>
              <a:buNone/>
            </a:pPr>
            <a:r>
              <a:rPr lang="en-US" sz="1050" dirty="0">
                <a:solidFill>
                  <a:srgbClr val="10151C"/>
                </a:solidFill>
                <a:latin typeface="Calibri" pitchFamily="34" charset="0"/>
                <a:ea typeface="Calibri" pitchFamily="34" charset="-122"/>
                <a:cs typeface="Calibri" pitchFamily="34" charset="-120"/>
              </a:rPr>
              <a:t>max, not median: the warm-up is already gone, so a large value means mid-run eviction</a:t>
            </a:r>
            <a:endParaRPr lang="en-US" sz="1050" dirty="0"/>
          </a:p>
        </p:txBody>
      </p:sp>
      <p:sp>
        <p:nvSpPr>
          <p:cNvPr id="25" name="Text 23"/>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FAILURE MODEL</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Eight codes, one fallback rule, no exceptions across the boundary</a:t>
            </a:r>
            <a:endParaRPr lang="en-US" sz="3000" dirty="0"/>
          </a:p>
        </p:txBody>
      </p:sp>
      <p:sp>
        <p:nvSpPr>
          <p:cNvPr id="4" name="Shape 2"/>
          <p:cNvSpPr/>
          <p:nvPr/>
        </p:nvSpPr>
        <p:spPr>
          <a:xfrm>
            <a:off x="566928" y="1517904"/>
            <a:ext cx="11064240" cy="475488"/>
          </a:xfrm>
          <a:prstGeom prst="roundRect">
            <a:avLst>
              <a:gd name="adj" fmla="val 15385"/>
            </a:avLst>
          </a:prstGeom>
          <a:solidFill>
            <a:srgbClr val="0E1116"/>
          </a:solidFill>
          <a:ln w="12700">
            <a:solidFill>
              <a:srgbClr val="0E1116"/>
            </a:solidFill>
            <a:prstDash val="solid"/>
          </a:ln>
        </p:spPr>
      </p:sp>
      <p:sp>
        <p:nvSpPr>
          <p:cNvPr id="5" name="Text 3"/>
          <p:cNvSpPr txBox="1"/>
          <p:nvPr/>
        </p:nvSpPr>
        <p:spPr>
          <a:xfrm>
            <a:off x="841248" y="1517904"/>
            <a:ext cx="106070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Fall back only when the provider failed for a reason another provider could plausibly not share.</a:t>
            </a:r>
            <a:endParaRPr lang="en-US" sz="1400" dirty="0"/>
          </a:p>
        </p:txBody>
      </p:sp>
      <p:sp>
        <p:nvSpPr>
          <p:cNvPr id="6" name="Text 4"/>
          <p:cNvSpPr txBox="1"/>
          <p:nvPr/>
        </p:nvSpPr>
        <p:spPr>
          <a:xfrm>
            <a:off x="566928" y="2157984"/>
            <a:ext cx="178308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code</a:t>
            </a:r>
            <a:endParaRPr lang="en-US" sz="1000" dirty="0"/>
          </a:p>
        </p:txBody>
      </p:sp>
      <p:sp>
        <p:nvSpPr>
          <p:cNvPr id="7" name="Text 5"/>
          <p:cNvSpPr txBox="1"/>
          <p:nvPr/>
        </p:nvSpPr>
        <p:spPr>
          <a:xfrm>
            <a:off x="2395728" y="2157984"/>
            <a:ext cx="77724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HTTP</a:t>
            </a:r>
            <a:endParaRPr lang="en-US" sz="1000" dirty="0"/>
          </a:p>
        </p:txBody>
      </p:sp>
      <p:sp>
        <p:nvSpPr>
          <p:cNvPr id="8" name="Text 6"/>
          <p:cNvSpPr txBox="1"/>
          <p:nvPr/>
        </p:nvSpPr>
        <p:spPr>
          <a:xfrm>
            <a:off x="3218688" y="2157984"/>
            <a:ext cx="96012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falls back</a:t>
            </a:r>
            <a:endParaRPr lang="en-US" sz="1000" dirty="0"/>
          </a:p>
        </p:txBody>
      </p:sp>
      <p:sp>
        <p:nvSpPr>
          <p:cNvPr id="9" name="Text 7"/>
          <p:cNvSpPr txBox="1"/>
          <p:nvPr/>
        </p:nvSpPr>
        <p:spPr>
          <a:xfrm>
            <a:off x="4224528" y="2157984"/>
            <a:ext cx="736092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why</a:t>
            </a:r>
            <a:endParaRPr lang="en-US" sz="1000" dirty="0"/>
          </a:p>
        </p:txBody>
      </p:sp>
      <p:sp>
        <p:nvSpPr>
          <p:cNvPr id="10" name="Shape 8"/>
          <p:cNvSpPr/>
          <p:nvPr/>
        </p:nvSpPr>
        <p:spPr>
          <a:xfrm>
            <a:off x="502920" y="2423160"/>
            <a:ext cx="11155680" cy="420624"/>
          </a:xfrm>
          <a:prstGeom prst="rect">
            <a:avLst/>
          </a:prstGeom>
          <a:solidFill>
            <a:srgbClr val="F7F9FA"/>
          </a:solidFill>
          <a:ln w="12700">
            <a:solidFill>
              <a:srgbClr val="F7F9FA"/>
            </a:solidFill>
            <a:prstDash val="solid"/>
          </a:ln>
        </p:spPr>
      </p:sp>
      <p:sp>
        <p:nvSpPr>
          <p:cNvPr id="11" name="Text 9"/>
          <p:cNvSpPr txBox="1"/>
          <p:nvPr/>
        </p:nvSpPr>
        <p:spPr>
          <a:xfrm>
            <a:off x="566928" y="24688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timeout</a:t>
            </a:r>
            <a:endParaRPr lang="en-US" sz="1100" dirty="0"/>
          </a:p>
        </p:txBody>
      </p:sp>
      <p:sp>
        <p:nvSpPr>
          <p:cNvPr id="12" name="Text 10"/>
          <p:cNvSpPr txBox="1"/>
          <p:nvPr/>
        </p:nvSpPr>
        <p:spPr>
          <a:xfrm>
            <a:off x="2395728" y="24688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504</a:t>
            </a:r>
            <a:endParaRPr lang="en-US" sz="1100" dirty="0"/>
          </a:p>
        </p:txBody>
      </p:sp>
      <p:sp>
        <p:nvSpPr>
          <p:cNvPr id="13" name="Text 11"/>
          <p:cNvSpPr txBox="1"/>
          <p:nvPr/>
        </p:nvSpPr>
        <p:spPr>
          <a:xfrm>
            <a:off x="3218688" y="24688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14" name="Text 12"/>
          <p:cNvSpPr txBox="1"/>
          <p:nvPr/>
        </p:nvSpPr>
        <p:spPr>
          <a:xfrm>
            <a:off x="4224528" y="24688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Exceeded BENCHMARK_TIMEOUT_MS; request aborted, no partial result recorded as measured</a:t>
            </a:r>
            <a:endParaRPr lang="en-US" sz="1150" dirty="0"/>
          </a:p>
        </p:txBody>
      </p:sp>
      <p:sp>
        <p:nvSpPr>
          <p:cNvPr id="15" name="Text 13"/>
          <p:cNvSpPr txBox="1"/>
          <p:nvPr/>
        </p:nvSpPr>
        <p:spPr>
          <a:xfrm>
            <a:off x="566928" y="29260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local_unavailable</a:t>
            </a:r>
            <a:endParaRPr lang="en-US" sz="1100" dirty="0"/>
          </a:p>
        </p:txBody>
      </p:sp>
      <p:sp>
        <p:nvSpPr>
          <p:cNvPr id="16" name="Text 14"/>
          <p:cNvSpPr txBox="1"/>
          <p:nvPr/>
        </p:nvSpPr>
        <p:spPr>
          <a:xfrm>
            <a:off x="2395728" y="29260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503</a:t>
            </a:r>
            <a:endParaRPr lang="en-US" sz="1100" dirty="0"/>
          </a:p>
        </p:txBody>
      </p:sp>
      <p:sp>
        <p:nvSpPr>
          <p:cNvPr id="17" name="Text 15"/>
          <p:cNvSpPr txBox="1"/>
          <p:nvPr/>
        </p:nvSpPr>
        <p:spPr>
          <a:xfrm>
            <a:off x="3218688" y="29260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18" name="Text 16"/>
          <p:cNvSpPr txBox="1"/>
          <p:nvPr/>
        </p:nvSpPr>
        <p:spPr>
          <a:xfrm>
            <a:off x="4224528" y="29260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Nothing listening on OLLAMA_HOST</a:t>
            </a:r>
            <a:endParaRPr lang="en-US" sz="1150" dirty="0"/>
          </a:p>
        </p:txBody>
      </p:sp>
      <p:sp>
        <p:nvSpPr>
          <p:cNvPr id="19" name="Shape 17"/>
          <p:cNvSpPr/>
          <p:nvPr/>
        </p:nvSpPr>
        <p:spPr>
          <a:xfrm>
            <a:off x="502920" y="3337560"/>
            <a:ext cx="11155680" cy="420624"/>
          </a:xfrm>
          <a:prstGeom prst="rect">
            <a:avLst/>
          </a:prstGeom>
          <a:solidFill>
            <a:srgbClr val="F7F9FA"/>
          </a:solidFill>
          <a:ln w="12700">
            <a:solidFill>
              <a:srgbClr val="F7F9FA"/>
            </a:solidFill>
            <a:prstDash val="solid"/>
          </a:ln>
        </p:spPr>
      </p:sp>
      <p:sp>
        <p:nvSpPr>
          <p:cNvPr id="20" name="Text 18"/>
          <p:cNvSpPr txBox="1"/>
          <p:nvPr/>
        </p:nvSpPr>
        <p:spPr>
          <a:xfrm>
            <a:off x="566928" y="33832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rate_limited</a:t>
            </a:r>
            <a:endParaRPr lang="en-US" sz="1100" dirty="0"/>
          </a:p>
        </p:txBody>
      </p:sp>
      <p:sp>
        <p:nvSpPr>
          <p:cNvPr id="21" name="Text 19"/>
          <p:cNvSpPr txBox="1"/>
          <p:nvPr/>
        </p:nvSpPr>
        <p:spPr>
          <a:xfrm>
            <a:off x="2395728" y="33832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429</a:t>
            </a:r>
            <a:endParaRPr lang="en-US" sz="1100" dirty="0"/>
          </a:p>
        </p:txBody>
      </p:sp>
      <p:sp>
        <p:nvSpPr>
          <p:cNvPr id="22" name="Text 20"/>
          <p:cNvSpPr txBox="1"/>
          <p:nvPr/>
        </p:nvSpPr>
        <p:spPr>
          <a:xfrm>
            <a:off x="3218688" y="33832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23" name="Text 21"/>
          <p:cNvSpPr txBox="1"/>
          <p:nvPr/>
        </p:nvSpPr>
        <p:spPr>
          <a:xfrm>
            <a:off x="4224528" y="33832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Vendor quota or rate limit</a:t>
            </a:r>
            <a:endParaRPr lang="en-US" sz="1150" dirty="0"/>
          </a:p>
        </p:txBody>
      </p:sp>
      <p:sp>
        <p:nvSpPr>
          <p:cNvPr id="24" name="Text 22"/>
          <p:cNvSpPr txBox="1"/>
          <p:nvPr/>
        </p:nvSpPr>
        <p:spPr>
          <a:xfrm>
            <a:off x="566928" y="38404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invalid_response</a:t>
            </a:r>
            <a:endParaRPr lang="en-US" sz="1100" dirty="0"/>
          </a:p>
        </p:txBody>
      </p:sp>
      <p:sp>
        <p:nvSpPr>
          <p:cNvPr id="25" name="Text 23"/>
          <p:cNvSpPr txBox="1"/>
          <p:nvPr/>
        </p:nvSpPr>
        <p:spPr>
          <a:xfrm>
            <a:off x="2395728" y="38404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502</a:t>
            </a:r>
            <a:endParaRPr lang="en-US" sz="1100" dirty="0"/>
          </a:p>
        </p:txBody>
      </p:sp>
      <p:sp>
        <p:nvSpPr>
          <p:cNvPr id="26" name="Text 24"/>
          <p:cNvSpPr txBox="1"/>
          <p:nvPr/>
        </p:nvSpPr>
        <p:spPr>
          <a:xfrm>
            <a:off x="3218688" y="38404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27" name="Text 25"/>
          <p:cNvSpPr txBox="1"/>
          <p:nvPr/>
        </p:nvSpPr>
        <p:spPr>
          <a:xfrm>
            <a:off x="4224528" y="38404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Answered, but the payload failed schema validation — a provider fault, not a measurement</a:t>
            </a:r>
            <a:endParaRPr lang="en-US" sz="1150" dirty="0"/>
          </a:p>
        </p:txBody>
      </p:sp>
      <p:sp>
        <p:nvSpPr>
          <p:cNvPr id="28" name="Shape 26"/>
          <p:cNvSpPr/>
          <p:nvPr/>
        </p:nvSpPr>
        <p:spPr>
          <a:xfrm>
            <a:off x="502920" y="4251960"/>
            <a:ext cx="11155680" cy="420624"/>
          </a:xfrm>
          <a:prstGeom prst="rect">
            <a:avLst/>
          </a:prstGeom>
          <a:solidFill>
            <a:srgbClr val="F7F9FA"/>
          </a:solidFill>
          <a:ln w="12700">
            <a:solidFill>
              <a:srgbClr val="F7F9FA"/>
            </a:solidFill>
            <a:prstDash val="solid"/>
          </a:ln>
        </p:spPr>
      </p:sp>
      <p:sp>
        <p:nvSpPr>
          <p:cNvPr id="29" name="Text 27"/>
          <p:cNvSpPr txBox="1"/>
          <p:nvPr/>
        </p:nvSpPr>
        <p:spPr>
          <a:xfrm>
            <a:off x="566928" y="42976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not_configured</a:t>
            </a:r>
            <a:endParaRPr lang="en-US" sz="1100" dirty="0"/>
          </a:p>
        </p:txBody>
      </p:sp>
      <p:sp>
        <p:nvSpPr>
          <p:cNvPr id="30" name="Text 28"/>
          <p:cNvSpPr txBox="1"/>
          <p:nvPr/>
        </p:nvSpPr>
        <p:spPr>
          <a:xfrm>
            <a:off x="2395728" y="42976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503</a:t>
            </a:r>
            <a:endParaRPr lang="en-US" sz="1100" dirty="0"/>
          </a:p>
        </p:txBody>
      </p:sp>
      <p:sp>
        <p:nvSpPr>
          <p:cNvPr id="31" name="Text 29"/>
          <p:cNvSpPr txBox="1"/>
          <p:nvPr/>
        </p:nvSpPr>
        <p:spPr>
          <a:xfrm>
            <a:off x="3218688" y="42976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32" name="Text 30"/>
          <p:cNvSpPr txBox="1"/>
          <p:nvPr/>
        </p:nvSpPr>
        <p:spPr>
          <a:xfrm>
            <a:off x="4224528" y="42976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No credential or host in this environment; never called</a:t>
            </a:r>
            <a:endParaRPr lang="en-US" sz="1150" dirty="0"/>
          </a:p>
        </p:txBody>
      </p:sp>
      <p:sp>
        <p:nvSpPr>
          <p:cNvPr id="33" name="Text 31"/>
          <p:cNvSpPr txBox="1"/>
          <p:nvPr/>
        </p:nvSpPr>
        <p:spPr>
          <a:xfrm>
            <a:off x="566928" y="4754880"/>
            <a:ext cx="1783080" cy="274320"/>
          </a:xfrm>
          <a:prstGeom prst="rect">
            <a:avLst/>
          </a:prstGeom>
          <a:noFill/>
          <a:ln/>
        </p:spPr>
        <p:txBody>
          <a:bodyPr wrap="square" lIns="0" tIns="0" rIns="0" bIns="0" rtlCol="0" anchor="ctr"/>
          <a:lstStyle/>
          <a:p>
            <a:pPr indent="0" marL="0">
              <a:buNone/>
            </a:pPr>
            <a:r>
              <a:rPr lang="en-US" sz="1100" b="1" dirty="0">
                <a:solidFill>
                  <a:srgbClr val="0E1116"/>
                </a:solidFill>
                <a:latin typeface="Courier New" pitchFamily="34" charset="0"/>
                <a:ea typeface="Courier New" pitchFamily="34" charset="-122"/>
                <a:cs typeface="Courier New" pitchFamily="34" charset="-120"/>
              </a:rPr>
              <a:t>provider_error</a:t>
            </a:r>
            <a:endParaRPr lang="en-US" sz="1100" dirty="0"/>
          </a:p>
        </p:txBody>
      </p:sp>
      <p:sp>
        <p:nvSpPr>
          <p:cNvPr id="34" name="Text 32"/>
          <p:cNvSpPr txBox="1"/>
          <p:nvPr/>
        </p:nvSpPr>
        <p:spPr>
          <a:xfrm>
            <a:off x="2395728" y="47548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502</a:t>
            </a:r>
            <a:endParaRPr lang="en-US" sz="1100" dirty="0"/>
          </a:p>
        </p:txBody>
      </p:sp>
      <p:sp>
        <p:nvSpPr>
          <p:cNvPr id="35" name="Text 33"/>
          <p:cNvSpPr txBox="1"/>
          <p:nvPr/>
        </p:nvSpPr>
        <p:spPr>
          <a:xfrm>
            <a:off x="3218688" y="4754880"/>
            <a:ext cx="960120" cy="274320"/>
          </a:xfrm>
          <a:prstGeom prst="rect">
            <a:avLst/>
          </a:prstGeom>
          <a:noFill/>
          <a:ln/>
        </p:spPr>
        <p:txBody>
          <a:bodyPr wrap="square" lIns="0" tIns="0" rIns="0" bIns="0" rtlCol="0" anchor="ctr"/>
          <a:lstStyle/>
          <a:p>
            <a:pPr indent="0" marL="0">
              <a:buNone/>
            </a:pPr>
            <a:r>
              <a:rPr lang="en-US" sz="1100" dirty="0">
                <a:solidFill>
                  <a:srgbClr val="00926B"/>
                </a:solidFill>
                <a:latin typeface="Courier New" pitchFamily="34" charset="0"/>
                <a:ea typeface="Courier New" pitchFamily="34" charset="-122"/>
                <a:cs typeface="Courier New" pitchFamily="34" charset="-120"/>
              </a:rPr>
              <a:t>yes</a:t>
            </a:r>
            <a:endParaRPr lang="en-US" sz="1100" dirty="0"/>
          </a:p>
        </p:txBody>
      </p:sp>
      <p:sp>
        <p:nvSpPr>
          <p:cNvPr id="36" name="Text 34"/>
          <p:cNvSpPr txBox="1"/>
          <p:nvPr/>
        </p:nvSpPr>
        <p:spPr>
          <a:xfrm>
            <a:off x="4224528" y="47548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Anything else the provider reported</a:t>
            </a:r>
            <a:endParaRPr lang="en-US" sz="1150" dirty="0"/>
          </a:p>
        </p:txBody>
      </p:sp>
      <p:sp>
        <p:nvSpPr>
          <p:cNvPr id="37" name="Shape 35"/>
          <p:cNvSpPr/>
          <p:nvPr/>
        </p:nvSpPr>
        <p:spPr>
          <a:xfrm>
            <a:off x="502920" y="5166360"/>
            <a:ext cx="11155680" cy="420624"/>
          </a:xfrm>
          <a:prstGeom prst="rect">
            <a:avLst/>
          </a:prstGeom>
          <a:solidFill>
            <a:srgbClr val="F7F9FA"/>
          </a:solidFill>
          <a:ln w="12700">
            <a:solidFill>
              <a:srgbClr val="F7F9FA"/>
            </a:solidFill>
            <a:prstDash val="solid"/>
          </a:ln>
        </p:spPr>
      </p:sp>
      <p:sp>
        <p:nvSpPr>
          <p:cNvPr id="38" name="Text 36"/>
          <p:cNvSpPr txBox="1"/>
          <p:nvPr/>
        </p:nvSpPr>
        <p:spPr>
          <a:xfrm>
            <a:off x="566928" y="5212080"/>
            <a:ext cx="1783080" cy="274320"/>
          </a:xfrm>
          <a:prstGeom prst="rect">
            <a:avLst/>
          </a:prstGeom>
          <a:noFill/>
          <a:ln/>
        </p:spPr>
        <p:txBody>
          <a:bodyPr wrap="square" lIns="0" tIns="0" rIns="0" bIns="0" rtlCol="0" anchor="ctr"/>
          <a:lstStyle/>
          <a:p>
            <a:pPr indent="0" marL="0">
              <a:buNone/>
            </a:pPr>
            <a:r>
              <a:rPr lang="en-US" sz="1100" b="1" dirty="0">
                <a:solidFill>
                  <a:srgbClr val="C24127"/>
                </a:solidFill>
                <a:latin typeface="Courier New" pitchFamily="34" charset="0"/>
                <a:ea typeface="Courier New" pitchFamily="34" charset="-122"/>
                <a:cs typeface="Courier New" pitchFamily="34" charset="-120"/>
              </a:rPr>
              <a:t>invalid_model</a:t>
            </a:r>
            <a:endParaRPr lang="en-US" sz="1100" dirty="0"/>
          </a:p>
        </p:txBody>
      </p:sp>
      <p:sp>
        <p:nvSpPr>
          <p:cNvPr id="39" name="Text 37"/>
          <p:cNvSpPr txBox="1"/>
          <p:nvPr/>
        </p:nvSpPr>
        <p:spPr>
          <a:xfrm>
            <a:off x="2395728" y="52120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422</a:t>
            </a:r>
            <a:endParaRPr lang="en-US" sz="1100" dirty="0"/>
          </a:p>
        </p:txBody>
      </p:sp>
      <p:sp>
        <p:nvSpPr>
          <p:cNvPr id="40" name="Text 38"/>
          <p:cNvSpPr txBox="1"/>
          <p:nvPr/>
        </p:nvSpPr>
        <p:spPr>
          <a:xfrm>
            <a:off x="3218688" y="5212080"/>
            <a:ext cx="960120" cy="274320"/>
          </a:xfrm>
          <a:prstGeom prst="rect">
            <a:avLst/>
          </a:prstGeom>
          <a:noFill/>
          <a:ln/>
        </p:spPr>
        <p:txBody>
          <a:bodyPr wrap="square" lIns="0" tIns="0" rIns="0" bIns="0" rtlCol="0" anchor="ctr"/>
          <a:lstStyle/>
          <a:p>
            <a:pPr indent="0" marL="0">
              <a:buNone/>
            </a:pPr>
            <a:r>
              <a:rPr lang="en-US" sz="1100" b="1" dirty="0">
                <a:solidFill>
                  <a:srgbClr val="C24127"/>
                </a:solidFill>
                <a:latin typeface="Courier New" pitchFamily="34" charset="0"/>
                <a:ea typeface="Courier New" pitchFamily="34" charset="-122"/>
                <a:cs typeface="Courier New" pitchFamily="34" charset="-120"/>
              </a:rPr>
              <a:t>no</a:t>
            </a:r>
            <a:endParaRPr lang="en-US" sz="1100" dirty="0"/>
          </a:p>
        </p:txBody>
      </p:sp>
      <p:sp>
        <p:nvSpPr>
          <p:cNvPr id="41" name="Text 39"/>
          <p:cNvSpPr txBox="1"/>
          <p:nvPr/>
        </p:nvSpPr>
        <p:spPr>
          <a:xfrm>
            <a:off x="4224528" y="52120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A request error. Another provider would not make the name correct</a:t>
            </a:r>
            <a:endParaRPr lang="en-US" sz="1150" dirty="0"/>
          </a:p>
        </p:txBody>
      </p:sp>
      <p:sp>
        <p:nvSpPr>
          <p:cNvPr id="42" name="Text 40"/>
          <p:cNvSpPr txBox="1"/>
          <p:nvPr/>
        </p:nvSpPr>
        <p:spPr>
          <a:xfrm>
            <a:off x="566928" y="5669280"/>
            <a:ext cx="1783080" cy="274320"/>
          </a:xfrm>
          <a:prstGeom prst="rect">
            <a:avLst/>
          </a:prstGeom>
          <a:noFill/>
          <a:ln/>
        </p:spPr>
        <p:txBody>
          <a:bodyPr wrap="square" lIns="0" tIns="0" rIns="0" bIns="0" rtlCol="0" anchor="ctr"/>
          <a:lstStyle/>
          <a:p>
            <a:pPr indent="0" marL="0">
              <a:buNone/>
            </a:pPr>
            <a:r>
              <a:rPr lang="en-US" sz="1100" b="1" dirty="0">
                <a:solidFill>
                  <a:srgbClr val="C24127"/>
                </a:solidFill>
                <a:latin typeface="Courier New" pitchFamily="34" charset="0"/>
                <a:ea typeface="Courier New" pitchFamily="34" charset="-122"/>
                <a:cs typeface="Courier New" pitchFamily="34" charset="-120"/>
              </a:rPr>
              <a:t>unauthorized</a:t>
            </a:r>
            <a:endParaRPr lang="en-US" sz="1100" dirty="0"/>
          </a:p>
        </p:txBody>
      </p:sp>
      <p:sp>
        <p:nvSpPr>
          <p:cNvPr id="43" name="Text 41"/>
          <p:cNvSpPr txBox="1"/>
          <p:nvPr/>
        </p:nvSpPr>
        <p:spPr>
          <a:xfrm>
            <a:off x="2395728" y="5669280"/>
            <a:ext cx="777240" cy="274320"/>
          </a:xfrm>
          <a:prstGeom prst="rect">
            <a:avLst/>
          </a:prstGeom>
          <a:noFill/>
          <a:ln/>
        </p:spPr>
        <p:txBody>
          <a:bodyPr wrap="square" lIns="0" tIns="0" rIns="0" bIns="0"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502</a:t>
            </a:r>
            <a:endParaRPr lang="en-US" sz="1100" dirty="0"/>
          </a:p>
        </p:txBody>
      </p:sp>
      <p:sp>
        <p:nvSpPr>
          <p:cNvPr id="44" name="Text 42"/>
          <p:cNvSpPr txBox="1"/>
          <p:nvPr/>
        </p:nvSpPr>
        <p:spPr>
          <a:xfrm>
            <a:off x="3218688" y="5669280"/>
            <a:ext cx="960120" cy="274320"/>
          </a:xfrm>
          <a:prstGeom prst="rect">
            <a:avLst/>
          </a:prstGeom>
          <a:noFill/>
          <a:ln/>
        </p:spPr>
        <p:txBody>
          <a:bodyPr wrap="square" lIns="0" tIns="0" rIns="0" bIns="0" rtlCol="0" anchor="ctr"/>
          <a:lstStyle/>
          <a:p>
            <a:pPr indent="0" marL="0">
              <a:buNone/>
            </a:pPr>
            <a:r>
              <a:rPr lang="en-US" sz="1100" b="1" dirty="0">
                <a:solidFill>
                  <a:srgbClr val="C24127"/>
                </a:solidFill>
                <a:latin typeface="Courier New" pitchFamily="34" charset="0"/>
                <a:ea typeface="Courier New" pitchFamily="34" charset="-122"/>
                <a:cs typeface="Courier New" pitchFamily="34" charset="-120"/>
              </a:rPr>
              <a:t>no</a:t>
            </a:r>
            <a:endParaRPr lang="en-US" sz="1100" dirty="0"/>
          </a:p>
        </p:txBody>
      </p:sp>
      <p:sp>
        <p:nvSpPr>
          <p:cNvPr id="45" name="Text 43"/>
          <p:cNvSpPr txBox="1"/>
          <p:nvPr/>
        </p:nvSpPr>
        <p:spPr>
          <a:xfrm>
            <a:off x="4224528" y="5669280"/>
            <a:ext cx="7360920" cy="274320"/>
          </a:xfrm>
          <a:prstGeom prst="rect">
            <a:avLst/>
          </a:prstGeom>
          <a:noFill/>
          <a:ln/>
        </p:spPr>
        <p:txBody>
          <a:bodyPr wrap="square" lIns="0" tIns="0" rIns="0" bIns="0" rtlCol="0" anchor="ctr"/>
          <a:lstStyle/>
          <a:p>
            <a:pPr indent="0" marL="0">
              <a:buNone/>
            </a:pPr>
            <a:r>
              <a:rPr lang="en-US" sz="1150" dirty="0">
                <a:solidFill>
                  <a:srgbClr val="10151C"/>
                </a:solidFill>
                <a:latin typeface="Calibri" pitchFamily="34" charset="0"/>
                <a:ea typeface="Calibri" pitchFamily="34" charset="-122"/>
                <a:cs typeface="Calibri" pitchFamily="34" charset="-120"/>
              </a:rPr>
              <a:t>Falling back would hide a configuration fault behind a working answer</a:t>
            </a:r>
            <a:endParaRPr lang="en-US" sz="1150" dirty="0"/>
          </a:p>
        </p:txBody>
      </p:sp>
      <p:sp>
        <p:nvSpPr>
          <p:cNvPr id="46" name="Text 44"/>
          <p:cNvSpPr txBox="1"/>
          <p:nvPr/>
        </p:nvSpPr>
        <p:spPr>
          <a:xfrm>
            <a:off x="566928" y="6181344"/>
            <a:ext cx="11064240" cy="274320"/>
          </a:xfrm>
          <a:prstGeom prst="rect">
            <a:avLst/>
          </a:prstGeom>
          <a:noFill/>
          <a:ln/>
        </p:spPr>
        <p:txBody>
          <a:bodyPr wrap="square" lIns="0" tIns="0" rIns="0" bIns="0" rtlCol="0" anchor="t"/>
          <a:lstStyle/>
          <a:p>
            <a:pPr algn="l" indent="0" marL="0">
              <a:lnSpc>
                <a:spcPts val="1500"/>
              </a:lnSpc>
              <a:buNone/>
            </a:pPr>
            <a:r>
              <a:rPr lang="en-US" sz="1000" dirty="0">
                <a:solidFill>
                  <a:srgbClr val="5B6672"/>
                </a:solidFill>
                <a:latin typeface="Courier New" pitchFamily="34" charset="0"/>
                <a:ea typeface="Courier New" pitchFamily="34" charset="-122"/>
                <a:cs typeface="Courier New" pitchFamily="34" charset="-120"/>
              </a:rPr>
              <a:t>encodeFailure({code,message}) → "timeout: Request aborted after timeout."   →   decodeFailure() → {code,message};  unrecognised strings degrade to provider_error</a:t>
            </a:r>
            <a:endParaRPr lang="en-US" sz="1000" dirty="0"/>
          </a:p>
        </p:txBody>
      </p:sp>
      <p:sp>
        <p:nvSpPr>
          <p:cNvPr id="47" name="Text 45"/>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HARDWARE FIT</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A measurement of placement, taken from the runtime — not an estimate of speed</a:t>
            </a:r>
            <a:endParaRPr lang="en-US" sz="3000" dirty="0"/>
          </a:p>
        </p:txBody>
      </p:sp>
      <p:sp>
        <p:nvSpPr>
          <p:cNvPr id="4" name="Shape 2"/>
          <p:cNvSpPr/>
          <p:nvPr/>
        </p:nvSpPr>
        <p:spPr>
          <a:xfrm>
            <a:off x="566928" y="1572768"/>
            <a:ext cx="5486400" cy="2011680"/>
          </a:xfrm>
          <a:prstGeom prst="roundRect">
            <a:avLst>
              <a:gd name="adj" fmla="val 3636"/>
            </a:avLst>
          </a:prstGeom>
          <a:solidFill>
            <a:srgbClr val="F2F4F6"/>
          </a:solidFill>
          <a:ln w="12700">
            <a:solidFill>
              <a:srgbClr val="F2F4F6"/>
            </a:solidFill>
            <a:prstDash val="solid"/>
          </a:ln>
        </p:spPr>
      </p:sp>
      <p:sp>
        <p:nvSpPr>
          <p:cNvPr id="5" name="Text 3"/>
          <p:cNvSpPr txBox="1"/>
          <p:nvPr/>
        </p:nvSpPr>
        <p:spPr>
          <a:xfrm>
            <a:off x="841248" y="1773936"/>
            <a:ext cx="4937760" cy="256032"/>
          </a:xfrm>
          <a:prstGeom prst="rect">
            <a:avLst/>
          </a:prstGeom>
          <a:noFill/>
          <a:ln/>
        </p:spPr>
        <p:txBody>
          <a:bodyPr wrap="square" lIns="0" tIns="0" rIns="0" bIns="0" rtlCol="0" anchor="ctr"/>
          <a:lstStyle/>
          <a:p>
            <a:pPr indent="0" marL="0">
              <a:buNone/>
            </a:pPr>
            <a:r>
              <a:rPr lang="en-US" sz="1050" b="1" dirty="0">
                <a:solidFill>
                  <a:srgbClr val="5B6672"/>
                </a:solidFill>
                <a:latin typeface="Courier New" pitchFamily="34" charset="0"/>
                <a:ea typeface="Courier New" pitchFamily="34" charset="-122"/>
                <a:cs typeface="Courier New" pitchFamily="34" charset="-120"/>
              </a:rPr>
              <a:t>Input, read from GET /api/ps while the model is still loaded</a:t>
            </a:r>
            <a:endParaRPr lang="en-US" sz="1050" dirty="0"/>
          </a:p>
        </p:txBody>
      </p:sp>
      <p:sp>
        <p:nvSpPr>
          <p:cNvPr id="6" name="Text 4"/>
          <p:cNvSpPr txBox="1"/>
          <p:nvPr/>
        </p:nvSpPr>
        <p:spPr>
          <a:xfrm>
            <a:off x="841248" y="2121408"/>
            <a:ext cx="4937760" cy="1280160"/>
          </a:xfrm>
          <a:prstGeom prst="rect">
            <a:avLst/>
          </a:prstGeom>
          <a:noFill/>
          <a:ln/>
        </p:spPr>
        <p:txBody>
          <a:bodyPr wrap="square" lIns="0" tIns="0" rIns="0" bIns="0" rtlCol="0" anchor="t"/>
          <a:lstStyle/>
          <a:p>
            <a:pPr algn="l" indent="0" marL="0">
              <a:lnSpc>
                <a:spcPts val="1550"/>
              </a:lnSpc>
              <a:buNone/>
            </a:pPr>
            <a:r>
              <a:rPr lang="en-US" sz="1150" dirty="0">
                <a:solidFill>
                  <a:srgbClr val="0E1116"/>
                </a:solidFill>
                <a:latin typeface="Courier New" pitchFamily="34" charset="0"/>
                <a:ea typeface="Courier New" pitchFamily="34" charset="-122"/>
                <a:cs typeface="Courier New" pitchFamily="34" charset="-120"/>
              </a:rPr>
              <a:t>vramFraction = size_vram / size</a:t>
            </a:r>
            <a:endParaRPr lang="en-US" sz="1150" dirty="0"/>
          </a:p>
          <a:p>
            <a:pPr algn="l" indent="0" marL="0">
              <a:lnSpc>
                <a:spcPts val="1550"/>
              </a:lnSpc>
              <a:buNone/>
            </a:pPr>
            <a:endParaRPr lang="en-US" sz="1150" dirty="0"/>
          </a:p>
          <a:p>
            <a:pPr algn="l" indent="0" marL="0">
              <a:lnSpc>
                <a:spcPts val="1550"/>
              </a:lnSpc>
              <a:buNone/>
            </a:pPr>
            <a:r>
              <a:rPr lang="en-US" sz="1150" dirty="0">
                <a:solidFill>
                  <a:srgbClr val="0E1116"/>
                </a:solidFill>
                <a:latin typeface="Courier New" pitchFamily="34" charset="0"/>
                <a:ea typeface="Courier New" pitchFamily="34" charset="-122"/>
                <a:cs typeface="Courier New" pitchFamily="34" charset="-120"/>
              </a:rPr>
              <a:t>FITS_GPU          f ≥ 0.999    → 100</a:t>
            </a:r>
            <a:endParaRPr lang="en-US" sz="1150" dirty="0"/>
          </a:p>
          <a:p>
            <a:pPr algn="l" indent="0" marL="0">
              <a:lnSpc>
                <a:spcPts val="1550"/>
              </a:lnSpc>
              <a:buNone/>
            </a:pPr>
            <a:r>
              <a:rPr lang="en-US" sz="1150" dirty="0">
                <a:solidFill>
                  <a:srgbClr val="0E1116"/>
                </a:solidFill>
                <a:latin typeface="Courier New" pitchFamily="34" charset="0"/>
                <a:ea typeface="Courier New" pitchFamily="34" charset="-122"/>
                <a:cs typeface="Courier New" pitchFamily="34" charset="-120"/>
              </a:rPr>
              <a:t>PARTIAL_OFFLOAD   0 &lt; f &lt; 1    → 40 + 55·f</a:t>
            </a:r>
            <a:endParaRPr lang="en-US" sz="1150" dirty="0"/>
          </a:p>
          <a:p>
            <a:pPr algn="l" indent="0" marL="0">
              <a:lnSpc>
                <a:spcPts val="1550"/>
              </a:lnSpc>
              <a:buNone/>
            </a:pPr>
            <a:r>
              <a:rPr lang="en-US" sz="1150" dirty="0">
                <a:solidFill>
                  <a:srgbClr val="0E1116"/>
                </a:solidFill>
                <a:latin typeface="Courier New" pitchFamily="34" charset="0"/>
                <a:ea typeface="Courier New" pitchFamily="34" charset="-122"/>
                <a:cs typeface="Courier New" pitchFamily="34" charset="-120"/>
              </a:rPr>
              <a:t>CPU_ONLY          f = 0 | null → 50</a:t>
            </a:r>
            <a:endParaRPr lang="en-US" sz="1150" dirty="0"/>
          </a:p>
        </p:txBody>
      </p:sp>
      <p:sp>
        <p:nvSpPr>
          <p:cNvPr id="7" name="Text 5"/>
          <p:cNvSpPr txBox="1"/>
          <p:nvPr/>
        </p:nvSpPr>
        <p:spPr>
          <a:xfrm>
            <a:off x="566928" y="3712464"/>
            <a:ext cx="5486400" cy="2377440"/>
          </a:xfrm>
          <a:prstGeom prst="rect">
            <a:avLst/>
          </a:prstGeom>
          <a:noFill/>
          <a:ln/>
        </p:spPr>
        <p:txBody>
          <a:bodyPr wrap="square" lIns="0" tIns="0" rIns="0" bIns="0" rtlCol="0" anchor="t"/>
          <a:lstStyle/>
          <a:p>
            <a:pPr algn="l" indent="0" marL="0">
              <a:lnSpc>
                <a:spcPts val="1700"/>
              </a:lnSpc>
              <a:buNone/>
            </a:pPr>
            <a:r>
              <a:rPr lang="en-US" sz="1250" dirty="0">
                <a:solidFill>
                  <a:srgbClr val="10151C"/>
                </a:solidFill>
                <a:latin typeface="Calibri" pitchFamily="34" charset="0"/>
                <a:ea typeface="Calibri" pitchFamily="34" charset="-122"/>
                <a:cs typeface="Calibri" pitchFamily="34" charset="-120"/>
              </a:rPr>
              <a:t>The ratio accounts for the KV cache, for whatever else already held VRAM, and for the quantisation actually in use — none of which a static size table knows. CPU-only is capped at 50 rather than zeroed: it works, it is merely slower, and latency is already a separate component.</a:t>
            </a:r>
            <a:endParaRPr lang="en-US" sz="1250" dirty="0"/>
          </a:p>
        </p:txBody>
      </p:sp>
      <p:sp>
        <p:nvSpPr>
          <p:cNvPr id="8" name="Text 6"/>
          <p:cNvSpPr txBox="1"/>
          <p:nvPr/>
        </p:nvSpPr>
        <p:spPr>
          <a:xfrm>
            <a:off x="566928" y="4846320"/>
            <a:ext cx="5486400" cy="274320"/>
          </a:xfrm>
          <a:prstGeom prst="rect">
            <a:avLst/>
          </a:prstGeom>
          <a:noFill/>
          <a:ln/>
        </p:spPr>
        <p:txBody>
          <a:bodyPr wrap="square" lIns="0" tIns="0" rIns="0" bIns="0" rtlCol="0" anchor="t"/>
          <a:lstStyle/>
          <a:p>
            <a:pPr indent="0" marL="0">
              <a:buNone/>
            </a:pPr>
            <a:r>
              <a:rPr lang="en-US" sz="1300" b="1" dirty="0">
                <a:solidFill>
                  <a:srgbClr val="10151C"/>
                </a:solidFill>
                <a:latin typeface="Arial" pitchFamily="34" charset="0"/>
                <a:ea typeface="Arial" pitchFamily="34" charset="-122"/>
                <a:cs typeface="Arial" pitchFamily="34" charset="-120"/>
              </a:rPr>
              <a:t>Five states, two of which are not scores</a:t>
            </a:r>
            <a:endParaRPr lang="en-US" sz="1300" dirty="0"/>
          </a:p>
        </p:txBody>
      </p:sp>
      <p:sp>
        <p:nvSpPr>
          <p:cNvPr id="9" name="Shape 7"/>
          <p:cNvSpPr/>
          <p:nvPr/>
        </p:nvSpPr>
        <p:spPr>
          <a:xfrm>
            <a:off x="566928" y="5212080"/>
            <a:ext cx="1225296" cy="274320"/>
          </a:xfrm>
          <a:prstGeom prst="roundRect">
            <a:avLst>
              <a:gd name="adj" fmla="val 50000"/>
            </a:avLst>
          </a:prstGeom>
          <a:solidFill>
            <a:srgbClr val="D6F0E7"/>
          </a:solidFill>
          <a:ln w="12700">
            <a:solidFill>
              <a:srgbClr val="D6F0E7"/>
            </a:solidFill>
            <a:prstDash val="solid"/>
          </a:ln>
        </p:spPr>
      </p:sp>
      <p:sp>
        <p:nvSpPr>
          <p:cNvPr id="10" name="Text 8"/>
          <p:cNvSpPr txBox="1"/>
          <p:nvPr/>
        </p:nvSpPr>
        <p:spPr>
          <a:xfrm>
            <a:off x="566928" y="5212080"/>
            <a:ext cx="1225296"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FITS_GPU</a:t>
            </a:r>
            <a:endParaRPr lang="en-US" sz="1000" dirty="0"/>
          </a:p>
        </p:txBody>
      </p:sp>
      <p:sp>
        <p:nvSpPr>
          <p:cNvPr id="11" name="Shape 9"/>
          <p:cNvSpPr/>
          <p:nvPr/>
        </p:nvSpPr>
        <p:spPr>
          <a:xfrm>
            <a:off x="1920240" y="5212080"/>
            <a:ext cx="2057400" cy="274320"/>
          </a:xfrm>
          <a:prstGeom prst="roundRect">
            <a:avLst>
              <a:gd name="adj" fmla="val 50000"/>
            </a:avLst>
          </a:prstGeom>
          <a:solidFill>
            <a:srgbClr val="D6F0E7"/>
          </a:solidFill>
          <a:ln w="12700">
            <a:solidFill>
              <a:srgbClr val="D6F0E7"/>
            </a:solidFill>
            <a:prstDash val="solid"/>
          </a:ln>
        </p:spPr>
      </p:sp>
      <p:sp>
        <p:nvSpPr>
          <p:cNvPr id="12" name="Text 10"/>
          <p:cNvSpPr txBox="1"/>
          <p:nvPr/>
        </p:nvSpPr>
        <p:spPr>
          <a:xfrm>
            <a:off x="1920240" y="5212080"/>
            <a:ext cx="2057400"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PARTIAL_OFFLOAD</a:t>
            </a:r>
            <a:endParaRPr lang="en-US" sz="1000" dirty="0"/>
          </a:p>
        </p:txBody>
      </p:sp>
      <p:sp>
        <p:nvSpPr>
          <p:cNvPr id="13" name="Shape 11"/>
          <p:cNvSpPr/>
          <p:nvPr/>
        </p:nvSpPr>
        <p:spPr>
          <a:xfrm>
            <a:off x="4105656" y="5212080"/>
            <a:ext cx="1225296" cy="274320"/>
          </a:xfrm>
          <a:prstGeom prst="roundRect">
            <a:avLst>
              <a:gd name="adj" fmla="val 50000"/>
            </a:avLst>
          </a:prstGeom>
          <a:solidFill>
            <a:srgbClr val="D6F0E7"/>
          </a:solidFill>
          <a:ln w="12700">
            <a:solidFill>
              <a:srgbClr val="D6F0E7"/>
            </a:solidFill>
            <a:prstDash val="solid"/>
          </a:ln>
        </p:spPr>
      </p:sp>
      <p:sp>
        <p:nvSpPr>
          <p:cNvPr id="14" name="Text 12"/>
          <p:cNvSpPr txBox="1"/>
          <p:nvPr/>
        </p:nvSpPr>
        <p:spPr>
          <a:xfrm>
            <a:off x="4105656" y="5212080"/>
            <a:ext cx="1225296" cy="274320"/>
          </a:xfrm>
          <a:prstGeom prst="rect">
            <a:avLst/>
          </a:prstGeom>
          <a:noFill/>
          <a:ln/>
        </p:spPr>
        <p:txBody>
          <a:bodyPr wrap="square" lIns="0" tIns="0" rIns="0" bIns="0" rtlCol="0" anchor="ctr"/>
          <a:lstStyle/>
          <a:p>
            <a:pPr algn="ctr" indent="0" marL="0">
              <a:buNone/>
            </a:pPr>
            <a:r>
              <a:rPr lang="en-US" sz="1000" b="1" dirty="0">
                <a:solidFill>
                  <a:srgbClr val="00926B"/>
                </a:solidFill>
                <a:latin typeface="Courier New" pitchFamily="34" charset="0"/>
                <a:ea typeface="Courier New" pitchFamily="34" charset="-122"/>
                <a:cs typeface="Courier New" pitchFamily="34" charset="-120"/>
              </a:rPr>
              <a:t>CPU_ONLY</a:t>
            </a:r>
            <a:endParaRPr lang="en-US" sz="1000" dirty="0"/>
          </a:p>
        </p:txBody>
      </p:sp>
      <p:sp>
        <p:nvSpPr>
          <p:cNvPr id="15" name="Shape 13"/>
          <p:cNvSpPr/>
          <p:nvPr/>
        </p:nvSpPr>
        <p:spPr>
          <a:xfrm>
            <a:off x="566928" y="5614416"/>
            <a:ext cx="1938528" cy="274320"/>
          </a:xfrm>
          <a:prstGeom prst="roundRect">
            <a:avLst>
              <a:gd name="adj" fmla="val 50000"/>
            </a:avLst>
          </a:prstGeom>
          <a:solidFill>
            <a:srgbClr val="F8E2DC"/>
          </a:solidFill>
          <a:ln w="12700">
            <a:solidFill>
              <a:srgbClr val="F8E2DC"/>
            </a:solidFill>
            <a:prstDash val="solid"/>
          </a:ln>
        </p:spPr>
      </p:sp>
      <p:sp>
        <p:nvSpPr>
          <p:cNvPr id="16" name="Text 14"/>
          <p:cNvSpPr txBox="1"/>
          <p:nvPr/>
        </p:nvSpPr>
        <p:spPr>
          <a:xfrm>
            <a:off x="566928" y="5614416"/>
            <a:ext cx="1938528" cy="274320"/>
          </a:xfrm>
          <a:prstGeom prst="rect">
            <a:avLst/>
          </a:prstGeom>
          <a:noFill/>
          <a:ln/>
        </p:spPr>
        <p:txBody>
          <a:bodyPr wrap="square" lIns="0" tIns="0" rIns="0" bIns="0" rtlCol="0" anchor="ctr"/>
          <a:lstStyle/>
          <a:p>
            <a:pPr algn="ctr" indent="0" marL="0">
              <a:buNone/>
            </a:pPr>
            <a:r>
              <a:rPr lang="en-US" sz="1000" b="1" dirty="0">
                <a:solidFill>
                  <a:srgbClr val="C24127"/>
                </a:solidFill>
                <a:latin typeface="Courier New" pitchFamily="34" charset="0"/>
                <a:ea typeface="Courier New" pitchFamily="34" charset="-122"/>
                <a:cs typeface="Courier New" pitchFamily="34" charset="-120"/>
              </a:rPr>
              <a:t>NOT_APPLICABLE</a:t>
            </a:r>
            <a:endParaRPr lang="en-US" sz="1000" dirty="0"/>
          </a:p>
        </p:txBody>
      </p:sp>
      <p:sp>
        <p:nvSpPr>
          <p:cNvPr id="17" name="Shape 15"/>
          <p:cNvSpPr/>
          <p:nvPr/>
        </p:nvSpPr>
        <p:spPr>
          <a:xfrm>
            <a:off x="2633472" y="5614416"/>
            <a:ext cx="1700784" cy="274320"/>
          </a:xfrm>
          <a:prstGeom prst="roundRect">
            <a:avLst>
              <a:gd name="adj" fmla="val 50000"/>
            </a:avLst>
          </a:prstGeom>
          <a:solidFill>
            <a:srgbClr val="F8E2DC"/>
          </a:solidFill>
          <a:ln w="12700">
            <a:solidFill>
              <a:srgbClr val="F8E2DC"/>
            </a:solidFill>
            <a:prstDash val="solid"/>
          </a:ln>
        </p:spPr>
      </p:sp>
      <p:sp>
        <p:nvSpPr>
          <p:cNvPr id="18" name="Text 16"/>
          <p:cNvSpPr txBox="1"/>
          <p:nvPr/>
        </p:nvSpPr>
        <p:spPr>
          <a:xfrm>
            <a:off x="2633472" y="5614416"/>
            <a:ext cx="1700784" cy="274320"/>
          </a:xfrm>
          <a:prstGeom prst="rect">
            <a:avLst/>
          </a:prstGeom>
          <a:noFill/>
          <a:ln/>
        </p:spPr>
        <p:txBody>
          <a:bodyPr wrap="square" lIns="0" tIns="0" rIns="0" bIns="0" rtlCol="0" anchor="ctr"/>
          <a:lstStyle/>
          <a:p>
            <a:pPr algn="ctr" indent="0" marL="0">
              <a:buNone/>
            </a:pPr>
            <a:r>
              <a:rPr lang="en-US" sz="1000" b="1" dirty="0">
                <a:solidFill>
                  <a:srgbClr val="C24127"/>
                </a:solidFill>
                <a:latin typeface="Courier New" pitchFamily="34" charset="0"/>
                <a:ea typeface="Courier New" pitchFamily="34" charset="-122"/>
                <a:cs typeface="Courier New" pitchFamily="34" charset="-120"/>
              </a:rPr>
              <a:t>NOT_OBSERVED</a:t>
            </a:r>
            <a:endParaRPr lang="en-US" sz="1000" dirty="0"/>
          </a:p>
        </p:txBody>
      </p:sp>
      <p:sp>
        <p:nvSpPr>
          <p:cNvPr id="19" name="Text 17"/>
          <p:cNvSpPr txBox="1"/>
          <p:nvPr/>
        </p:nvSpPr>
        <p:spPr>
          <a:xfrm>
            <a:off x="566928" y="6016752"/>
            <a:ext cx="5486400" cy="457200"/>
          </a:xfrm>
          <a:prstGeom prst="rect">
            <a:avLst/>
          </a:prstGeom>
          <a:noFill/>
          <a:ln/>
        </p:spPr>
        <p:txBody>
          <a:bodyPr wrap="square" lIns="0" tIns="0" rIns="0" bIns="0" rtlCol="0" anchor="t"/>
          <a:lstStyle/>
          <a:p>
            <a:pPr indent="0" marL="0">
              <a:lnSpc>
                <a:spcPts val="1250"/>
              </a:lnSpc>
              <a:buNone/>
            </a:pPr>
            <a:r>
              <a:rPr lang="en-US" sz="1050" i="1" dirty="0">
                <a:solidFill>
                  <a:srgbClr val="5B6672"/>
                </a:solidFill>
                <a:latin typeface="Calibri" pitchFamily="34" charset="0"/>
                <a:ea typeface="Calibri" pitchFamily="34" charset="-122"/>
                <a:cs typeface="Calibri" pitchFamily="34" charset="-120"/>
              </a:rPr>
              <a:t>The last two return null rather than a placeholder — which is what makes the readiness score renormalise instead of averaging in a number nobody produced.</a:t>
            </a:r>
            <a:endParaRPr lang="en-US" sz="1050" dirty="0"/>
          </a:p>
        </p:txBody>
      </p:sp>
      <p:sp>
        <p:nvSpPr>
          <p:cNvPr id="20" name="Shape 18"/>
          <p:cNvSpPr/>
          <p:nvPr/>
        </p:nvSpPr>
        <p:spPr>
          <a:xfrm>
            <a:off x="6272784" y="1572768"/>
            <a:ext cx="5358384" cy="1389888"/>
          </a:xfrm>
          <a:prstGeom prst="roundRect">
            <a:avLst>
              <a:gd name="adj" fmla="val 5263"/>
            </a:avLst>
          </a:prstGeom>
          <a:solidFill>
            <a:srgbClr val="FFFFFF"/>
          </a:solidFill>
          <a:ln w="12700">
            <a:solidFill>
              <a:srgbClr val="E8ECEF"/>
            </a:solidFill>
            <a:prstDash val="solid"/>
          </a:ln>
        </p:spPr>
      </p:sp>
      <p:sp>
        <p:nvSpPr>
          <p:cNvPr id="21" name="Text 19"/>
          <p:cNvSpPr txBox="1"/>
          <p:nvPr/>
        </p:nvSpPr>
        <p:spPr>
          <a:xfrm>
            <a:off x="6528816" y="1719072"/>
            <a:ext cx="4846320" cy="274320"/>
          </a:xfrm>
          <a:prstGeom prst="rect">
            <a:avLst/>
          </a:prstGeom>
          <a:noFill/>
          <a:ln/>
        </p:spPr>
        <p:txBody>
          <a:bodyPr wrap="square" lIns="0" tIns="0" rIns="0" bIns="0" rtlCol="0" anchor="ctr"/>
          <a:lstStyle/>
          <a:p>
            <a:pPr indent="0" marL="0">
              <a:buNone/>
            </a:pPr>
            <a:r>
              <a:rPr lang="en-US" sz="1250" b="1" dirty="0">
                <a:solidFill>
                  <a:srgbClr val="C24127"/>
                </a:solidFill>
                <a:latin typeface="Arial" pitchFamily="34" charset="0"/>
                <a:ea typeface="Arial" pitchFamily="34" charset="-122"/>
                <a:cs typeface="Arial" pitchFamily="34" charset="-120"/>
              </a:rPr>
              <a:t>Removed: RAM headroom</a:t>
            </a:r>
            <a:endParaRPr lang="en-US" sz="1250" dirty="0"/>
          </a:p>
        </p:txBody>
      </p:sp>
      <p:sp>
        <p:nvSpPr>
          <p:cNvPr id="22" name="Text 20"/>
          <p:cNvSpPr txBox="1"/>
          <p:nvPr/>
        </p:nvSpPr>
        <p:spPr>
          <a:xfrm>
            <a:off x="6528816" y="2029968"/>
            <a:ext cx="4882896" cy="859536"/>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It came from os.totalmem() — the server’s memory, not the machine running the model — with a typed-in form value as fallback. Either the wrong computer while labelled measured, or an unverifiable self-report; either way it moved a 100-point score by 20.</a:t>
            </a:r>
            <a:endParaRPr lang="en-US" sz="1100" dirty="0"/>
          </a:p>
        </p:txBody>
      </p:sp>
      <p:sp>
        <p:nvSpPr>
          <p:cNvPr id="23" name="Shape 21"/>
          <p:cNvSpPr/>
          <p:nvPr/>
        </p:nvSpPr>
        <p:spPr>
          <a:xfrm>
            <a:off x="6272784" y="3108960"/>
            <a:ext cx="5358384" cy="1389888"/>
          </a:xfrm>
          <a:prstGeom prst="roundRect">
            <a:avLst>
              <a:gd name="adj" fmla="val 5263"/>
            </a:avLst>
          </a:prstGeom>
          <a:solidFill>
            <a:srgbClr val="FFFFFF"/>
          </a:solidFill>
          <a:ln w="12700">
            <a:solidFill>
              <a:srgbClr val="E8ECEF"/>
            </a:solidFill>
            <a:prstDash val="solid"/>
          </a:ln>
        </p:spPr>
      </p:sp>
      <p:sp>
        <p:nvSpPr>
          <p:cNvPr id="24" name="Text 22"/>
          <p:cNvSpPr txBox="1"/>
          <p:nvPr/>
        </p:nvSpPr>
        <p:spPr>
          <a:xfrm>
            <a:off x="6528816" y="3255264"/>
            <a:ext cx="4846320" cy="274320"/>
          </a:xfrm>
          <a:prstGeom prst="rect">
            <a:avLst/>
          </a:prstGeom>
          <a:noFill/>
          <a:ln/>
        </p:spPr>
        <p:txBody>
          <a:bodyPr wrap="square" lIns="0" tIns="0" rIns="0" bIns="0" rtlCol="0" anchor="ctr"/>
          <a:lstStyle/>
          <a:p>
            <a:pPr indent="0" marL="0">
              <a:buNone/>
            </a:pPr>
            <a:r>
              <a:rPr lang="en-US" sz="1250" b="1" dirty="0">
                <a:solidFill>
                  <a:srgbClr val="C24127"/>
                </a:solidFill>
                <a:latin typeface="Arial" pitchFamily="34" charset="0"/>
                <a:ea typeface="Arial" pitchFamily="34" charset="-122"/>
                <a:cs typeface="Arial" pitchFamily="34" charset="-120"/>
              </a:rPr>
              <a:t>Removed: double counting</a:t>
            </a:r>
            <a:endParaRPr lang="en-US" sz="1250" dirty="0"/>
          </a:p>
        </p:txBody>
      </p:sp>
      <p:sp>
        <p:nvSpPr>
          <p:cNvPr id="25" name="Text 23"/>
          <p:cNvSpPr txBox="1"/>
          <p:nvPr/>
        </p:nvSpPr>
        <p:spPr>
          <a:xfrm>
            <a:off x="6528816" y="3566160"/>
            <a:ext cx="4882896" cy="859536"/>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Fit scores placement, not speed. Penalising CPU execution here would punish the same slowness the latency term already measures.</a:t>
            </a:r>
            <a:endParaRPr lang="en-US" sz="1100" dirty="0"/>
          </a:p>
        </p:txBody>
      </p:sp>
      <p:sp>
        <p:nvSpPr>
          <p:cNvPr id="26" name="Shape 24"/>
          <p:cNvSpPr/>
          <p:nvPr/>
        </p:nvSpPr>
        <p:spPr>
          <a:xfrm>
            <a:off x="6272784" y="4645152"/>
            <a:ext cx="5358384" cy="1389888"/>
          </a:xfrm>
          <a:prstGeom prst="roundRect">
            <a:avLst>
              <a:gd name="adj" fmla="val 5263"/>
            </a:avLst>
          </a:prstGeom>
          <a:solidFill>
            <a:srgbClr val="FFFFFF"/>
          </a:solidFill>
          <a:ln w="12700">
            <a:solidFill>
              <a:srgbClr val="E8ECEF"/>
            </a:solidFill>
            <a:prstDash val="solid"/>
          </a:ln>
        </p:spPr>
      </p:sp>
      <p:sp>
        <p:nvSpPr>
          <p:cNvPr id="27" name="Text 25"/>
          <p:cNvSpPr txBox="1"/>
          <p:nvPr/>
        </p:nvSpPr>
        <p:spPr>
          <a:xfrm>
            <a:off x="6528816" y="4791456"/>
            <a:ext cx="4846320" cy="274320"/>
          </a:xfrm>
          <a:prstGeom prst="rect">
            <a:avLst/>
          </a:prstGeom>
          <a:noFill/>
          <a:ln/>
        </p:spPr>
        <p:txBody>
          <a:bodyPr wrap="square" lIns="0" tIns="0" rIns="0" bIns="0" rtlCol="0" anchor="ctr"/>
          <a:lstStyle/>
          <a:p>
            <a:pPr indent="0" marL="0">
              <a:buNone/>
            </a:pPr>
            <a:r>
              <a:rPr lang="en-US" sz="1250" b="1" dirty="0">
                <a:solidFill>
                  <a:srgbClr val="2B5BD7"/>
                </a:solidFill>
                <a:latin typeface="Arial" pitchFamily="34" charset="0"/>
                <a:ea typeface="Arial" pitchFamily="34" charset="-122"/>
                <a:cs typeface="Arial" pitchFamily="34" charset="-120"/>
              </a:rPr>
              <a:t>Refused: share of the card</a:t>
            </a:r>
            <a:endParaRPr lang="en-US" sz="1250" dirty="0"/>
          </a:p>
        </p:txBody>
      </p:sp>
      <p:sp>
        <p:nvSpPr>
          <p:cNvPr id="28" name="Text 26"/>
          <p:cNvSpPr txBox="1"/>
          <p:nvPr/>
        </p:nvSpPr>
        <p:spPr>
          <a:xfrm>
            <a:off x="6528816" y="5102352"/>
            <a:ext cx="4882896" cy="859536"/>
          </a:xfrm>
          <a:prstGeom prst="rect">
            <a:avLst/>
          </a:prstGeom>
          <a:noFill/>
          <a:ln/>
        </p:spPr>
        <p:txBody>
          <a:bodyPr wrap="square" lIns="0" tIns="0" rIns="0" bIns="0" rtlCol="0" anchor="ctr"/>
          <a:lstStyle/>
          <a:p>
            <a:pPr indent="0" marL="0">
              <a:lnSpc>
                <a:spcPts val="1350"/>
              </a:lnSpc>
              <a:buNone/>
            </a:pPr>
            <a:r>
              <a:rPr lang="en-US" sz="1100" dirty="0">
                <a:solidFill>
                  <a:srgbClr val="10151C"/>
                </a:solidFill>
                <a:latin typeface="Calibri" pitchFamily="34" charset="0"/>
                <a:ea typeface="Calibri" pitchFamily="34" charset="-122"/>
                <a:cs typeface="Calibri" pitchFamily="34" charset="-120"/>
              </a:rPr>
              <a:t>Ollama reports how much VRAM the model took, not how much the GPU has. "2.55 GB of VRAM" is a measurement; "32% of your GPU" would be an invention, so it is emitted as a limitation instead.</a:t>
            </a:r>
            <a:endParaRPr lang="en-US" sz="1100" dirty="0"/>
          </a:p>
        </p:txBody>
      </p:sp>
      <p:sp>
        <p:nvSpPr>
          <p:cNvPr id="29" name="Text 27"/>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READINESS</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Weights renormalise over what could be established — a missing term is not a zero</a:t>
            </a:r>
            <a:endParaRPr lang="en-US" sz="3000" dirty="0"/>
          </a:p>
        </p:txBody>
      </p:sp>
      <p:sp>
        <p:nvSpPr>
          <p:cNvPr id="4" name="Text 2"/>
          <p:cNvSpPr txBox="1"/>
          <p:nvPr/>
        </p:nvSpPr>
        <p:spPr>
          <a:xfrm>
            <a:off x="566928" y="1572768"/>
            <a:ext cx="5486400" cy="1371600"/>
          </a:xfrm>
          <a:prstGeom prst="rect">
            <a:avLst/>
          </a:prstGeom>
          <a:noFill/>
          <a:ln/>
        </p:spPr>
        <p:txBody>
          <a:bodyPr wrap="square" lIns="0" tIns="0" rIns="0" bIns="0" rtlCol="0" anchor="t"/>
          <a:lstStyle/>
          <a:p>
            <a:pPr algn="l" indent="0" marL="0">
              <a:lnSpc>
                <a:spcPts val="1700"/>
              </a:lnSpc>
              <a:buNone/>
            </a:pPr>
            <a:r>
              <a:rPr lang="en-US" sz="1250" dirty="0">
                <a:solidFill>
                  <a:srgbClr val="0E1116"/>
                </a:solidFill>
                <a:latin typeface="Courier New" pitchFamily="34" charset="0"/>
                <a:ea typeface="Courier New" pitchFamily="34" charset="-122"/>
                <a:cs typeface="Courier New" pitchFamily="34" charset="-120"/>
              </a:rPr>
              <a:t>latencyScore = max(0, 100 − latencyMs / 100)</a:t>
            </a:r>
            <a:endParaRPr lang="en-US" sz="1250" dirty="0"/>
          </a:p>
          <a:p>
            <a:pPr algn="l" indent="0" marL="0">
              <a:lnSpc>
                <a:spcPts val="1700"/>
              </a:lnSpc>
              <a:buNone/>
            </a:pPr>
            <a:r>
              <a:rPr lang="en-US" sz="1250" dirty="0">
                <a:solidFill>
                  <a:srgbClr val="0E1116"/>
                </a:solidFill>
                <a:latin typeface="Courier New" pitchFamily="34" charset="0"/>
                <a:ea typeface="Courier New" pitchFamily="34" charset="-122"/>
                <a:cs typeface="Courier New" pitchFamily="34" charset="-120"/>
              </a:rPr>
              <a:t>costScore    = max(0, 100 − usdPer1k × 1000)</a:t>
            </a:r>
            <a:endParaRPr lang="en-US" sz="1250" dirty="0"/>
          </a:p>
          <a:p>
            <a:pPr algn="l" indent="0" marL="0">
              <a:lnSpc>
                <a:spcPts val="1700"/>
              </a:lnSpc>
              <a:buNone/>
            </a:pPr>
            <a:endParaRPr lang="en-US" sz="1250" dirty="0"/>
          </a:p>
          <a:p>
            <a:pPr algn="l" indent="0" marL="0">
              <a:lnSpc>
                <a:spcPts val="1700"/>
              </a:lnSpc>
              <a:buNone/>
            </a:pPr>
            <a:r>
              <a:rPr lang="en-US" sz="1250" dirty="0">
                <a:solidFill>
                  <a:srgbClr val="0E1116"/>
                </a:solidFill>
                <a:latin typeface="Courier New" pitchFamily="34" charset="0"/>
                <a:ea typeface="Courier New" pitchFamily="34" charset="-122"/>
                <a:cs typeface="Courier New" pitchFamily="34" charset="-120"/>
              </a:rPr>
              <a:t>score = Σ(wᵢ · vᵢ) / Σ wᵢ   over vᵢ ≠ null</a:t>
            </a:r>
            <a:endParaRPr lang="en-US" sz="1250" dirty="0"/>
          </a:p>
        </p:txBody>
      </p:sp>
      <p:sp>
        <p:nvSpPr>
          <p:cNvPr id="5" name="Text 3"/>
          <p:cNvSpPr txBox="1"/>
          <p:nvPr/>
        </p:nvSpPr>
        <p:spPr>
          <a:xfrm>
            <a:off x="566928" y="3127248"/>
            <a:ext cx="5486400" cy="2651760"/>
          </a:xfrm>
          <a:prstGeom prst="rect">
            <a:avLst/>
          </a:prstGeom>
          <a:noFill/>
          <a:ln/>
        </p:spPr>
        <p:txBody>
          <a:bodyPr wrap="square" lIns="0" tIns="0" rIns="0" bIns="0" rtlCol="0" anchor="t"/>
          <a:lstStyle/>
          <a:p>
            <a:pPr algn="l" indent="0" marL="0">
              <a:lnSpc>
                <a:spcPts val="1700"/>
              </a:lnSpc>
              <a:buNone/>
            </a:pPr>
            <a:r>
              <a:rPr lang="en-US" sz="1250" dirty="0">
                <a:solidFill>
                  <a:srgbClr val="10151C"/>
                </a:solidFill>
                <a:latin typeface="Calibri" pitchFamily="34" charset="0"/>
                <a:ea typeface="Calibri" pitchFamily="34" charset="-122"/>
                <a:cs typeface="Calibri" pitchFamily="34" charset="-120"/>
              </a:rPr>
              <a:t>Declared weights are hardware 0.25, latency 0.20, cost 0.15, reliability 0.20. They deliberately do not sum to 1.0 — privacy was removed as a term — so only their proportions matter. On a cloud run hardware fit is not applicable, so it is dropped and the remaining three are renormalised over 0.55. The score therefore always means "out of the things that could be established here", and the limitations array names which those were. If nothing could be assessed, the score is 0 and says so.</a:t>
            </a:r>
            <a:endParaRPr lang="en-US" sz="1250" dirty="0"/>
          </a:p>
        </p:txBody>
      </p:sp>
      <p:sp>
        <p:nvSpPr>
          <p:cNvPr id="6" name="Shape 4"/>
          <p:cNvSpPr/>
          <p:nvPr/>
        </p:nvSpPr>
        <p:spPr>
          <a:xfrm>
            <a:off x="566928" y="4901184"/>
            <a:ext cx="5486400" cy="1170432"/>
          </a:xfrm>
          <a:prstGeom prst="roundRect">
            <a:avLst>
              <a:gd name="adj" fmla="val 6250"/>
            </a:avLst>
          </a:prstGeom>
          <a:solidFill>
            <a:srgbClr val="0E1116"/>
          </a:solidFill>
          <a:ln w="12700">
            <a:solidFill>
              <a:srgbClr val="0E1116"/>
            </a:solidFill>
            <a:prstDash val="solid"/>
          </a:ln>
        </p:spPr>
      </p:sp>
      <p:sp>
        <p:nvSpPr>
          <p:cNvPr id="7" name="Text 5"/>
          <p:cNvSpPr txBox="1"/>
          <p:nvPr/>
        </p:nvSpPr>
        <p:spPr>
          <a:xfrm>
            <a:off x="841248" y="5084064"/>
            <a:ext cx="493776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Cost is not measured — there is no cost model yet</a:t>
            </a:r>
            <a:endParaRPr lang="en-US" sz="1250" dirty="0"/>
          </a:p>
        </p:txBody>
      </p:sp>
      <p:sp>
        <p:nvSpPr>
          <p:cNvPr id="8" name="Text 6"/>
          <p:cNvSpPr txBox="1"/>
          <p:nvPr/>
        </p:nvSpPr>
        <p:spPr>
          <a:xfrm>
            <a:off x="841248" y="5376672"/>
            <a:ext cx="4974336" cy="621792"/>
          </a:xfrm>
          <a:prstGeom prst="rect">
            <a:avLst/>
          </a:prstGeom>
          <a:noFill/>
          <a:ln/>
        </p:spPr>
        <p:txBody>
          <a:bodyPr wrap="square" lIns="0" tIns="0" rIns="0" bIns="0" rtlCol="0" anchor="t"/>
          <a:lstStyle/>
          <a:p>
            <a:pPr indent="0" marL="0">
              <a:lnSpc>
                <a:spcPts val="1350"/>
              </a:lnSpc>
              <a:buNone/>
            </a:pPr>
            <a:r>
              <a:rPr lang="en-US" sz="1100" dirty="0">
                <a:solidFill>
                  <a:srgbClr val="A7B2BE"/>
                </a:solidFill>
                <a:latin typeface="Calibri" pitchFamily="34" charset="0"/>
                <a:ea typeface="Calibri" pitchFamily="34" charset="-122"/>
                <a:cs typeface="Calibri" pitchFamily="34" charset="-120"/>
              </a:rPr>
              <a:t>It is a caller-supplied parameter, defaulted to 0, and every score it enters is stored with an ASSUMPTION:-prefixed entry inside the limitations column — so a score read back months later still carries the unmeasured inputs it was computed under.</a:t>
            </a:r>
            <a:endParaRPr lang="en-US" sz="1100" dirty="0"/>
          </a:p>
        </p:txBody>
      </p:sp>
      <p:graphicFrame>
        <p:nvGraphicFramePr>
          <p:cNvPr id="9" name="Chart 0" descr=""/>
          <p:cNvGraphicFramePr/>
          <p:nvPr/>
        </p:nvGraphicFramePr>
        <p:xfrm>
          <a:off x="6272784" y="1627632"/>
          <a:ext cx="5358384" cy="41148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PRIVACY</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An ordinal class that disqualifies — never a number that averages</a:t>
            </a:r>
            <a:endParaRPr lang="en-US" sz="3000" dirty="0"/>
          </a:p>
        </p:txBody>
      </p:sp>
      <p:sp>
        <p:nvSpPr>
          <p:cNvPr id="4" name="Text 2"/>
          <p:cNvSpPr txBox="1"/>
          <p:nvPr/>
        </p:nvSpPr>
        <p:spPr>
          <a:xfrm>
            <a:off x="566928" y="1554480"/>
            <a:ext cx="11064240" cy="512064"/>
          </a:xfrm>
          <a:prstGeom prst="rect">
            <a:avLst/>
          </a:prstGeom>
          <a:noFill/>
          <a:ln/>
        </p:spPr>
        <p:txBody>
          <a:bodyPr wrap="square" lIns="0" tIns="0" rIns="0" bIns="0" rtlCol="0" anchor="t"/>
          <a:lstStyle/>
          <a:p>
            <a:pPr algn="l" indent="0" marL="0">
              <a:lnSpc>
                <a:spcPts val="1600"/>
              </a:lnSpc>
              <a:buNone/>
            </a:pPr>
            <a:r>
              <a:rPr lang="en-US" sz="1250" dirty="0">
                <a:solidFill>
                  <a:srgbClr val="5B6672"/>
                </a:solidFill>
                <a:latin typeface="Calibri" pitchFamily="34" charset="0"/>
                <a:ea typeface="Calibri" pitchFamily="34" charset="-122"/>
                <a:cs typeface="Calibri" pitchFamily="34" charset="-120"/>
              </a:rPr>
              <a:t>Privacy was a fifth weighted component mapping a label to 30/60/100. That is a category error twice: 30 versus 60 asserts an arithmetic relationship nobody can defend, and blending legal exposure with throughput lets a fast vendor average away a policy that should have ruled it out. A team that cannot let data leave the building does not want a blended 61.</a:t>
            </a:r>
            <a:endParaRPr lang="en-US" sz="1250" dirty="0"/>
          </a:p>
        </p:txBody>
      </p:sp>
      <p:sp>
        <p:nvSpPr>
          <p:cNvPr id="5" name="Shape 3"/>
          <p:cNvSpPr/>
          <p:nvPr/>
        </p:nvSpPr>
        <p:spPr>
          <a:xfrm>
            <a:off x="566928" y="2304288"/>
            <a:ext cx="6583680" cy="658368"/>
          </a:xfrm>
          <a:prstGeom prst="roundRect">
            <a:avLst>
              <a:gd name="adj" fmla="val 11111"/>
            </a:avLst>
          </a:prstGeom>
          <a:solidFill>
            <a:srgbClr val="D6F0E7"/>
          </a:solidFill>
          <a:ln w="12700">
            <a:solidFill>
              <a:srgbClr val="D6F0E7"/>
            </a:solidFill>
            <a:prstDash val="solid"/>
          </a:ln>
        </p:spPr>
      </p:sp>
      <p:sp>
        <p:nvSpPr>
          <p:cNvPr id="6" name="Text 4"/>
          <p:cNvSpPr txBox="1"/>
          <p:nvPr/>
        </p:nvSpPr>
        <p:spPr>
          <a:xfrm>
            <a:off x="786384" y="2487168"/>
            <a:ext cx="777240" cy="274320"/>
          </a:xfrm>
          <a:prstGeom prst="rect">
            <a:avLst/>
          </a:prstGeom>
          <a:noFill/>
          <a:ln/>
        </p:spPr>
        <p:txBody>
          <a:bodyPr wrap="square" lIns="0" tIns="0" rIns="0" bIns="0" rtlCol="0" anchor="ctr"/>
          <a:lstStyle/>
          <a:p>
            <a:pPr indent="0" marL="0">
              <a:buNone/>
            </a:pPr>
            <a:r>
              <a:rPr lang="en-US" sz="1050" b="1" dirty="0">
                <a:solidFill>
                  <a:srgbClr val="00926B"/>
                </a:solidFill>
                <a:latin typeface="Courier New" pitchFamily="34" charset="0"/>
                <a:ea typeface="Courier New" pitchFamily="34" charset="-122"/>
                <a:cs typeface="Courier New" pitchFamily="34" charset="-120"/>
              </a:rPr>
              <a:t>rank 0</a:t>
            </a:r>
            <a:endParaRPr lang="en-US" sz="1050" dirty="0"/>
          </a:p>
        </p:txBody>
      </p:sp>
      <p:sp>
        <p:nvSpPr>
          <p:cNvPr id="7" name="Text 5"/>
          <p:cNvSpPr txBox="1"/>
          <p:nvPr/>
        </p:nvSpPr>
        <p:spPr>
          <a:xfrm>
            <a:off x="1645920" y="2377440"/>
            <a:ext cx="3108960" cy="274320"/>
          </a:xfrm>
          <a:prstGeom prst="rect">
            <a:avLst/>
          </a:prstGeom>
          <a:noFill/>
          <a:ln/>
        </p:spPr>
        <p:txBody>
          <a:bodyPr wrap="square" lIns="0" tIns="0" rIns="0" bIns="0" rtlCol="0" anchor="ctr"/>
          <a:lstStyle/>
          <a:p>
            <a:pPr indent="0" marL="0">
              <a:buNone/>
            </a:pPr>
            <a:r>
              <a:rPr lang="en-US" sz="1200" b="1" dirty="0">
                <a:solidFill>
                  <a:srgbClr val="0E1116"/>
                </a:solidFill>
                <a:latin typeface="Courier New" pitchFamily="34" charset="0"/>
                <a:ea typeface="Courier New" pitchFamily="34" charset="-122"/>
                <a:cs typeface="Courier New" pitchFamily="34" charset="-120"/>
              </a:rPr>
              <a:t>on-device</a:t>
            </a:r>
            <a:endParaRPr lang="en-US" sz="1200" dirty="0"/>
          </a:p>
        </p:txBody>
      </p:sp>
      <p:sp>
        <p:nvSpPr>
          <p:cNvPr id="8" name="Text 6"/>
          <p:cNvSpPr txBox="1"/>
          <p:nvPr/>
        </p:nvSpPr>
        <p:spPr>
          <a:xfrm>
            <a:off x="1645920" y="2651760"/>
            <a:ext cx="5303520" cy="256032"/>
          </a:xfrm>
          <a:prstGeom prst="rect">
            <a:avLst/>
          </a:prstGeom>
          <a:noFill/>
          <a:ln/>
        </p:spPr>
        <p:txBody>
          <a:bodyPr wrap="square" lIns="0" tIns="0" rIns="0" bIns="0" rtlCol="0" anchor="ctr"/>
          <a:lstStyle/>
          <a:p>
            <a:pPr indent="0" marL="0">
              <a:buNone/>
            </a:pPr>
            <a:r>
              <a:rPr lang="en-US" sz="1100" dirty="0">
                <a:solidFill>
                  <a:srgbClr val="3C4650"/>
                </a:solidFill>
                <a:latin typeface="Calibri" pitchFamily="34" charset="0"/>
                <a:ea typeface="Calibri" pitchFamily="34" charset="-122"/>
                <a:cs typeface="Calibri" pitchFamily="34" charset="-120"/>
              </a:rPr>
              <a:t>nothing leaves the machine</a:t>
            </a:r>
            <a:endParaRPr lang="en-US" sz="1100" dirty="0"/>
          </a:p>
        </p:txBody>
      </p:sp>
      <p:sp>
        <p:nvSpPr>
          <p:cNvPr id="9" name="Shape 7"/>
          <p:cNvSpPr/>
          <p:nvPr/>
        </p:nvSpPr>
        <p:spPr>
          <a:xfrm>
            <a:off x="566928" y="3090672"/>
            <a:ext cx="6583680" cy="658368"/>
          </a:xfrm>
          <a:prstGeom prst="roundRect">
            <a:avLst>
              <a:gd name="adj" fmla="val 11111"/>
            </a:avLst>
          </a:prstGeom>
          <a:solidFill>
            <a:srgbClr val="D6F0E7"/>
          </a:solidFill>
          <a:ln w="12700">
            <a:solidFill>
              <a:srgbClr val="D6F0E7"/>
            </a:solidFill>
            <a:prstDash val="solid"/>
          </a:ln>
        </p:spPr>
      </p:sp>
      <p:sp>
        <p:nvSpPr>
          <p:cNvPr id="10" name="Text 8"/>
          <p:cNvSpPr txBox="1"/>
          <p:nvPr/>
        </p:nvSpPr>
        <p:spPr>
          <a:xfrm>
            <a:off x="786384" y="3273552"/>
            <a:ext cx="777240" cy="274320"/>
          </a:xfrm>
          <a:prstGeom prst="rect">
            <a:avLst/>
          </a:prstGeom>
          <a:noFill/>
          <a:ln/>
        </p:spPr>
        <p:txBody>
          <a:bodyPr wrap="square" lIns="0" tIns="0" rIns="0" bIns="0" rtlCol="0" anchor="ctr"/>
          <a:lstStyle/>
          <a:p>
            <a:pPr indent="0" marL="0">
              <a:buNone/>
            </a:pPr>
            <a:r>
              <a:rPr lang="en-US" sz="1050" b="1" dirty="0">
                <a:solidFill>
                  <a:srgbClr val="00926B"/>
                </a:solidFill>
                <a:latin typeface="Courier New" pitchFamily="34" charset="0"/>
                <a:ea typeface="Courier New" pitchFamily="34" charset="-122"/>
                <a:cs typeface="Courier New" pitchFamily="34" charset="-120"/>
              </a:rPr>
              <a:t>rank 1</a:t>
            </a:r>
            <a:endParaRPr lang="en-US" sz="1050" dirty="0"/>
          </a:p>
        </p:txBody>
      </p:sp>
      <p:sp>
        <p:nvSpPr>
          <p:cNvPr id="11" name="Text 9"/>
          <p:cNvSpPr txBox="1"/>
          <p:nvPr/>
        </p:nvSpPr>
        <p:spPr>
          <a:xfrm>
            <a:off x="1645920" y="3163824"/>
            <a:ext cx="3108960" cy="274320"/>
          </a:xfrm>
          <a:prstGeom prst="rect">
            <a:avLst/>
          </a:prstGeom>
          <a:noFill/>
          <a:ln/>
        </p:spPr>
        <p:txBody>
          <a:bodyPr wrap="square" lIns="0" tIns="0" rIns="0" bIns="0" rtlCol="0" anchor="ctr"/>
          <a:lstStyle/>
          <a:p>
            <a:pPr indent="0" marL="0">
              <a:buNone/>
            </a:pPr>
            <a:r>
              <a:rPr lang="en-US" sz="1200" b="1" dirty="0">
                <a:solidFill>
                  <a:srgbClr val="0E1116"/>
                </a:solidFill>
                <a:latin typeface="Courier New" pitchFamily="34" charset="0"/>
                <a:ea typeface="Courier New" pitchFamily="34" charset="-122"/>
                <a:cs typeface="Courier New" pitchFamily="34" charset="-120"/>
              </a:rPr>
              <a:t>local-network</a:t>
            </a:r>
            <a:endParaRPr lang="en-US" sz="1200" dirty="0"/>
          </a:p>
        </p:txBody>
      </p:sp>
      <p:sp>
        <p:nvSpPr>
          <p:cNvPr id="12" name="Text 10"/>
          <p:cNvSpPr txBox="1"/>
          <p:nvPr/>
        </p:nvSpPr>
        <p:spPr>
          <a:xfrm>
            <a:off x="1645920" y="3438144"/>
            <a:ext cx="5303520" cy="256032"/>
          </a:xfrm>
          <a:prstGeom prst="rect">
            <a:avLst/>
          </a:prstGeom>
          <a:noFill/>
          <a:ln/>
        </p:spPr>
        <p:txBody>
          <a:bodyPr wrap="square" lIns="0" tIns="0" rIns="0" bIns="0" rtlCol="0" anchor="ctr"/>
          <a:lstStyle/>
          <a:p>
            <a:pPr indent="0" marL="0">
              <a:buNone/>
            </a:pPr>
            <a:r>
              <a:rPr lang="en-US" sz="1100" dirty="0">
                <a:solidFill>
                  <a:srgbClr val="3C4650"/>
                </a:solidFill>
                <a:latin typeface="Calibri" pitchFamily="34" charset="0"/>
                <a:ea typeface="Calibri" pitchFamily="34" charset="-122"/>
                <a:cs typeface="Calibri" pitchFamily="34" charset="-120"/>
              </a:rPr>
              <a:t>fails: must-not-leave-this-machine</a:t>
            </a:r>
            <a:endParaRPr lang="en-US" sz="1100" dirty="0"/>
          </a:p>
        </p:txBody>
      </p:sp>
      <p:sp>
        <p:nvSpPr>
          <p:cNvPr id="13" name="Shape 11"/>
          <p:cNvSpPr/>
          <p:nvPr/>
        </p:nvSpPr>
        <p:spPr>
          <a:xfrm>
            <a:off x="566928" y="3877056"/>
            <a:ext cx="6583680" cy="658368"/>
          </a:xfrm>
          <a:prstGeom prst="roundRect">
            <a:avLst>
              <a:gd name="adj" fmla="val 11111"/>
            </a:avLst>
          </a:prstGeom>
          <a:solidFill>
            <a:srgbClr val="DCE5FA"/>
          </a:solidFill>
          <a:ln w="12700">
            <a:solidFill>
              <a:srgbClr val="DCE5FA"/>
            </a:solidFill>
            <a:prstDash val="solid"/>
          </a:ln>
        </p:spPr>
      </p:sp>
      <p:sp>
        <p:nvSpPr>
          <p:cNvPr id="14" name="Text 12"/>
          <p:cNvSpPr txBox="1"/>
          <p:nvPr/>
        </p:nvSpPr>
        <p:spPr>
          <a:xfrm>
            <a:off x="786384" y="4059936"/>
            <a:ext cx="777240" cy="274320"/>
          </a:xfrm>
          <a:prstGeom prst="rect">
            <a:avLst/>
          </a:prstGeom>
          <a:noFill/>
          <a:ln/>
        </p:spPr>
        <p:txBody>
          <a:bodyPr wrap="square" lIns="0" tIns="0" rIns="0" bIns="0" rtlCol="0" anchor="ctr"/>
          <a:lstStyle/>
          <a:p>
            <a:pPr indent="0" marL="0">
              <a:buNone/>
            </a:pPr>
            <a:r>
              <a:rPr lang="en-US" sz="1050" b="1" dirty="0">
                <a:solidFill>
                  <a:srgbClr val="2B5BD7"/>
                </a:solidFill>
                <a:latin typeface="Courier New" pitchFamily="34" charset="0"/>
                <a:ea typeface="Courier New" pitchFamily="34" charset="-122"/>
                <a:cs typeface="Courier New" pitchFamily="34" charset="-120"/>
              </a:rPr>
              <a:t>rank 2</a:t>
            </a:r>
            <a:endParaRPr lang="en-US" sz="1050" dirty="0"/>
          </a:p>
        </p:txBody>
      </p:sp>
      <p:sp>
        <p:nvSpPr>
          <p:cNvPr id="15" name="Text 13"/>
          <p:cNvSpPr txBox="1"/>
          <p:nvPr/>
        </p:nvSpPr>
        <p:spPr>
          <a:xfrm>
            <a:off x="1645920" y="3950208"/>
            <a:ext cx="3108960" cy="274320"/>
          </a:xfrm>
          <a:prstGeom prst="rect">
            <a:avLst/>
          </a:prstGeom>
          <a:noFill/>
          <a:ln/>
        </p:spPr>
        <p:txBody>
          <a:bodyPr wrap="square" lIns="0" tIns="0" rIns="0" bIns="0" rtlCol="0" anchor="ctr"/>
          <a:lstStyle/>
          <a:p>
            <a:pPr indent="0" marL="0">
              <a:buNone/>
            </a:pPr>
            <a:r>
              <a:rPr lang="en-US" sz="1200" b="1" dirty="0">
                <a:solidFill>
                  <a:srgbClr val="0E1116"/>
                </a:solidFill>
                <a:latin typeface="Courier New" pitchFamily="34" charset="0"/>
                <a:ea typeface="Courier New" pitchFamily="34" charset="-122"/>
                <a:cs typeface="Courier New" pitchFamily="34" charset="-120"/>
              </a:rPr>
              <a:t>vendor-processed</a:t>
            </a:r>
            <a:endParaRPr lang="en-US" sz="1200" dirty="0"/>
          </a:p>
        </p:txBody>
      </p:sp>
      <p:sp>
        <p:nvSpPr>
          <p:cNvPr id="16" name="Text 14"/>
          <p:cNvSpPr txBox="1"/>
          <p:nvPr/>
        </p:nvSpPr>
        <p:spPr>
          <a:xfrm>
            <a:off x="1645920" y="4224528"/>
            <a:ext cx="5303520" cy="256032"/>
          </a:xfrm>
          <a:prstGeom prst="rect">
            <a:avLst/>
          </a:prstGeom>
          <a:noFill/>
          <a:ln/>
        </p:spPr>
        <p:txBody>
          <a:bodyPr wrap="square" lIns="0" tIns="0" rIns="0" bIns="0" rtlCol="0" anchor="ctr"/>
          <a:lstStyle/>
          <a:p>
            <a:pPr indent="0" marL="0">
              <a:buNone/>
            </a:pPr>
            <a:r>
              <a:rPr lang="en-US" sz="1100" dirty="0">
                <a:solidFill>
                  <a:srgbClr val="3C4650"/>
                </a:solidFill>
                <a:latin typeface="Calibri" pitchFamily="34" charset="0"/>
                <a:ea typeface="Calibri" pitchFamily="34" charset="-122"/>
                <a:cs typeface="Calibri" pitchFamily="34" charset="-120"/>
              </a:rPr>
              <a:t>+ fails: must-not-leave-your-network</a:t>
            </a:r>
            <a:endParaRPr lang="en-US" sz="1100" dirty="0"/>
          </a:p>
        </p:txBody>
      </p:sp>
      <p:sp>
        <p:nvSpPr>
          <p:cNvPr id="17" name="Shape 15"/>
          <p:cNvSpPr/>
          <p:nvPr/>
        </p:nvSpPr>
        <p:spPr>
          <a:xfrm>
            <a:off x="566928" y="4663440"/>
            <a:ext cx="6583680" cy="658368"/>
          </a:xfrm>
          <a:prstGeom prst="roundRect">
            <a:avLst>
              <a:gd name="adj" fmla="val 11111"/>
            </a:avLst>
          </a:prstGeom>
          <a:solidFill>
            <a:srgbClr val="F8E2DC"/>
          </a:solidFill>
          <a:ln w="12700">
            <a:solidFill>
              <a:srgbClr val="F8E2DC"/>
            </a:solidFill>
            <a:prstDash val="solid"/>
          </a:ln>
        </p:spPr>
      </p:sp>
      <p:sp>
        <p:nvSpPr>
          <p:cNvPr id="18" name="Text 16"/>
          <p:cNvSpPr txBox="1"/>
          <p:nvPr/>
        </p:nvSpPr>
        <p:spPr>
          <a:xfrm>
            <a:off x="786384" y="4846320"/>
            <a:ext cx="777240" cy="274320"/>
          </a:xfrm>
          <a:prstGeom prst="rect">
            <a:avLst/>
          </a:prstGeom>
          <a:noFill/>
          <a:ln/>
        </p:spPr>
        <p:txBody>
          <a:bodyPr wrap="square" lIns="0" tIns="0" rIns="0" bIns="0" rtlCol="0" anchor="ctr"/>
          <a:lstStyle/>
          <a:p>
            <a:pPr indent="0" marL="0">
              <a:buNone/>
            </a:pPr>
            <a:r>
              <a:rPr lang="en-US" sz="1050" b="1" dirty="0">
                <a:solidFill>
                  <a:srgbClr val="C24127"/>
                </a:solidFill>
                <a:latin typeface="Courier New" pitchFamily="34" charset="0"/>
                <a:ea typeface="Courier New" pitchFamily="34" charset="-122"/>
                <a:cs typeface="Courier New" pitchFamily="34" charset="-120"/>
              </a:rPr>
              <a:t>rank 3</a:t>
            </a:r>
            <a:endParaRPr lang="en-US" sz="1050" dirty="0"/>
          </a:p>
        </p:txBody>
      </p:sp>
      <p:sp>
        <p:nvSpPr>
          <p:cNvPr id="19" name="Text 17"/>
          <p:cNvSpPr txBox="1"/>
          <p:nvPr/>
        </p:nvSpPr>
        <p:spPr>
          <a:xfrm>
            <a:off x="1645920" y="4736592"/>
            <a:ext cx="3108960" cy="274320"/>
          </a:xfrm>
          <a:prstGeom prst="rect">
            <a:avLst/>
          </a:prstGeom>
          <a:noFill/>
          <a:ln/>
        </p:spPr>
        <p:txBody>
          <a:bodyPr wrap="square" lIns="0" tIns="0" rIns="0" bIns="0" rtlCol="0" anchor="ctr"/>
          <a:lstStyle/>
          <a:p>
            <a:pPr indent="0" marL="0">
              <a:buNone/>
            </a:pPr>
            <a:r>
              <a:rPr lang="en-US" sz="1200" b="1" dirty="0">
                <a:solidFill>
                  <a:srgbClr val="0E1116"/>
                </a:solidFill>
                <a:latin typeface="Courier New" pitchFamily="34" charset="0"/>
                <a:ea typeface="Courier New" pitchFamily="34" charset="-122"/>
                <a:cs typeface="Courier New" pitchFamily="34" charset="-120"/>
              </a:rPr>
              <a:t>vendor-processed-trains-on-input</a:t>
            </a:r>
            <a:endParaRPr lang="en-US" sz="1200" dirty="0"/>
          </a:p>
        </p:txBody>
      </p:sp>
      <p:sp>
        <p:nvSpPr>
          <p:cNvPr id="20" name="Text 18"/>
          <p:cNvSpPr txBox="1"/>
          <p:nvPr/>
        </p:nvSpPr>
        <p:spPr>
          <a:xfrm>
            <a:off x="1645920" y="5010912"/>
            <a:ext cx="5303520" cy="256032"/>
          </a:xfrm>
          <a:prstGeom prst="rect">
            <a:avLst/>
          </a:prstGeom>
          <a:noFill/>
          <a:ln/>
        </p:spPr>
        <p:txBody>
          <a:bodyPr wrap="square" lIns="0" tIns="0" rIns="0" bIns="0" rtlCol="0" anchor="ctr"/>
          <a:lstStyle/>
          <a:p>
            <a:pPr indent="0" marL="0">
              <a:buNone/>
            </a:pPr>
            <a:r>
              <a:rPr lang="en-US" sz="1100" dirty="0">
                <a:solidFill>
                  <a:srgbClr val="3C4650"/>
                </a:solidFill>
                <a:latin typeface="Calibri" pitchFamily="34" charset="0"/>
                <a:ea typeface="Calibri" pitchFamily="34" charset="-122"/>
                <a:cs typeface="Calibri" pitchFamily="34" charset="-120"/>
              </a:rPr>
              <a:t>+ fails: must-not-train-third-party-models</a:t>
            </a:r>
            <a:endParaRPr lang="en-US" sz="1100" dirty="0"/>
          </a:p>
        </p:txBody>
      </p:sp>
      <p:sp>
        <p:nvSpPr>
          <p:cNvPr id="21" name="Shape 19"/>
          <p:cNvSpPr/>
          <p:nvPr/>
        </p:nvSpPr>
        <p:spPr>
          <a:xfrm>
            <a:off x="7406640" y="2304288"/>
            <a:ext cx="4224528" cy="3712464"/>
          </a:xfrm>
          <a:prstGeom prst="roundRect">
            <a:avLst>
              <a:gd name="adj" fmla="val 1970"/>
            </a:avLst>
          </a:prstGeom>
          <a:solidFill>
            <a:srgbClr val="0E1116"/>
          </a:solidFill>
          <a:ln w="12700">
            <a:solidFill>
              <a:srgbClr val="0E1116"/>
            </a:solidFill>
            <a:prstDash val="solid"/>
          </a:ln>
        </p:spPr>
      </p:sp>
      <p:sp>
        <p:nvSpPr>
          <p:cNvPr id="22" name="Text 20"/>
          <p:cNvSpPr txBox="1"/>
          <p:nvPr/>
        </p:nvSpPr>
        <p:spPr>
          <a:xfrm>
            <a:off x="7680960" y="2505456"/>
            <a:ext cx="37490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Three input kinds, never mixed</a:t>
            </a:r>
            <a:endParaRPr lang="en-US" sz="1400" dirty="0"/>
          </a:p>
        </p:txBody>
      </p:sp>
      <p:sp>
        <p:nvSpPr>
          <p:cNvPr id="23" name="Shape 21"/>
          <p:cNvSpPr/>
          <p:nvPr/>
        </p:nvSpPr>
        <p:spPr>
          <a:xfrm>
            <a:off x="7680960" y="2889504"/>
            <a:ext cx="960120" cy="274320"/>
          </a:xfrm>
          <a:prstGeom prst="roundRect">
            <a:avLst>
              <a:gd name="adj" fmla="val 50000"/>
            </a:avLst>
          </a:prstGeom>
          <a:solidFill>
            <a:srgbClr val="00926B"/>
          </a:solidFill>
          <a:ln w="12700">
            <a:solidFill>
              <a:srgbClr val="00926B"/>
            </a:solidFill>
            <a:prstDash val="solid"/>
          </a:ln>
        </p:spPr>
      </p:sp>
      <p:sp>
        <p:nvSpPr>
          <p:cNvPr id="24" name="Text 22"/>
          <p:cNvSpPr txBox="1"/>
          <p:nvPr/>
        </p:nvSpPr>
        <p:spPr>
          <a:xfrm>
            <a:off x="7680960" y="2889504"/>
            <a:ext cx="960120"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observed</a:t>
            </a:r>
            <a:endParaRPr lang="en-US" sz="1000" dirty="0"/>
          </a:p>
        </p:txBody>
      </p:sp>
      <p:sp>
        <p:nvSpPr>
          <p:cNvPr id="25" name="Text 23"/>
          <p:cNvSpPr txBox="1"/>
          <p:nvPr/>
        </p:nvSpPr>
        <p:spPr>
          <a:xfrm>
            <a:off x="7680960" y="3218688"/>
            <a:ext cx="3703320" cy="512064"/>
          </a:xfrm>
          <a:prstGeom prst="rect">
            <a:avLst/>
          </a:prstGeom>
          <a:noFill/>
          <a:ln/>
        </p:spPr>
        <p:txBody>
          <a:bodyPr wrap="square" lIns="0" tIns="0" rIns="0" bIns="0" rtlCol="0" anchor="ctr"/>
          <a:lstStyle/>
          <a:p>
            <a:pPr indent="0" marL="0">
              <a:lnSpc>
                <a:spcPts val="1250"/>
              </a:lnSpc>
              <a:buNone/>
            </a:pPr>
            <a:r>
              <a:rPr lang="en-US" sz="1050" dirty="0">
                <a:solidFill>
                  <a:srgbClr val="A7B2BE"/>
                </a:solidFill>
                <a:latin typeface="Calibri" pitchFamily="34" charset="0"/>
                <a:ea typeface="Calibri" pitchFamily="34" charset="-122"/>
                <a:cs typeface="Calibri" pitchFamily="34" charset="-120"/>
              </a:rPr>
              <a:t>where the request actually went, and whether it was encrypted — a fact about the request</a:t>
            </a:r>
            <a:endParaRPr lang="en-US" sz="1050" dirty="0"/>
          </a:p>
        </p:txBody>
      </p:sp>
      <p:sp>
        <p:nvSpPr>
          <p:cNvPr id="26" name="Shape 24"/>
          <p:cNvSpPr/>
          <p:nvPr/>
        </p:nvSpPr>
        <p:spPr>
          <a:xfrm>
            <a:off x="7680960" y="3694176"/>
            <a:ext cx="960120" cy="274320"/>
          </a:xfrm>
          <a:prstGeom prst="roundRect">
            <a:avLst>
              <a:gd name="adj" fmla="val 50000"/>
            </a:avLst>
          </a:prstGeom>
          <a:solidFill>
            <a:srgbClr val="00926B"/>
          </a:solidFill>
          <a:ln w="12700">
            <a:solidFill>
              <a:srgbClr val="00926B"/>
            </a:solidFill>
            <a:prstDash val="solid"/>
          </a:ln>
        </p:spPr>
      </p:sp>
      <p:sp>
        <p:nvSpPr>
          <p:cNvPr id="27" name="Text 25"/>
          <p:cNvSpPr txBox="1"/>
          <p:nvPr/>
        </p:nvSpPr>
        <p:spPr>
          <a:xfrm>
            <a:off x="7680960" y="3694176"/>
            <a:ext cx="960120"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cited</a:t>
            </a:r>
            <a:endParaRPr lang="en-US" sz="1000" dirty="0"/>
          </a:p>
        </p:txBody>
      </p:sp>
      <p:sp>
        <p:nvSpPr>
          <p:cNvPr id="28" name="Text 26"/>
          <p:cNvSpPr txBox="1"/>
          <p:nvPr/>
        </p:nvSpPr>
        <p:spPr>
          <a:xfrm>
            <a:off x="7680960" y="4023360"/>
            <a:ext cx="3703320" cy="512064"/>
          </a:xfrm>
          <a:prstGeom prst="rect">
            <a:avLst/>
          </a:prstGeom>
          <a:noFill/>
          <a:ln/>
        </p:spPr>
        <p:txBody>
          <a:bodyPr wrap="square" lIns="0" tIns="0" rIns="0" bIns="0" rtlCol="0" anchor="ctr"/>
          <a:lstStyle/>
          <a:p>
            <a:pPr indent="0" marL="0">
              <a:lnSpc>
                <a:spcPts val="1250"/>
              </a:lnSpc>
              <a:buNone/>
            </a:pPr>
            <a:r>
              <a:rPr lang="en-US" sz="1050" dirty="0">
                <a:solidFill>
                  <a:srgbClr val="A7B2BE"/>
                </a:solidFill>
                <a:latin typeface="Calibri" pitchFamily="34" charset="0"/>
                <a:ea typeface="Calibri" pitchFamily="34" charset="-122"/>
                <a:cs typeface="Calibri" pitchFamily="34" charset="-120"/>
              </a:rPr>
              <a:t>retention, training-on-input, human review, jurisdiction — each carrying a source URL and a date checked</a:t>
            </a:r>
            <a:endParaRPr lang="en-US" sz="1050" dirty="0"/>
          </a:p>
        </p:txBody>
      </p:sp>
      <p:sp>
        <p:nvSpPr>
          <p:cNvPr id="29" name="Shape 27"/>
          <p:cNvSpPr/>
          <p:nvPr/>
        </p:nvSpPr>
        <p:spPr>
          <a:xfrm>
            <a:off x="7680960" y="4498848"/>
            <a:ext cx="960120" cy="274320"/>
          </a:xfrm>
          <a:prstGeom prst="roundRect">
            <a:avLst>
              <a:gd name="adj" fmla="val 50000"/>
            </a:avLst>
          </a:prstGeom>
          <a:solidFill>
            <a:srgbClr val="00926B"/>
          </a:solidFill>
          <a:ln w="12700">
            <a:solidFill>
              <a:srgbClr val="00926B"/>
            </a:solidFill>
            <a:prstDash val="solid"/>
          </a:ln>
        </p:spPr>
      </p:sp>
      <p:sp>
        <p:nvSpPr>
          <p:cNvPr id="30" name="Text 28"/>
          <p:cNvSpPr txBox="1"/>
          <p:nvPr/>
        </p:nvSpPr>
        <p:spPr>
          <a:xfrm>
            <a:off x="7680960" y="4498848"/>
            <a:ext cx="960120" cy="274320"/>
          </a:xfrm>
          <a:prstGeom prst="rect">
            <a:avLst/>
          </a:prstGeom>
          <a:noFill/>
          <a:ln/>
        </p:spPr>
        <p:txBody>
          <a:bodyPr wrap="square" lIns="0" tIns="0" rIns="0" bIns="0" rtlCol="0" anchor="ctr"/>
          <a:lstStyle/>
          <a:p>
            <a:pPr algn="ctr" indent="0" marL="0">
              <a:buNone/>
            </a:pPr>
            <a:r>
              <a:rPr lang="en-US" sz="1000" b="1" dirty="0">
                <a:solidFill>
                  <a:srgbClr val="0E1116"/>
                </a:solidFill>
                <a:latin typeface="Courier New" pitchFamily="34" charset="0"/>
                <a:ea typeface="Courier New" pitchFamily="34" charset="-122"/>
                <a:cs typeface="Courier New" pitchFamily="34" charset="-120"/>
              </a:rPr>
              <a:t>declared</a:t>
            </a:r>
            <a:endParaRPr lang="en-US" sz="1000" dirty="0"/>
          </a:p>
        </p:txBody>
      </p:sp>
      <p:sp>
        <p:nvSpPr>
          <p:cNvPr id="31" name="Text 29"/>
          <p:cNvSpPr txBox="1"/>
          <p:nvPr/>
        </p:nvSpPr>
        <p:spPr>
          <a:xfrm>
            <a:off x="7680960" y="4828032"/>
            <a:ext cx="3703320" cy="512064"/>
          </a:xfrm>
          <a:prstGeom prst="rect">
            <a:avLst/>
          </a:prstGeom>
          <a:noFill/>
          <a:ln/>
        </p:spPr>
        <p:txBody>
          <a:bodyPr wrap="square" lIns="0" tIns="0" rIns="0" bIns="0" rtlCol="0" anchor="ctr"/>
          <a:lstStyle/>
          <a:p>
            <a:pPr indent="0" marL="0">
              <a:lnSpc>
                <a:spcPts val="1250"/>
              </a:lnSpc>
              <a:buNone/>
            </a:pPr>
            <a:r>
              <a:rPr lang="en-US" sz="1050" dirty="0">
                <a:solidFill>
                  <a:srgbClr val="A7B2BE"/>
                </a:solidFill>
                <a:latin typeface="Calibri" pitchFamily="34" charset="0"/>
                <a:ea typeface="Calibri" pitchFamily="34" charset="-122"/>
                <a:cs typeface="Calibri" pitchFamily="34" charset="-120"/>
              </a:rPr>
              <a:t>billing tier. No inference API reports it, and free vs paid changes the terms, so it is asked for</a:t>
            </a:r>
            <a:endParaRPr lang="en-US" sz="1050" dirty="0"/>
          </a:p>
        </p:txBody>
      </p:sp>
      <p:sp>
        <p:nvSpPr>
          <p:cNvPr id="32" name="Text 30"/>
          <p:cNvSpPr txBox="1"/>
          <p:nvPr/>
        </p:nvSpPr>
        <p:spPr>
          <a:xfrm>
            <a:off x="7680960" y="5358384"/>
            <a:ext cx="3703320" cy="420624"/>
          </a:xfrm>
          <a:prstGeom prst="rect">
            <a:avLst/>
          </a:prstGeom>
          <a:noFill/>
          <a:ln/>
        </p:spPr>
        <p:txBody>
          <a:bodyPr wrap="square" lIns="0" tIns="0" rIns="0" bIns="0" rtlCol="0" anchor="t"/>
          <a:lstStyle/>
          <a:p>
            <a:pPr indent="0" marL="0">
              <a:lnSpc>
                <a:spcPts val="1250"/>
              </a:lnSpc>
              <a:buNone/>
            </a:pPr>
            <a:r>
              <a:rPr lang="en-US" sz="1050" i="1" dirty="0">
                <a:solidFill>
                  <a:srgbClr val="00926B"/>
                </a:solidFill>
                <a:latin typeface="Calibri" pitchFamily="34" charset="0"/>
                <a:ea typeface="Calibri" pitchFamily="34" charset="-122"/>
                <a:cs typeface="Calibri" pitchFamily="34" charset="-120"/>
              </a:rPr>
              <a:t>Unverified terms yield termsVerified: false and a stated limitation — not a guess.</a:t>
            </a:r>
            <a:endParaRPr lang="en-US" sz="1050" dirty="0"/>
          </a:p>
        </p:txBody>
      </p:sp>
      <p:sp>
        <p:nvSpPr>
          <p:cNvPr id="33" name="Text 31"/>
          <p:cNvSpPr txBox="1"/>
          <p:nvPr/>
        </p:nvSpPr>
        <p:spPr>
          <a:xfrm>
            <a:off x="566928" y="5870448"/>
            <a:ext cx="6583680" cy="566928"/>
          </a:xfrm>
          <a:prstGeom prst="rect">
            <a:avLst/>
          </a:prstGeom>
          <a:noFill/>
          <a:ln/>
        </p:spPr>
        <p:txBody>
          <a:bodyPr wrap="square" lIns="0" tIns="0" rIns="0" bIns="0" rtlCol="0" anchor="t"/>
          <a:lstStyle/>
          <a:p>
            <a:pPr algn="l" indent="0" marL="0">
              <a:lnSpc>
                <a:spcPts val="1400"/>
              </a:lnSpc>
              <a:buNone/>
            </a:pPr>
            <a:r>
              <a:rPr lang="en-US" sz="1150" dirty="0">
                <a:solidFill>
                  <a:srgbClr val="5B6672"/>
                </a:solidFill>
                <a:latin typeface="Calibri" pitchFamily="34" charset="0"/>
                <a:ea typeface="Calibri" pitchFamily="34" charset="-122"/>
                <a:cs typeface="Calibri" pitchFamily="34" charset="-120"/>
              </a:rPr>
              <a:t>describeEgressWarning() runs before the request, not after: a pure, synchronous pre-flight that states what is about to leave and to whom, in the only moment where the answer is still actionable.</a:t>
            </a:r>
            <a:endParaRPr lang="en-US" sz="1150" dirty="0"/>
          </a:p>
        </p:txBody>
      </p:sp>
      <p:sp>
        <p:nvSpPr>
          <p:cNvPr id="34" name="Text 32"/>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COMPARISON</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The planner refuses comparisons before it schedules them</a:t>
            </a:r>
            <a:endParaRPr lang="en-US" sz="3000" dirty="0"/>
          </a:p>
        </p:txBody>
      </p:sp>
      <p:sp>
        <p:nvSpPr>
          <p:cNvPr id="4" name="Shape 2"/>
          <p:cNvSpPr/>
          <p:nvPr/>
        </p:nvSpPr>
        <p:spPr>
          <a:xfrm>
            <a:off x="566928" y="1572768"/>
            <a:ext cx="6858000" cy="1316736"/>
          </a:xfrm>
          <a:prstGeom prst="roundRect">
            <a:avLst>
              <a:gd name="adj" fmla="val 5556"/>
            </a:avLst>
          </a:prstGeom>
          <a:solidFill>
            <a:srgbClr val="F2F4F6"/>
          </a:solidFill>
          <a:ln w="12700">
            <a:solidFill>
              <a:srgbClr val="F2F4F6"/>
            </a:solidFill>
            <a:prstDash val="solid"/>
          </a:ln>
        </p:spPr>
      </p:sp>
      <p:sp>
        <p:nvSpPr>
          <p:cNvPr id="5" name="Text 3"/>
          <p:cNvSpPr txBox="1"/>
          <p:nvPr/>
        </p:nvSpPr>
        <p:spPr>
          <a:xfrm>
            <a:off x="841248" y="1719072"/>
            <a:ext cx="6309360" cy="274320"/>
          </a:xfrm>
          <a:prstGeom prst="rect">
            <a:avLst/>
          </a:prstGeom>
          <a:noFill/>
          <a:ln/>
        </p:spPr>
        <p:txBody>
          <a:bodyPr wrap="square" lIns="0" tIns="0" rIns="0" bIns="0" rtlCol="0" anchor="ctr"/>
          <a:lstStyle/>
          <a:p>
            <a:pPr indent="0" marL="0">
              <a:buNone/>
            </a:pPr>
            <a:r>
              <a:rPr lang="en-US" sz="1400" b="1" dirty="0">
                <a:solidFill>
                  <a:srgbClr val="C24127"/>
                </a:solidFill>
                <a:latin typeface="Arial" pitchFamily="34" charset="0"/>
                <a:ea typeface="Arial" pitchFamily="34" charset="-122"/>
                <a:cs typeface="Arial" pitchFamily="34" charset="-120"/>
              </a:rPr>
              <a:t>Duplicate entrants</a:t>
            </a:r>
            <a:endParaRPr lang="en-US" sz="1400" dirty="0"/>
          </a:p>
        </p:txBody>
      </p:sp>
      <p:sp>
        <p:nvSpPr>
          <p:cNvPr id="6" name="Text 4"/>
          <p:cNvSpPr txBox="1"/>
          <p:nvPr/>
        </p:nvSpPr>
        <p:spPr>
          <a:xfrm>
            <a:off x="841248" y="2029968"/>
            <a:ext cx="6345936" cy="786384"/>
          </a:xfrm>
          <a:prstGeom prst="rect">
            <a:avLst/>
          </a:prstGeom>
          <a:noFill/>
          <a:ln/>
        </p:spPr>
        <p:txBody>
          <a:bodyPr wrap="square" lIns="0" tIns="0" rIns="0" bIns="0" rtlCol="0" anchor="ctr"/>
          <a:lstStyle/>
          <a:p>
            <a:pPr indent="0" marL="0">
              <a:lnSpc>
                <a:spcPts val="1400"/>
              </a:lnSpc>
              <a:buNone/>
            </a:pPr>
            <a:r>
              <a:rPr lang="en-US" sz="1150" dirty="0">
                <a:solidFill>
                  <a:srgbClr val="10151C"/>
                </a:solidFill>
                <a:latin typeface="Calibri" pitchFamily="34" charset="0"/>
                <a:ea typeface="Calibri" pitchFamily="34" charset="-122"/>
                <a:cs typeface="Calibri" pitchFamily="34" charset="-120"/>
              </a:rPr>
              <a:t>Entrants are keyed provider::model and tallied into a Record. Two identical entrants collide onto one key, so the report would silently merge them and then declare a winner between a model and itself, decided by run-to-run noise.</a:t>
            </a:r>
            <a:endParaRPr lang="en-US" sz="1150" dirty="0"/>
          </a:p>
        </p:txBody>
      </p:sp>
      <p:sp>
        <p:nvSpPr>
          <p:cNvPr id="7" name="Shape 5"/>
          <p:cNvSpPr/>
          <p:nvPr/>
        </p:nvSpPr>
        <p:spPr>
          <a:xfrm>
            <a:off x="566928" y="3054096"/>
            <a:ext cx="6858000" cy="1316736"/>
          </a:xfrm>
          <a:prstGeom prst="roundRect">
            <a:avLst>
              <a:gd name="adj" fmla="val 5556"/>
            </a:avLst>
          </a:prstGeom>
          <a:solidFill>
            <a:srgbClr val="F2F4F6"/>
          </a:solidFill>
          <a:ln w="12700">
            <a:solidFill>
              <a:srgbClr val="F2F4F6"/>
            </a:solidFill>
            <a:prstDash val="solid"/>
          </a:ln>
        </p:spPr>
      </p:sp>
      <p:sp>
        <p:nvSpPr>
          <p:cNvPr id="8" name="Text 6"/>
          <p:cNvSpPr txBox="1"/>
          <p:nvPr/>
        </p:nvSpPr>
        <p:spPr>
          <a:xfrm>
            <a:off x="841248" y="3200400"/>
            <a:ext cx="6309360" cy="274320"/>
          </a:xfrm>
          <a:prstGeom prst="rect">
            <a:avLst/>
          </a:prstGeom>
          <a:noFill/>
          <a:ln/>
        </p:spPr>
        <p:txBody>
          <a:bodyPr wrap="square" lIns="0" tIns="0" rIns="0" bIns="0" rtlCol="0" anchor="ctr"/>
          <a:lstStyle/>
          <a:p>
            <a:pPr indent="0" marL="0">
              <a:buNone/>
            </a:pPr>
            <a:r>
              <a:rPr lang="en-US" sz="1400" b="1" dirty="0">
                <a:solidFill>
                  <a:srgbClr val="C24127"/>
                </a:solidFill>
                <a:latin typeface="Arial" pitchFamily="34" charset="0"/>
                <a:ea typeface="Arial" pitchFamily="34" charset="-122"/>
                <a:cs typeface="Arial" pitchFamily="34" charset="-120"/>
              </a:rPr>
              <a:t>Modality mismatch</a:t>
            </a:r>
            <a:endParaRPr lang="en-US" sz="1400" dirty="0"/>
          </a:p>
        </p:txBody>
      </p:sp>
      <p:sp>
        <p:nvSpPr>
          <p:cNvPr id="9" name="Text 7"/>
          <p:cNvSpPr txBox="1"/>
          <p:nvPr/>
        </p:nvSpPr>
        <p:spPr>
          <a:xfrm>
            <a:off x="841248" y="3511296"/>
            <a:ext cx="6345936" cy="786384"/>
          </a:xfrm>
          <a:prstGeom prst="rect">
            <a:avLst/>
          </a:prstGeom>
          <a:noFill/>
          <a:ln/>
        </p:spPr>
        <p:txBody>
          <a:bodyPr wrap="square" lIns="0" tIns="0" rIns="0" bIns="0" rtlCol="0" anchor="ctr"/>
          <a:lstStyle/>
          <a:p>
            <a:pPr indent="0" marL="0">
              <a:lnSpc>
                <a:spcPts val="1400"/>
              </a:lnSpc>
              <a:buNone/>
            </a:pPr>
            <a:r>
              <a:rPr lang="en-US" sz="1150" dirty="0">
                <a:solidFill>
                  <a:srgbClr val="10151C"/>
                </a:solidFill>
                <a:latin typeface="Calibri" pitchFamily="34" charset="0"/>
                <a:ea typeface="Calibri" pitchFamily="34" charset="-122"/>
                <a:cs typeface="Calibri" pitchFamily="34" charset="-120"/>
              </a:rPr>
              <a:t>Ollama’s families array identifies embedding (bert, nomic-bert, gte, jina-bert) and vision (multimodal projector alongside a language family) positively; text is the residual and is therefore labelled inferred, not reported. Ranking a generator against an embedding model is a category error in a benchmark’s clothing.</a:t>
            </a:r>
            <a:endParaRPr lang="en-US" sz="1150" dirty="0"/>
          </a:p>
        </p:txBody>
      </p:sp>
      <p:sp>
        <p:nvSpPr>
          <p:cNvPr id="10" name="Shape 8"/>
          <p:cNvSpPr/>
          <p:nvPr/>
        </p:nvSpPr>
        <p:spPr>
          <a:xfrm>
            <a:off x="566928" y="4535424"/>
            <a:ext cx="6858000" cy="1316736"/>
          </a:xfrm>
          <a:prstGeom prst="roundRect">
            <a:avLst>
              <a:gd name="adj" fmla="val 5556"/>
            </a:avLst>
          </a:prstGeom>
          <a:solidFill>
            <a:srgbClr val="F2F4F6"/>
          </a:solidFill>
          <a:ln w="12700">
            <a:solidFill>
              <a:srgbClr val="F2F4F6"/>
            </a:solidFill>
            <a:prstDash val="solid"/>
          </a:ln>
        </p:spPr>
      </p:sp>
      <p:sp>
        <p:nvSpPr>
          <p:cNvPr id="11" name="Text 9"/>
          <p:cNvSpPr txBox="1"/>
          <p:nvPr/>
        </p:nvSpPr>
        <p:spPr>
          <a:xfrm>
            <a:off x="841248" y="4681728"/>
            <a:ext cx="6309360" cy="274320"/>
          </a:xfrm>
          <a:prstGeom prst="rect">
            <a:avLst/>
          </a:prstGeom>
          <a:noFill/>
          <a:ln/>
        </p:spPr>
        <p:txBody>
          <a:bodyPr wrap="square" lIns="0" tIns="0" rIns="0" bIns="0" rtlCol="0" anchor="ctr"/>
          <a:lstStyle/>
          <a:p>
            <a:pPr indent="0" marL="0">
              <a:buNone/>
            </a:pPr>
            <a:r>
              <a:rPr lang="en-US" sz="1400" b="1" dirty="0">
                <a:solidFill>
                  <a:srgbClr val="2B5BD7"/>
                </a:solidFill>
                <a:latin typeface="Arial" pitchFamily="34" charset="0"/>
                <a:ea typeface="Arial" pitchFamily="34" charset="-122"/>
                <a:cs typeface="Arial" pitchFamily="34" charset="-120"/>
              </a:rPr>
              <a:t>Local concurrency</a:t>
            </a:r>
            <a:endParaRPr lang="en-US" sz="1400" dirty="0"/>
          </a:p>
        </p:txBody>
      </p:sp>
      <p:sp>
        <p:nvSpPr>
          <p:cNvPr id="12" name="Text 10"/>
          <p:cNvSpPr txBox="1"/>
          <p:nvPr/>
        </p:nvSpPr>
        <p:spPr>
          <a:xfrm>
            <a:off x="841248" y="4992624"/>
            <a:ext cx="6345936" cy="786384"/>
          </a:xfrm>
          <a:prstGeom prst="rect">
            <a:avLst/>
          </a:prstGeom>
          <a:noFill/>
          <a:ln/>
        </p:spPr>
        <p:txBody>
          <a:bodyPr wrap="square" lIns="0" tIns="0" rIns="0" bIns="0" rtlCol="0" anchor="ctr"/>
          <a:lstStyle/>
          <a:p>
            <a:pPr indent="0" marL="0">
              <a:lnSpc>
                <a:spcPts val="1400"/>
              </a:lnSpc>
              <a:buNone/>
            </a:pPr>
            <a:r>
              <a:rPr lang="en-US" sz="1150" dirty="0">
                <a:solidFill>
                  <a:srgbClr val="10151C"/>
                </a:solidFill>
                <a:latin typeface="Calibri" pitchFamily="34" charset="0"/>
                <a:ea typeface="Calibri" pitchFamily="34" charset="-122"/>
                <a:cs typeface="Calibri" pitchFamily="34" charset="-120"/>
              </a:rPr>
              <a:t>Two local entrants contend for the same GPU and system memory: the runtime may evict one for the other, they queue, and the returned latencies describe contention rather than either model — plausibly, with nothing on screen to say so. Local entrants therefore run sequentially, always, and the plan records that it did.</a:t>
            </a:r>
            <a:endParaRPr lang="en-US" sz="1150" dirty="0"/>
          </a:p>
        </p:txBody>
      </p:sp>
      <p:sp>
        <p:nvSpPr>
          <p:cNvPr id="13" name="Shape 11"/>
          <p:cNvSpPr/>
          <p:nvPr/>
        </p:nvSpPr>
        <p:spPr>
          <a:xfrm>
            <a:off x="7680960" y="1572768"/>
            <a:ext cx="3950208" cy="4425696"/>
          </a:xfrm>
          <a:prstGeom prst="roundRect">
            <a:avLst>
              <a:gd name="adj" fmla="val 1852"/>
            </a:avLst>
          </a:prstGeom>
          <a:solidFill>
            <a:srgbClr val="0E1116"/>
          </a:solidFill>
          <a:ln w="12700">
            <a:solidFill>
              <a:srgbClr val="0E1116"/>
            </a:solidFill>
            <a:prstDash val="solid"/>
          </a:ln>
        </p:spPr>
      </p:sp>
      <p:sp>
        <p:nvSpPr>
          <p:cNvPr id="14" name="Text 12"/>
          <p:cNvSpPr txBox="1"/>
          <p:nvPr/>
        </p:nvSpPr>
        <p:spPr>
          <a:xfrm>
            <a:off x="7955280" y="1773936"/>
            <a:ext cx="347472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ComparisonPlan</a:t>
            </a:r>
            <a:endParaRPr lang="en-US" sz="1500" dirty="0"/>
          </a:p>
        </p:txBody>
      </p:sp>
      <p:sp>
        <p:nvSpPr>
          <p:cNvPr id="15" name="Text 13"/>
          <p:cNvSpPr txBox="1"/>
          <p:nvPr/>
        </p:nvSpPr>
        <p:spPr>
          <a:xfrm>
            <a:off x="7955280" y="2157984"/>
            <a:ext cx="3474720" cy="2743200"/>
          </a:xfrm>
          <a:prstGeom prst="rect">
            <a:avLst/>
          </a:prstGeom>
          <a:noFill/>
          <a:ln/>
        </p:spPr>
        <p:txBody>
          <a:bodyPr wrap="square" lIns="0" tIns="0" rIns="0" bIns="0" rtlCol="0" anchor="t"/>
          <a:lstStyle/>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runnable    : boolean</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refusal     : string | null</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mode        : parallel</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            | sequential</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modeReason  : string</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modality    : Modality | null</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entrants[]  : + verdict</a:t>
            </a:r>
            <a:endParaRPr lang="en-US" sz="1100" dirty="0"/>
          </a:p>
          <a:p>
            <a:pPr algn="l" indent="0" marL="0">
              <a:lnSpc>
                <a:spcPts val="1500"/>
              </a:lnSpc>
              <a:buNone/>
            </a:pPr>
            <a:r>
              <a:rPr lang="en-US" sz="1100" dirty="0">
                <a:solidFill>
                  <a:srgbClr val="00926B"/>
                </a:solidFill>
                <a:latin typeface="Courier New" pitchFamily="34" charset="0"/>
                <a:ea typeface="Courier New" pitchFamily="34" charset="-122"/>
                <a:cs typeface="Courier New" pitchFamily="34" charset="-120"/>
              </a:rPr>
              <a:t>caveats[]   : string[]</a:t>
            </a:r>
            <a:endParaRPr lang="en-US" sz="1100" dirty="0"/>
          </a:p>
        </p:txBody>
      </p:sp>
      <p:sp>
        <p:nvSpPr>
          <p:cNvPr id="16" name="Text 14"/>
          <p:cNvSpPr txBox="1"/>
          <p:nvPr/>
        </p:nvSpPr>
        <p:spPr>
          <a:xfrm>
            <a:off x="7955280" y="5047488"/>
            <a:ext cx="3474720" cy="786384"/>
          </a:xfrm>
          <a:prstGeom prst="rect">
            <a:avLst/>
          </a:prstGeom>
          <a:noFill/>
          <a:ln/>
        </p:spPr>
        <p:txBody>
          <a:bodyPr wrap="square" lIns="0" tIns="0" rIns="0" bIns="0" rtlCol="0" anchor="ctr"/>
          <a:lstStyle/>
          <a:p>
            <a:pPr indent="0" marL="0">
              <a:lnSpc>
                <a:spcPts val="1350"/>
              </a:lnSpc>
              <a:buNone/>
            </a:pPr>
            <a:r>
              <a:rPr lang="en-US" sz="1100" i="1" dirty="0">
                <a:solidFill>
                  <a:srgbClr val="A7B2BE"/>
                </a:solidFill>
                <a:latin typeface="Calibri" pitchFamily="34" charset="0"/>
                <a:ea typeface="Calibri" pitchFamily="34" charset="-122"/>
                <a:cs typeface="Calibri" pitchFamily="34" charset="-120"/>
              </a:rPr>
              <a:t>modeReason is populated for parallel too. A run that took twice as long and is true beats one that was instant and is not.</a:t>
            </a:r>
            <a:endParaRPr lang="en-US" sz="1100" dirty="0"/>
          </a:p>
        </p:txBody>
      </p:sp>
      <p:sp>
        <p:nvSpPr>
          <p:cNvPr id="17" name="Text 15"/>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VISION WORKLOAD</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A closed-set classifier harness where the instrument is what is under test</a:t>
            </a:r>
            <a:endParaRPr lang="en-US" sz="3000" dirty="0"/>
          </a:p>
        </p:txBody>
      </p:sp>
      <p:sp>
        <p:nvSpPr>
          <p:cNvPr id="4" name="Shape 2"/>
          <p:cNvSpPr/>
          <p:nvPr/>
        </p:nvSpPr>
        <p:spPr>
          <a:xfrm>
            <a:off x="566928" y="1572768"/>
            <a:ext cx="3529584" cy="3749040"/>
          </a:xfrm>
          <a:prstGeom prst="roundRect">
            <a:avLst>
              <a:gd name="adj" fmla="val 2073"/>
            </a:avLst>
          </a:prstGeom>
          <a:solidFill>
            <a:srgbClr val="F2F4F6"/>
          </a:solidFill>
          <a:ln w="12700">
            <a:solidFill>
              <a:srgbClr val="F2F4F6"/>
            </a:solidFill>
            <a:prstDash val="solid"/>
          </a:ln>
        </p:spPr>
      </p:sp>
      <p:sp>
        <p:nvSpPr>
          <p:cNvPr id="5" name="Text 3"/>
          <p:cNvSpPr txBox="1"/>
          <p:nvPr/>
        </p:nvSpPr>
        <p:spPr>
          <a:xfrm>
            <a:off x="822960" y="1773936"/>
            <a:ext cx="3017520" cy="274320"/>
          </a:xfrm>
          <a:prstGeom prst="rect">
            <a:avLst/>
          </a:prstGeom>
          <a:noFill/>
          <a:ln/>
        </p:spPr>
        <p:txBody>
          <a:bodyPr wrap="square" lIns="0" tIns="0" rIns="0" bIns="0" rtlCol="0" anchor="ctr"/>
          <a:lstStyle/>
          <a:p>
            <a:pPr indent="0" marL="0">
              <a:buNone/>
            </a:pPr>
            <a:r>
              <a:rPr lang="en-US" sz="1400" b="1" dirty="0">
                <a:solidFill>
                  <a:srgbClr val="10151C"/>
                </a:solidFill>
                <a:latin typeface="Arial" pitchFamily="34" charset="0"/>
                <a:ea typeface="Arial" pitchFamily="34" charset="-122"/>
                <a:cs typeface="Arial" pitchFamily="34" charset="-120"/>
              </a:rPr>
              <a:t>Dataset</a:t>
            </a:r>
            <a:endParaRPr lang="en-US" sz="1400" dirty="0"/>
          </a:p>
        </p:txBody>
      </p:sp>
      <p:sp>
        <p:nvSpPr>
          <p:cNvPr id="6" name="Text 4"/>
          <p:cNvSpPr txBox="1"/>
          <p:nvPr/>
        </p:nvSpPr>
        <p:spPr>
          <a:xfrm>
            <a:off x="822960" y="2139696"/>
            <a:ext cx="3054096" cy="365760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21 deterministic synthetic PNGs, 256×256, 3 per label across 7 labels</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Generated in-repo by a deterministic rasteriser and PNG encoder — no external image, person or location</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SHA-256 per sample plus a manifest hash; evidence carries the manifest hash so two runs can be proven to have measured the same data</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Reviewed: no faces, no personal data, no EXIF/XMP/IPTC</a:t>
            </a:r>
            <a:endParaRPr lang="en-US" sz="1100" dirty="0"/>
          </a:p>
        </p:txBody>
      </p:sp>
      <p:sp>
        <p:nvSpPr>
          <p:cNvPr id="7" name="Shape 5"/>
          <p:cNvSpPr/>
          <p:nvPr/>
        </p:nvSpPr>
        <p:spPr>
          <a:xfrm>
            <a:off x="4315968" y="1572768"/>
            <a:ext cx="3529584" cy="3749040"/>
          </a:xfrm>
          <a:prstGeom prst="roundRect">
            <a:avLst>
              <a:gd name="adj" fmla="val 2073"/>
            </a:avLst>
          </a:prstGeom>
          <a:solidFill>
            <a:srgbClr val="F2F4F6"/>
          </a:solidFill>
          <a:ln w="12700">
            <a:solidFill>
              <a:srgbClr val="F2F4F6"/>
            </a:solidFill>
            <a:prstDash val="solid"/>
          </a:ln>
        </p:spPr>
      </p:sp>
      <p:sp>
        <p:nvSpPr>
          <p:cNvPr id="8" name="Text 6"/>
          <p:cNvSpPr txBox="1"/>
          <p:nvPr/>
        </p:nvSpPr>
        <p:spPr>
          <a:xfrm>
            <a:off x="4572000" y="1773936"/>
            <a:ext cx="3017520" cy="274320"/>
          </a:xfrm>
          <a:prstGeom prst="rect">
            <a:avLst/>
          </a:prstGeom>
          <a:noFill/>
          <a:ln/>
        </p:spPr>
        <p:txBody>
          <a:bodyPr wrap="square" lIns="0" tIns="0" rIns="0" bIns="0" rtlCol="0" anchor="ctr"/>
          <a:lstStyle/>
          <a:p>
            <a:pPr indent="0" marL="0">
              <a:buNone/>
            </a:pPr>
            <a:r>
              <a:rPr lang="en-US" sz="1400" b="1" dirty="0">
                <a:solidFill>
                  <a:srgbClr val="10151C"/>
                </a:solidFill>
                <a:latin typeface="Arial" pitchFamily="34" charset="0"/>
                <a:ea typeface="Arial" pitchFamily="34" charset="-122"/>
                <a:cs typeface="Arial" pitchFamily="34" charset="-120"/>
              </a:rPr>
              <a:t>Pipeline</a:t>
            </a:r>
            <a:endParaRPr lang="en-US" sz="1400" dirty="0"/>
          </a:p>
        </p:txBody>
      </p:sp>
      <p:sp>
        <p:nvSpPr>
          <p:cNvPr id="9" name="Text 7"/>
          <p:cNvSpPr txBox="1"/>
          <p:nvPr/>
        </p:nvSpPr>
        <p:spPr>
          <a:xfrm>
            <a:off x="4572000" y="2139696"/>
            <a:ext cx="3054096" cy="365760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Path resolved beneath the repo root; symlinks and traversal rejected</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10 MiB source cap, 4096 px input cap, hash verified against the manifest</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EXIF-aware orientation, resize within 512×512 without enlargement, re-encoded to PNG with metadata stripped</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Ollama /api/chat, streaming off, temperature 0, seed 42; Gemini inline PNG with a label-enum response schema</a:t>
            </a:r>
            <a:endParaRPr lang="en-US" sz="1100" dirty="0"/>
          </a:p>
          <a:p>
            <a:pPr marL="342900" indent="-342900">
              <a:lnSpc>
                <a:spcPts val="1400"/>
              </a:lnSpc>
              <a:spcAft>
                <a:spcPts val="900"/>
              </a:spcAft>
              <a:buSzPct val="100000"/>
              <a:buChar char="–"/>
            </a:pPr>
            <a:r>
              <a:rPr lang="en-US" sz="1100" dirty="0">
                <a:solidFill>
                  <a:srgbClr val="10151C"/>
                </a:solidFill>
                <a:latin typeface="Calibri" pitchFamily="34" charset="0"/>
                <a:ea typeface="Calibri" pitchFamily="34" charset="-122"/>
                <a:cs typeface="Calibri" pitchFamily="34" charset="-120"/>
              </a:rPr>
              <a:t>Samples run sequentially, order preserved, failures recorded</a:t>
            </a:r>
            <a:endParaRPr lang="en-US" sz="1100" dirty="0"/>
          </a:p>
        </p:txBody>
      </p:sp>
      <p:sp>
        <p:nvSpPr>
          <p:cNvPr id="10" name="Shape 8"/>
          <p:cNvSpPr/>
          <p:nvPr/>
        </p:nvSpPr>
        <p:spPr>
          <a:xfrm>
            <a:off x="8065008" y="1572768"/>
            <a:ext cx="3566160" cy="3749040"/>
          </a:xfrm>
          <a:prstGeom prst="roundRect">
            <a:avLst>
              <a:gd name="adj" fmla="val 2051"/>
            </a:avLst>
          </a:prstGeom>
          <a:solidFill>
            <a:srgbClr val="0E1116"/>
          </a:solidFill>
          <a:ln w="12700">
            <a:solidFill>
              <a:srgbClr val="0E1116"/>
            </a:solidFill>
            <a:prstDash val="solid"/>
          </a:ln>
        </p:spPr>
      </p:sp>
      <p:sp>
        <p:nvSpPr>
          <p:cNvPr id="11" name="Text 9"/>
          <p:cNvSpPr txBox="1"/>
          <p:nvPr/>
        </p:nvSpPr>
        <p:spPr>
          <a:xfrm>
            <a:off x="8321040" y="1773936"/>
            <a:ext cx="301752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Scoring</a:t>
            </a:r>
            <a:endParaRPr lang="en-US" sz="1400" dirty="0"/>
          </a:p>
        </p:txBody>
      </p:sp>
      <p:sp>
        <p:nvSpPr>
          <p:cNvPr id="12" name="Text 10"/>
          <p:cNvSpPr txBox="1"/>
          <p:nvPr/>
        </p:nvSpPr>
        <p:spPr>
          <a:xfrm>
            <a:off x="8321040" y="2139696"/>
            <a:ext cx="3072384" cy="1371600"/>
          </a:xfrm>
          <a:prstGeom prst="rect">
            <a:avLst/>
          </a:prstGeom>
          <a:noFill/>
          <a:ln/>
        </p:spPr>
        <p:txBody>
          <a:bodyPr wrap="square" lIns="0" tIns="0" rIns="0" bIns="0" rtlCol="0" anchor="t"/>
          <a:lstStyle/>
          <a:p>
            <a:pPr algn="l" indent="0" marL="0">
              <a:lnSpc>
                <a:spcPts val="1350"/>
              </a:lnSpc>
              <a:buNone/>
            </a:pPr>
            <a:r>
              <a:rPr lang="en-US" sz="1100" dirty="0">
                <a:solidFill>
                  <a:srgbClr val="A7B2BE"/>
                </a:solidFill>
                <a:latin typeface="Calibri" pitchFamily="34" charset="0"/>
                <a:ea typeface="Calibri" pitchFamily="34" charset="-122"/>
                <a:cs typeface="Calibri" pitchFamily="34" charset="-120"/>
              </a:rPr>
              <a:t>The complete normalised response must map to exactly one permitted label. "This image shows a hard hat" is an invalid output, not a correct answer — the model failed the instruction, and that is the signal.</a:t>
            </a:r>
            <a:endParaRPr lang="en-US" sz="1100" dirty="0"/>
          </a:p>
        </p:txBody>
      </p:sp>
      <p:sp>
        <p:nvSpPr>
          <p:cNvPr id="13" name="Text 11"/>
          <p:cNvSpPr txBox="1"/>
          <p:nvPr/>
        </p:nvSpPr>
        <p:spPr>
          <a:xfrm>
            <a:off x="8321040" y="3054096"/>
            <a:ext cx="3072384" cy="1097280"/>
          </a:xfrm>
          <a:prstGeom prst="rect">
            <a:avLst/>
          </a:prstGeom>
          <a:noFill/>
          <a:ln/>
        </p:spPr>
        <p:txBody>
          <a:bodyPr wrap="square" lIns="0" tIns="0" rIns="0" bIns="0" rtlCol="0" anchor="t"/>
          <a:lstStyle/>
          <a:p>
            <a:pPr algn="l" indent="0" marL="0">
              <a:lnSpc>
                <a:spcPts val="1400"/>
              </a:lnSpc>
              <a:buNone/>
            </a:pPr>
            <a:r>
              <a:rPr lang="en-US" sz="1050" dirty="0">
                <a:solidFill>
                  <a:srgbClr val="00926B"/>
                </a:solidFill>
                <a:latin typeface="Courier New" pitchFamily="34" charset="0"/>
                <a:ea typeface="Courier New" pitchFamily="34" charset="-122"/>
                <a:cs typeface="Courier New" pitchFamily="34" charset="-120"/>
              </a:rPr>
              <a:t>exact-match accuracy</a:t>
            </a:r>
            <a:endParaRPr lang="en-US" sz="1050" dirty="0"/>
          </a:p>
          <a:p>
            <a:pPr algn="l" indent="0" marL="0">
              <a:lnSpc>
                <a:spcPts val="1400"/>
              </a:lnSpc>
              <a:buNone/>
            </a:pPr>
            <a:r>
              <a:rPr lang="en-US" sz="1050" dirty="0">
                <a:solidFill>
                  <a:srgbClr val="00926B"/>
                </a:solidFill>
                <a:latin typeface="Courier New" pitchFamily="34" charset="0"/>
                <a:ea typeface="Courier New" pitchFamily="34" charset="-122"/>
                <a:cs typeface="Courier New" pitchFamily="34" charset="-120"/>
              </a:rPr>
              <a:t>macro P / R / F1 + per class</a:t>
            </a:r>
            <a:endParaRPr lang="en-US" sz="1050" dirty="0"/>
          </a:p>
          <a:p>
            <a:pPr algn="l" indent="0" marL="0">
              <a:lnSpc>
                <a:spcPts val="1400"/>
              </a:lnSpc>
              <a:buNone/>
            </a:pPr>
            <a:r>
              <a:rPr lang="en-US" sz="1050" dirty="0">
                <a:solidFill>
                  <a:srgbClr val="00926B"/>
                </a:solidFill>
                <a:latin typeface="Courier New" pitchFamily="34" charset="0"/>
                <a:ea typeface="Courier New" pitchFamily="34" charset="-122"/>
                <a:cs typeface="Courier New" pitchFamily="34" charset="-120"/>
              </a:rPr>
              <a:t>invalid-output rate</a:t>
            </a:r>
            <a:endParaRPr lang="en-US" sz="1050" dirty="0"/>
          </a:p>
          <a:p>
            <a:pPr algn="l" indent="0" marL="0">
              <a:lnSpc>
                <a:spcPts val="1400"/>
              </a:lnSpc>
              <a:buNone/>
            </a:pPr>
            <a:r>
              <a:rPr lang="en-US" sz="1050" dirty="0">
                <a:solidFill>
                  <a:srgbClr val="00926B"/>
                </a:solidFill>
                <a:latin typeface="Courier New" pitchFamily="34" charset="0"/>
                <a:ea typeface="Courier New" pitchFamily="34" charset="-122"/>
                <a:cs typeface="Courier New" pitchFamily="34" charset="-120"/>
              </a:rPr>
              <a:t>P95 latency, nearest rank</a:t>
            </a:r>
            <a:endParaRPr lang="en-US" sz="1050" dirty="0"/>
          </a:p>
          <a:p>
            <a:pPr algn="l" indent="0" marL="0">
              <a:lnSpc>
                <a:spcPts val="1400"/>
              </a:lnSpc>
              <a:buNone/>
            </a:pPr>
            <a:r>
              <a:rPr lang="en-US" sz="1050" dirty="0">
                <a:solidFill>
                  <a:srgbClr val="00926B"/>
                </a:solidFill>
                <a:latin typeface="Courier New" pitchFamily="34" charset="0"/>
                <a:ea typeface="Courier New" pitchFamily="34" charset="-122"/>
                <a:cs typeface="Courier New" pitchFamily="34" charset="-120"/>
              </a:rPr>
              <a:t>throughput, samples/s</a:t>
            </a:r>
            <a:endParaRPr lang="en-US" sz="1050" dirty="0"/>
          </a:p>
        </p:txBody>
      </p:sp>
      <p:sp>
        <p:nvSpPr>
          <p:cNvPr id="14" name="Text 12"/>
          <p:cNvSpPr txBox="1"/>
          <p:nvPr/>
        </p:nvSpPr>
        <p:spPr>
          <a:xfrm>
            <a:off x="8321040" y="4315968"/>
            <a:ext cx="3072384" cy="822960"/>
          </a:xfrm>
          <a:prstGeom prst="rect">
            <a:avLst/>
          </a:prstGeom>
          <a:noFill/>
          <a:ln/>
        </p:spPr>
        <p:txBody>
          <a:bodyPr wrap="square" lIns="0" tIns="0" rIns="0" bIns="0" rtlCol="0" anchor="t"/>
          <a:lstStyle/>
          <a:p>
            <a:pPr indent="0" marL="0">
              <a:lnSpc>
                <a:spcPts val="1300"/>
              </a:lnSpc>
              <a:buNone/>
            </a:pPr>
            <a:r>
              <a:rPr lang="en-US" sz="1050" dirty="0">
                <a:solidFill>
                  <a:srgbClr val="A7B2BE"/>
                </a:solidFill>
                <a:latin typeface="Calibri" pitchFamily="34" charset="0"/>
                <a:ea typeface="Calibri" pitchFamily="34" charset="-122"/>
                <a:cs typeface="Calibri" pitchFamily="34" charset="-120"/>
              </a:rPr>
              <a:t>Macro averages run over the dataset’s declared labels with ground-truth support, not merely the ones the model predicted — a class it never emitted still enters the matrix at zero recall.</a:t>
            </a:r>
            <a:endParaRPr lang="en-US" sz="1050" dirty="0"/>
          </a:p>
        </p:txBody>
      </p:sp>
      <p:sp>
        <p:nvSpPr>
          <p:cNvPr id="15" name="Text 13"/>
          <p:cNvSpPr txBox="1"/>
          <p:nvPr/>
        </p:nvSpPr>
        <p:spPr>
          <a:xfrm>
            <a:off x="566928" y="5614416"/>
            <a:ext cx="11064240" cy="640080"/>
          </a:xfrm>
          <a:prstGeom prst="rect">
            <a:avLst/>
          </a:prstGeom>
          <a:noFill/>
          <a:ln/>
        </p:spPr>
        <p:txBody>
          <a:bodyPr wrap="square" lIns="0" tIns="0" rIns="0" bIns="0" rtlCol="0" anchor="t"/>
          <a:lstStyle/>
          <a:p>
            <a:pPr indent="0" marL="0">
              <a:lnSpc>
                <a:spcPts val="1400"/>
              </a:lnSpc>
              <a:buNone/>
            </a:pPr>
            <a:r>
              <a:rPr lang="en-US" sz="1150" dirty="0">
                <a:solidFill>
                  <a:srgbClr val="5B6672"/>
                </a:solidFill>
                <a:latin typeface="Calibri" pitchFamily="34" charset="0"/>
                <a:ea typeface="Calibri" pitchFamily="34" charset="-122"/>
                <a:cs typeface="Calibri" pitchFamily="34" charset="-120"/>
              </a:rPr>
              <a:t>The dataset validates the harness; it does not validate a model. It is clean synthetic icons with one centred component — no occlusion, no clutter, no domain shift — and the dataset card says in its own text that it cannot support production accuracy claims or construction-site safety decisions.</a:t>
            </a:r>
            <a:endParaRPr lang="en-US" sz="1150" dirty="0"/>
          </a:p>
        </p:txBody>
      </p:sp>
      <p:sp>
        <p:nvSpPr>
          <p:cNvPr id="16" name="Text 14"/>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EVIDENCE</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000" b="1" dirty="0">
                <a:solidFill>
                  <a:srgbClr val="10151C"/>
                </a:solidFill>
                <a:latin typeface="Arial" pitchFamily="34" charset="0"/>
                <a:ea typeface="Arial" pitchFamily="34" charset="-122"/>
                <a:cs typeface="Arial" pitchFamily="34" charset="-120"/>
              </a:rPr>
              <a:t>The committed live run fails its own thresholds, and says so</a:t>
            </a:r>
            <a:endParaRPr lang="en-US" sz="3000" dirty="0"/>
          </a:p>
        </p:txBody>
      </p:sp>
      <p:sp>
        <p:nvSpPr>
          <p:cNvPr id="4" name="Text 2"/>
          <p:cNvSpPr txBox="1"/>
          <p:nvPr/>
        </p:nvSpPr>
        <p:spPr>
          <a:xfrm>
            <a:off x="566928" y="1572768"/>
            <a:ext cx="6858000" cy="274320"/>
          </a:xfrm>
          <a:prstGeom prst="rect">
            <a:avLst/>
          </a:prstGeom>
          <a:noFill/>
          <a:ln/>
        </p:spPr>
        <p:txBody>
          <a:bodyPr wrap="square" lIns="0" tIns="0" rIns="0" bIns="0" rtlCol="0" anchor="ctr"/>
          <a:lstStyle/>
          <a:p>
            <a:pPr indent="0" marL="0">
              <a:buNone/>
            </a:pPr>
            <a:r>
              <a:rPr lang="en-US" sz="1050" dirty="0">
                <a:solidFill>
                  <a:srgbClr val="5B6672"/>
                </a:solidFill>
                <a:latin typeface="Courier New" pitchFamily="34" charset="0"/>
                <a:ea typeface="Courier New" pitchFamily="34" charset="-122"/>
                <a:cs typeface="Courier New" pitchFamily="34" charset="-120"/>
              </a:rPr>
              <a:t>llava:latest · ollama · local · 21 samples · 11.9 s wall · commit b13af6e</a:t>
            </a:r>
            <a:endParaRPr lang="en-US" sz="1050" dirty="0"/>
          </a:p>
        </p:txBody>
      </p:sp>
      <p:sp>
        <p:nvSpPr>
          <p:cNvPr id="5" name="Text 3"/>
          <p:cNvSpPr txBox="1"/>
          <p:nvPr/>
        </p:nvSpPr>
        <p:spPr>
          <a:xfrm>
            <a:off x="566928" y="1993392"/>
            <a:ext cx="237744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metric</a:t>
            </a:r>
            <a:endParaRPr lang="en-US" sz="1000" dirty="0"/>
          </a:p>
        </p:txBody>
      </p:sp>
      <p:sp>
        <p:nvSpPr>
          <p:cNvPr id="6" name="Text 4"/>
          <p:cNvSpPr txBox="1"/>
          <p:nvPr/>
        </p:nvSpPr>
        <p:spPr>
          <a:xfrm>
            <a:off x="3291840" y="1993392"/>
            <a:ext cx="237744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observed</a:t>
            </a:r>
            <a:endParaRPr lang="en-US" sz="1000" dirty="0"/>
          </a:p>
        </p:txBody>
      </p:sp>
      <p:sp>
        <p:nvSpPr>
          <p:cNvPr id="7" name="Text 5"/>
          <p:cNvSpPr txBox="1"/>
          <p:nvPr/>
        </p:nvSpPr>
        <p:spPr>
          <a:xfrm>
            <a:off x="4480560" y="1993392"/>
            <a:ext cx="2377440" cy="237744"/>
          </a:xfrm>
          <a:prstGeom prst="rect">
            <a:avLst/>
          </a:prstGeom>
          <a:noFill/>
          <a:ln/>
        </p:spPr>
        <p:txBody>
          <a:bodyPr wrap="square" lIns="0" tIns="0" rIns="0" bIns="0" rtlCol="0" anchor="ctr"/>
          <a:lstStyle/>
          <a:p>
            <a:pPr indent="0" marL="0">
              <a:buNone/>
            </a:pPr>
            <a:r>
              <a:rPr lang="en-US" sz="1000" b="1" spc="100" kern="0" dirty="0">
                <a:solidFill>
                  <a:srgbClr val="5B6672"/>
                </a:solidFill>
                <a:latin typeface="Courier New" pitchFamily="34" charset="0"/>
                <a:ea typeface="Courier New" pitchFamily="34" charset="-122"/>
                <a:cs typeface="Courier New" pitchFamily="34" charset="-120"/>
              </a:rPr>
              <a:t>threshold</a:t>
            </a:r>
            <a:endParaRPr lang="en-US" sz="1000" dirty="0"/>
          </a:p>
        </p:txBody>
      </p:sp>
      <p:sp>
        <p:nvSpPr>
          <p:cNvPr id="8" name="Text 6"/>
          <p:cNvSpPr txBox="1"/>
          <p:nvPr/>
        </p:nvSpPr>
        <p:spPr>
          <a:xfrm>
            <a:off x="5760720" y="1993392"/>
            <a:ext cx="2377440" cy="237744"/>
          </a:xfrm>
          <a:prstGeom prst="rect">
            <a:avLst/>
          </a:prstGeom>
          <a:noFill/>
          <a:ln/>
        </p:spPr>
        <p:txBody>
          <a:bodyPr wrap="square" lIns="0" tIns="0" rIns="0" bIns="0" rtlCol="0" anchor="ctr"/>
          <a:lstStyle/>
          <a:p>
            <a:pPr indent="0" marL="0">
              <a:buNone/>
            </a:pPr>
            <a:endParaRPr lang="en-US" sz="1000" dirty="0"/>
          </a:p>
        </p:txBody>
      </p:sp>
      <p:sp>
        <p:nvSpPr>
          <p:cNvPr id="9" name="Shape 7"/>
          <p:cNvSpPr/>
          <p:nvPr/>
        </p:nvSpPr>
        <p:spPr>
          <a:xfrm>
            <a:off x="502920" y="2267712"/>
            <a:ext cx="6949440" cy="493776"/>
          </a:xfrm>
          <a:prstGeom prst="roundRect">
            <a:avLst>
              <a:gd name="adj" fmla="val 11111"/>
            </a:avLst>
          </a:prstGeom>
          <a:solidFill>
            <a:srgbClr val="FDF6F4"/>
          </a:solidFill>
          <a:ln w="12700">
            <a:solidFill>
              <a:srgbClr val="F5E3DD"/>
            </a:solidFill>
            <a:prstDash val="solid"/>
          </a:ln>
        </p:spPr>
      </p:sp>
      <p:sp>
        <p:nvSpPr>
          <p:cNvPr id="10" name="Text 8"/>
          <p:cNvSpPr txBox="1"/>
          <p:nvPr/>
        </p:nvSpPr>
        <p:spPr>
          <a:xfrm>
            <a:off x="731520" y="2322576"/>
            <a:ext cx="2651760" cy="274320"/>
          </a:xfrm>
          <a:prstGeom prst="rect">
            <a:avLst/>
          </a:prstGeom>
          <a:noFill/>
          <a:ln/>
        </p:spPr>
        <p:txBody>
          <a:bodyPr wrap="square" lIns="0" tIns="0" rIns="0" bIns="0" rtlCol="0" anchor="ctr"/>
          <a:lstStyle/>
          <a:p>
            <a:pPr indent="0" marL="0">
              <a:buNone/>
            </a:pPr>
            <a:r>
              <a:rPr lang="en-US" sz="1150" dirty="0">
                <a:solidFill>
                  <a:srgbClr val="0E1116"/>
                </a:solidFill>
                <a:latin typeface="Courier New" pitchFamily="34" charset="0"/>
                <a:ea typeface="Courier New" pitchFamily="34" charset="-122"/>
                <a:cs typeface="Courier New" pitchFamily="34" charset="-120"/>
              </a:rPr>
              <a:t>exactMatchAccuracy</a:t>
            </a:r>
            <a:endParaRPr lang="en-US" sz="1150" dirty="0"/>
          </a:p>
        </p:txBody>
      </p:sp>
      <p:sp>
        <p:nvSpPr>
          <p:cNvPr id="11" name="Text 9"/>
          <p:cNvSpPr txBox="1"/>
          <p:nvPr/>
        </p:nvSpPr>
        <p:spPr>
          <a:xfrm>
            <a:off x="3291840" y="2322576"/>
            <a:ext cx="1097280" cy="274320"/>
          </a:xfrm>
          <a:prstGeom prst="rect">
            <a:avLst/>
          </a:prstGeom>
          <a:noFill/>
          <a:ln/>
        </p:spPr>
        <p:txBody>
          <a:bodyPr wrap="square" lIns="0" tIns="0" rIns="0" bIns="0" rtlCol="0" anchor="ctr"/>
          <a:lstStyle/>
          <a:p>
            <a:pPr indent="0" marL="0">
              <a:buNone/>
            </a:pPr>
            <a:r>
              <a:rPr lang="en-US" sz="1150" b="1" dirty="0">
                <a:solidFill>
                  <a:srgbClr val="C24127"/>
                </a:solidFill>
                <a:latin typeface="Courier New" pitchFamily="34" charset="0"/>
                <a:ea typeface="Courier New" pitchFamily="34" charset="-122"/>
                <a:cs typeface="Courier New" pitchFamily="34" charset="-120"/>
              </a:rPr>
              <a:t>0.667</a:t>
            </a:r>
            <a:endParaRPr lang="en-US" sz="1150" dirty="0"/>
          </a:p>
        </p:txBody>
      </p:sp>
      <p:sp>
        <p:nvSpPr>
          <p:cNvPr id="12" name="Text 10"/>
          <p:cNvSpPr txBox="1"/>
          <p:nvPr/>
        </p:nvSpPr>
        <p:spPr>
          <a:xfrm>
            <a:off x="4480560" y="2322576"/>
            <a:ext cx="1097280" cy="274320"/>
          </a:xfrm>
          <a:prstGeom prst="rect">
            <a:avLst/>
          </a:prstGeom>
          <a:noFill/>
          <a:ln/>
        </p:spPr>
        <p:txBody>
          <a:bodyPr wrap="square" lIns="0" tIns="0" rIns="0" bIns="0" rtlCol="0" anchor="ctr"/>
          <a:lstStyle/>
          <a:p>
            <a:pPr indent="0" marL="0">
              <a:buNone/>
            </a:pPr>
            <a:r>
              <a:rPr lang="en-US" sz="1150" dirty="0">
                <a:solidFill>
                  <a:srgbClr val="5B6672"/>
                </a:solidFill>
                <a:latin typeface="Courier New" pitchFamily="34" charset="0"/>
                <a:ea typeface="Courier New" pitchFamily="34" charset="-122"/>
                <a:cs typeface="Courier New" pitchFamily="34" charset="-120"/>
              </a:rPr>
              <a:t>≥ 0.80</a:t>
            </a:r>
            <a:endParaRPr lang="en-US" sz="1150" dirty="0"/>
          </a:p>
        </p:txBody>
      </p:sp>
      <p:sp>
        <p:nvSpPr>
          <p:cNvPr id="13" name="Text 11"/>
          <p:cNvSpPr txBox="1"/>
          <p:nvPr/>
        </p:nvSpPr>
        <p:spPr>
          <a:xfrm>
            <a:off x="5760720" y="2322576"/>
            <a:ext cx="1371600" cy="274320"/>
          </a:xfrm>
          <a:prstGeom prst="rect">
            <a:avLst/>
          </a:prstGeom>
          <a:noFill/>
          <a:ln/>
        </p:spPr>
        <p:txBody>
          <a:bodyPr wrap="square" lIns="0" tIns="0" rIns="0" bIns="0" rtlCol="0" anchor="ctr"/>
          <a:lstStyle/>
          <a:p>
            <a:pPr indent="0" marL="0">
              <a:buNone/>
            </a:pPr>
            <a:r>
              <a:rPr lang="en-US" sz="1150" b="1" dirty="0">
                <a:solidFill>
                  <a:srgbClr val="C24127"/>
                </a:solidFill>
                <a:latin typeface="Courier New" pitchFamily="34" charset="0"/>
                <a:ea typeface="Courier New" pitchFamily="34" charset="-122"/>
                <a:cs typeface="Courier New" pitchFamily="34" charset="-120"/>
              </a:rPr>
              <a:t>FAIL</a:t>
            </a:r>
            <a:endParaRPr lang="en-US" sz="1150" dirty="0"/>
          </a:p>
        </p:txBody>
      </p:sp>
      <p:sp>
        <p:nvSpPr>
          <p:cNvPr id="14" name="Shape 12"/>
          <p:cNvSpPr/>
          <p:nvPr/>
        </p:nvSpPr>
        <p:spPr>
          <a:xfrm>
            <a:off x="502920" y="2816352"/>
            <a:ext cx="6949440" cy="493776"/>
          </a:xfrm>
          <a:prstGeom prst="roundRect">
            <a:avLst>
              <a:gd name="adj" fmla="val 11111"/>
            </a:avLst>
          </a:prstGeom>
          <a:solidFill>
            <a:srgbClr val="FDF6F4"/>
          </a:solidFill>
          <a:ln w="12700">
            <a:solidFill>
              <a:srgbClr val="F5E3DD"/>
            </a:solidFill>
            <a:prstDash val="solid"/>
          </a:ln>
        </p:spPr>
      </p:sp>
      <p:sp>
        <p:nvSpPr>
          <p:cNvPr id="15" name="Text 13"/>
          <p:cNvSpPr txBox="1"/>
          <p:nvPr/>
        </p:nvSpPr>
        <p:spPr>
          <a:xfrm>
            <a:off x="731520" y="2871216"/>
            <a:ext cx="2651760" cy="274320"/>
          </a:xfrm>
          <a:prstGeom prst="rect">
            <a:avLst/>
          </a:prstGeom>
          <a:noFill/>
          <a:ln/>
        </p:spPr>
        <p:txBody>
          <a:bodyPr wrap="square" lIns="0" tIns="0" rIns="0" bIns="0" rtlCol="0" anchor="ctr"/>
          <a:lstStyle/>
          <a:p>
            <a:pPr indent="0" marL="0">
              <a:buNone/>
            </a:pPr>
            <a:r>
              <a:rPr lang="en-US" sz="1150" dirty="0">
                <a:solidFill>
                  <a:srgbClr val="0E1116"/>
                </a:solidFill>
                <a:latin typeface="Courier New" pitchFamily="34" charset="0"/>
                <a:ea typeface="Courier New" pitchFamily="34" charset="-122"/>
                <a:cs typeface="Courier New" pitchFamily="34" charset="-120"/>
              </a:rPr>
              <a:t>macroF1</a:t>
            </a:r>
            <a:endParaRPr lang="en-US" sz="1150" dirty="0"/>
          </a:p>
        </p:txBody>
      </p:sp>
      <p:sp>
        <p:nvSpPr>
          <p:cNvPr id="16" name="Text 14"/>
          <p:cNvSpPr txBox="1"/>
          <p:nvPr/>
        </p:nvSpPr>
        <p:spPr>
          <a:xfrm>
            <a:off x="3291840" y="2871216"/>
            <a:ext cx="1097280" cy="274320"/>
          </a:xfrm>
          <a:prstGeom prst="rect">
            <a:avLst/>
          </a:prstGeom>
          <a:noFill/>
          <a:ln/>
        </p:spPr>
        <p:txBody>
          <a:bodyPr wrap="square" lIns="0" tIns="0" rIns="0" bIns="0" rtlCol="0" anchor="ctr"/>
          <a:lstStyle/>
          <a:p>
            <a:pPr indent="0" marL="0">
              <a:buNone/>
            </a:pPr>
            <a:r>
              <a:rPr lang="en-US" sz="1150" b="1" dirty="0">
                <a:solidFill>
                  <a:srgbClr val="C24127"/>
                </a:solidFill>
                <a:latin typeface="Courier New" pitchFamily="34" charset="0"/>
                <a:ea typeface="Courier New" pitchFamily="34" charset="-122"/>
                <a:cs typeface="Courier New" pitchFamily="34" charset="-120"/>
              </a:rPr>
              <a:t>0.667</a:t>
            </a:r>
            <a:endParaRPr lang="en-US" sz="1150" dirty="0"/>
          </a:p>
        </p:txBody>
      </p:sp>
      <p:sp>
        <p:nvSpPr>
          <p:cNvPr id="17" name="Text 15"/>
          <p:cNvSpPr txBox="1"/>
          <p:nvPr/>
        </p:nvSpPr>
        <p:spPr>
          <a:xfrm>
            <a:off x="4480560" y="2871216"/>
            <a:ext cx="1097280" cy="274320"/>
          </a:xfrm>
          <a:prstGeom prst="rect">
            <a:avLst/>
          </a:prstGeom>
          <a:noFill/>
          <a:ln/>
        </p:spPr>
        <p:txBody>
          <a:bodyPr wrap="square" lIns="0" tIns="0" rIns="0" bIns="0" rtlCol="0" anchor="ctr"/>
          <a:lstStyle/>
          <a:p>
            <a:pPr indent="0" marL="0">
              <a:buNone/>
            </a:pPr>
            <a:r>
              <a:rPr lang="en-US" sz="1150" dirty="0">
                <a:solidFill>
                  <a:srgbClr val="5B6672"/>
                </a:solidFill>
                <a:latin typeface="Courier New" pitchFamily="34" charset="0"/>
                <a:ea typeface="Courier New" pitchFamily="34" charset="-122"/>
                <a:cs typeface="Courier New" pitchFamily="34" charset="-120"/>
              </a:rPr>
              <a:t>≥ 0.75</a:t>
            </a:r>
            <a:endParaRPr lang="en-US" sz="1150" dirty="0"/>
          </a:p>
        </p:txBody>
      </p:sp>
      <p:sp>
        <p:nvSpPr>
          <p:cNvPr id="18" name="Text 16"/>
          <p:cNvSpPr txBox="1"/>
          <p:nvPr/>
        </p:nvSpPr>
        <p:spPr>
          <a:xfrm>
            <a:off x="5760720" y="2871216"/>
            <a:ext cx="1371600" cy="274320"/>
          </a:xfrm>
          <a:prstGeom prst="rect">
            <a:avLst/>
          </a:prstGeom>
          <a:noFill/>
          <a:ln/>
        </p:spPr>
        <p:txBody>
          <a:bodyPr wrap="square" lIns="0" tIns="0" rIns="0" bIns="0" rtlCol="0" anchor="ctr"/>
          <a:lstStyle/>
          <a:p>
            <a:pPr indent="0" marL="0">
              <a:buNone/>
            </a:pPr>
            <a:r>
              <a:rPr lang="en-US" sz="1150" b="1" dirty="0">
                <a:solidFill>
                  <a:srgbClr val="C24127"/>
                </a:solidFill>
                <a:latin typeface="Courier New" pitchFamily="34" charset="0"/>
                <a:ea typeface="Courier New" pitchFamily="34" charset="-122"/>
                <a:cs typeface="Courier New" pitchFamily="34" charset="-120"/>
              </a:rPr>
              <a:t>FAIL</a:t>
            </a:r>
            <a:endParaRPr lang="en-US" sz="1150" dirty="0"/>
          </a:p>
        </p:txBody>
      </p:sp>
      <p:sp>
        <p:nvSpPr>
          <p:cNvPr id="19" name="Shape 17"/>
          <p:cNvSpPr/>
          <p:nvPr/>
        </p:nvSpPr>
        <p:spPr>
          <a:xfrm>
            <a:off x="502920" y="3364992"/>
            <a:ext cx="6949440" cy="493776"/>
          </a:xfrm>
          <a:prstGeom prst="roundRect">
            <a:avLst>
              <a:gd name="adj" fmla="val 11111"/>
            </a:avLst>
          </a:prstGeom>
          <a:solidFill>
            <a:srgbClr val="F5FAF8"/>
          </a:solidFill>
          <a:ln w="12700">
            <a:solidFill>
              <a:srgbClr val="E2F0EA"/>
            </a:solidFill>
            <a:prstDash val="solid"/>
          </a:ln>
        </p:spPr>
      </p:sp>
      <p:sp>
        <p:nvSpPr>
          <p:cNvPr id="20" name="Text 18"/>
          <p:cNvSpPr txBox="1"/>
          <p:nvPr/>
        </p:nvSpPr>
        <p:spPr>
          <a:xfrm>
            <a:off x="731520" y="3419856"/>
            <a:ext cx="2651760" cy="274320"/>
          </a:xfrm>
          <a:prstGeom prst="rect">
            <a:avLst/>
          </a:prstGeom>
          <a:noFill/>
          <a:ln/>
        </p:spPr>
        <p:txBody>
          <a:bodyPr wrap="square" lIns="0" tIns="0" rIns="0" bIns="0" rtlCol="0" anchor="ctr"/>
          <a:lstStyle/>
          <a:p>
            <a:pPr indent="0" marL="0">
              <a:buNone/>
            </a:pPr>
            <a:r>
              <a:rPr lang="en-US" sz="1150" dirty="0">
                <a:solidFill>
                  <a:srgbClr val="0E1116"/>
                </a:solidFill>
                <a:latin typeface="Courier New" pitchFamily="34" charset="0"/>
                <a:ea typeface="Courier New" pitchFamily="34" charset="-122"/>
                <a:cs typeface="Courier New" pitchFamily="34" charset="-120"/>
              </a:rPr>
              <a:t>invalidOutputRate</a:t>
            </a:r>
            <a:endParaRPr lang="en-US" sz="1150" dirty="0"/>
          </a:p>
        </p:txBody>
      </p:sp>
      <p:sp>
        <p:nvSpPr>
          <p:cNvPr id="21" name="Text 19"/>
          <p:cNvSpPr txBox="1"/>
          <p:nvPr/>
        </p:nvSpPr>
        <p:spPr>
          <a:xfrm>
            <a:off x="3291840" y="3419856"/>
            <a:ext cx="1097280" cy="274320"/>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0.000</a:t>
            </a:r>
            <a:endParaRPr lang="en-US" sz="1150" dirty="0"/>
          </a:p>
        </p:txBody>
      </p:sp>
      <p:sp>
        <p:nvSpPr>
          <p:cNvPr id="22" name="Text 20"/>
          <p:cNvSpPr txBox="1"/>
          <p:nvPr/>
        </p:nvSpPr>
        <p:spPr>
          <a:xfrm>
            <a:off x="4480560" y="3419856"/>
            <a:ext cx="1097280" cy="274320"/>
          </a:xfrm>
          <a:prstGeom prst="rect">
            <a:avLst/>
          </a:prstGeom>
          <a:noFill/>
          <a:ln/>
        </p:spPr>
        <p:txBody>
          <a:bodyPr wrap="square" lIns="0" tIns="0" rIns="0" bIns="0" rtlCol="0" anchor="ctr"/>
          <a:lstStyle/>
          <a:p>
            <a:pPr indent="0" marL="0">
              <a:buNone/>
            </a:pPr>
            <a:r>
              <a:rPr lang="en-US" sz="1150" dirty="0">
                <a:solidFill>
                  <a:srgbClr val="5B6672"/>
                </a:solidFill>
                <a:latin typeface="Courier New" pitchFamily="34" charset="0"/>
                <a:ea typeface="Courier New" pitchFamily="34" charset="-122"/>
                <a:cs typeface="Courier New" pitchFamily="34" charset="-120"/>
              </a:rPr>
              <a:t>≤ 0.05</a:t>
            </a:r>
            <a:endParaRPr lang="en-US" sz="1150" dirty="0"/>
          </a:p>
        </p:txBody>
      </p:sp>
      <p:sp>
        <p:nvSpPr>
          <p:cNvPr id="23" name="Text 21"/>
          <p:cNvSpPr txBox="1"/>
          <p:nvPr/>
        </p:nvSpPr>
        <p:spPr>
          <a:xfrm>
            <a:off x="5760720" y="3419856"/>
            <a:ext cx="1371600" cy="274320"/>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pass</a:t>
            </a:r>
            <a:endParaRPr lang="en-US" sz="1150" dirty="0"/>
          </a:p>
        </p:txBody>
      </p:sp>
      <p:sp>
        <p:nvSpPr>
          <p:cNvPr id="24" name="Shape 22"/>
          <p:cNvSpPr/>
          <p:nvPr/>
        </p:nvSpPr>
        <p:spPr>
          <a:xfrm>
            <a:off x="502920" y="3913632"/>
            <a:ext cx="6949440" cy="493776"/>
          </a:xfrm>
          <a:prstGeom prst="roundRect">
            <a:avLst>
              <a:gd name="adj" fmla="val 11111"/>
            </a:avLst>
          </a:prstGeom>
          <a:solidFill>
            <a:srgbClr val="F5FAF8"/>
          </a:solidFill>
          <a:ln w="12700">
            <a:solidFill>
              <a:srgbClr val="E2F0EA"/>
            </a:solidFill>
            <a:prstDash val="solid"/>
          </a:ln>
        </p:spPr>
      </p:sp>
      <p:sp>
        <p:nvSpPr>
          <p:cNvPr id="25" name="Text 23"/>
          <p:cNvSpPr txBox="1"/>
          <p:nvPr/>
        </p:nvSpPr>
        <p:spPr>
          <a:xfrm>
            <a:off x="731520" y="3968496"/>
            <a:ext cx="2651760" cy="274320"/>
          </a:xfrm>
          <a:prstGeom prst="rect">
            <a:avLst/>
          </a:prstGeom>
          <a:noFill/>
          <a:ln/>
        </p:spPr>
        <p:txBody>
          <a:bodyPr wrap="square" lIns="0" tIns="0" rIns="0" bIns="0" rtlCol="0" anchor="ctr"/>
          <a:lstStyle/>
          <a:p>
            <a:pPr indent="0" marL="0">
              <a:buNone/>
            </a:pPr>
            <a:r>
              <a:rPr lang="en-US" sz="1150" dirty="0">
                <a:solidFill>
                  <a:srgbClr val="0E1116"/>
                </a:solidFill>
                <a:latin typeface="Courier New" pitchFamily="34" charset="0"/>
                <a:ea typeface="Courier New" pitchFamily="34" charset="-122"/>
                <a:cs typeface="Courier New" pitchFamily="34" charset="-120"/>
              </a:rPr>
              <a:t>successfulRequestRate</a:t>
            </a:r>
            <a:endParaRPr lang="en-US" sz="1150" dirty="0"/>
          </a:p>
        </p:txBody>
      </p:sp>
      <p:sp>
        <p:nvSpPr>
          <p:cNvPr id="26" name="Text 24"/>
          <p:cNvSpPr txBox="1"/>
          <p:nvPr/>
        </p:nvSpPr>
        <p:spPr>
          <a:xfrm>
            <a:off x="3291840" y="3968496"/>
            <a:ext cx="1097280" cy="274320"/>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1.000</a:t>
            </a:r>
            <a:endParaRPr lang="en-US" sz="1150" dirty="0"/>
          </a:p>
        </p:txBody>
      </p:sp>
      <p:sp>
        <p:nvSpPr>
          <p:cNvPr id="27" name="Text 25"/>
          <p:cNvSpPr txBox="1"/>
          <p:nvPr/>
        </p:nvSpPr>
        <p:spPr>
          <a:xfrm>
            <a:off x="4480560" y="3968496"/>
            <a:ext cx="1097280" cy="274320"/>
          </a:xfrm>
          <a:prstGeom prst="rect">
            <a:avLst/>
          </a:prstGeom>
          <a:noFill/>
          <a:ln/>
        </p:spPr>
        <p:txBody>
          <a:bodyPr wrap="square" lIns="0" tIns="0" rIns="0" bIns="0" rtlCol="0" anchor="ctr"/>
          <a:lstStyle/>
          <a:p>
            <a:pPr indent="0" marL="0">
              <a:buNone/>
            </a:pPr>
            <a:r>
              <a:rPr lang="en-US" sz="1150" dirty="0">
                <a:solidFill>
                  <a:srgbClr val="5B6672"/>
                </a:solidFill>
                <a:latin typeface="Courier New" pitchFamily="34" charset="0"/>
                <a:ea typeface="Courier New" pitchFamily="34" charset="-122"/>
                <a:cs typeface="Courier New" pitchFamily="34" charset="-120"/>
              </a:rPr>
              <a:t>≥ 0.95</a:t>
            </a:r>
            <a:endParaRPr lang="en-US" sz="1150" dirty="0"/>
          </a:p>
        </p:txBody>
      </p:sp>
      <p:sp>
        <p:nvSpPr>
          <p:cNvPr id="28" name="Text 26"/>
          <p:cNvSpPr txBox="1"/>
          <p:nvPr/>
        </p:nvSpPr>
        <p:spPr>
          <a:xfrm>
            <a:off x="5760720" y="3968496"/>
            <a:ext cx="1371600" cy="274320"/>
          </a:xfrm>
          <a:prstGeom prst="rect">
            <a:avLst/>
          </a:prstGeom>
          <a:noFill/>
          <a:ln/>
        </p:spPr>
        <p:txBody>
          <a:bodyPr wrap="square" lIns="0" tIns="0" rIns="0" bIns="0" rtlCol="0" anchor="ctr"/>
          <a:lstStyle/>
          <a:p>
            <a:pPr indent="0" marL="0">
              <a:buNone/>
            </a:pPr>
            <a:r>
              <a:rPr lang="en-US" sz="1150" b="1" dirty="0">
                <a:solidFill>
                  <a:srgbClr val="00926B"/>
                </a:solidFill>
                <a:latin typeface="Courier New" pitchFamily="34" charset="0"/>
                <a:ea typeface="Courier New" pitchFamily="34" charset="-122"/>
                <a:cs typeface="Courier New" pitchFamily="34" charset="-120"/>
              </a:rPr>
              <a:t>pass</a:t>
            </a:r>
            <a:endParaRPr lang="en-US" sz="1150" dirty="0"/>
          </a:p>
        </p:txBody>
      </p:sp>
      <p:sp>
        <p:nvSpPr>
          <p:cNvPr id="29" name="Text 27"/>
          <p:cNvSpPr txBox="1"/>
          <p:nvPr/>
        </p:nvSpPr>
        <p:spPr>
          <a:xfrm>
            <a:off x="566928" y="4590288"/>
            <a:ext cx="6949440" cy="274320"/>
          </a:xfrm>
          <a:prstGeom prst="rect">
            <a:avLst/>
          </a:prstGeom>
          <a:noFill/>
          <a:ln/>
        </p:spPr>
        <p:txBody>
          <a:bodyPr wrap="square" lIns="0" tIns="0" rIns="0" bIns="0" rtlCol="0" anchor="ctr"/>
          <a:lstStyle/>
          <a:p>
            <a:pPr indent="0" marL="0">
              <a:buNone/>
            </a:pPr>
            <a:r>
              <a:rPr lang="en-US" sz="1050" dirty="0">
                <a:solidFill>
                  <a:srgbClr val="10151C"/>
                </a:solidFill>
                <a:latin typeface="Courier New" pitchFamily="34" charset="0"/>
                <a:ea typeface="Courier New" pitchFamily="34" charset="-122"/>
                <a:cs typeface="Courier New" pitchFamily="34" charset="-120"/>
              </a:rPr>
              <a:t>passed: false  ·  medianLatencyMs 529.6  ·  p95LatencyMs 721.4  ·  throughput 1.79 samples/s</a:t>
            </a:r>
            <a:endParaRPr lang="en-US" sz="1050" dirty="0"/>
          </a:p>
        </p:txBody>
      </p:sp>
      <p:sp>
        <p:nvSpPr>
          <p:cNvPr id="30" name="Text 28"/>
          <p:cNvSpPr txBox="1"/>
          <p:nvPr/>
        </p:nvSpPr>
        <p:spPr>
          <a:xfrm>
            <a:off x="566928" y="5010912"/>
            <a:ext cx="6949440" cy="1005840"/>
          </a:xfrm>
          <a:prstGeom prst="rect">
            <a:avLst/>
          </a:prstGeom>
          <a:noFill/>
          <a:ln/>
        </p:spPr>
        <p:txBody>
          <a:bodyPr wrap="square" lIns="0" tIns="0" rIns="0" bIns="0" rtlCol="0" anchor="t"/>
          <a:lstStyle/>
          <a:p>
            <a:pPr algn="l" indent="0" marL="0">
              <a:lnSpc>
                <a:spcPts val="1600"/>
              </a:lnSpc>
              <a:buNone/>
            </a:pPr>
            <a:r>
              <a:rPr lang="en-US" sz="1200" dirty="0">
                <a:solidFill>
                  <a:srgbClr val="5B6672"/>
                </a:solidFill>
                <a:latin typeface="Calibri" pitchFamily="34" charset="0"/>
                <a:ea typeface="Calibri" pitchFamily="34" charset="-122"/>
                <a:cs typeface="Calibri" pitchFamily="34" charset="-120"/>
              </a:rPr>
              <a:t>A 7B general vision model, unfine-tuned, on a bounded synthetic set. The interesting property is not the number — it is that the harness recorded, validated and committed a run that does not meet its own bar, rather than moving the bar.</a:t>
            </a:r>
            <a:endParaRPr lang="en-US" sz="1200" dirty="0"/>
          </a:p>
        </p:txBody>
      </p:sp>
      <p:sp>
        <p:nvSpPr>
          <p:cNvPr id="31" name="Shape 29"/>
          <p:cNvSpPr/>
          <p:nvPr/>
        </p:nvSpPr>
        <p:spPr>
          <a:xfrm>
            <a:off x="7772400" y="1572768"/>
            <a:ext cx="3858768" cy="3968496"/>
          </a:xfrm>
          <a:prstGeom prst="roundRect">
            <a:avLst>
              <a:gd name="adj" fmla="val 1896"/>
            </a:avLst>
          </a:prstGeom>
          <a:solidFill>
            <a:srgbClr val="0E1116"/>
          </a:solidFill>
          <a:ln w="12700">
            <a:solidFill>
              <a:srgbClr val="0E1116"/>
            </a:solidFill>
            <a:prstDash val="solid"/>
          </a:ln>
        </p:spPr>
      </p:sp>
      <p:sp>
        <p:nvSpPr>
          <p:cNvPr id="32" name="Text 30"/>
          <p:cNvSpPr txBox="1"/>
          <p:nvPr/>
        </p:nvSpPr>
        <p:spPr>
          <a:xfrm>
            <a:off x="8046720" y="1792224"/>
            <a:ext cx="33832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 an evidence file pins</a:t>
            </a:r>
            <a:endParaRPr lang="en-US" sz="1400" dirty="0"/>
          </a:p>
        </p:txBody>
      </p:sp>
      <p:sp>
        <p:nvSpPr>
          <p:cNvPr id="33" name="Text 31"/>
          <p:cNvSpPr txBox="1"/>
          <p:nvPr/>
        </p:nvSpPr>
        <p:spPr>
          <a:xfrm>
            <a:off x="8046720" y="2194560"/>
            <a:ext cx="3401568" cy="3657600"/>
          </a:xfrm>
          <a:prstGeom prst="rect">
            <a:avLst/>
          </a:prstGeom>
          <a:noFill/>
          <a:ln/>
        </p:spPr>
        <p:txBody>
          <a:bodyPr wrap="square" lIns="0" tIns="0" rIns="0" bIns="0" rtlCol="0" anchor="t"/>
          <a:lstStyle/>
          <a:p>
            <a:pPr marL="342900" indent="-342900">
              <a:lnSpc>
                <a:spcPts val="1350"/>
              </a:lnSpc>
              <a:spcAft>
                <a:spcPts val="800"/>
              </a:spcAft>
              <a:buSzPct val="100000"/>
              <a:buChar char="–"/>
            </a:pPr>
            <a:r>
              <a:rPr lang="en-US" sz="1050" dirty="0">
                <a:solidFill>
                  <a:srgbClr val="A7B2BE"/>
                </a:solidFill>
                <a:latin typeface="Calibri" pitchFamily="34" charset="0"/>
                <a:ea typeface="Calibri" pitchFamily="34" charset="-122"/>
                <a:cs typeface="Calibri" pitchFamily="34" charset="-120"/>
              </a:rPr>
              <a:t>workload, dataset, manifest, preprocessing and prompt versions, each independently versioned</a:t>
            </a:r>
            <a:endParaRPr lang="en-US" sz="1050" dirty="0"/>
          </a:p>
          <a:p>
            <a:pPr marL="342900" indent="-342900">
              <a:lnSpc>
                <a:spcPts val="1350"/>
              </a:lnSpc>
              <a:spcAft>
                <a:spcPts val="800"/>
              </a:spcAft>
              <a:buSzPct val="100000"/>
              <a:buChar char="–"/>
            </a:pPr>
            <a:r>
              <a:rPr lang="en-US" sz="1050" dirty="0">
                <a:solidFill>
                  <a:srgbClr val="A7B2BE"/>
                </a:solidFill>
                <a:latin typeface="Calibri" pitchFamily="34" charset="0"/>
                <a:ea typeface="Calibri" pitchFamily="34" charset="-122"/>
                <a:cs typeface="Calibri" pitchFamily="34" charset="-120"/>
              </a:rPr>
              <a:t>manifest SHA-256 and git commit SHA of the code that produced it</a:t>
            </a:r>
            <a:endParaRPr lang="en-US" sz="1050" dirty="0"/>
          </a:p>
          <a:p>
            <a:pPr marL="342900" indent="-342900">
              <a:lnSpc>
                <a:spcPts val="1350"/>
              </a:lnSpc>
              <a:spcAft>
                <a:spcPts val="800"/>
              </a:spcAft>
              <a:buSzPct val="100000"/>
              <a:buChar char="–"/>
            </a:pPr>
            <a:r>
              <a:rPr lang="en-US" sz="1050" dirty="0">
                <a:solidFill>
                  <a:srgbClr val="A7B2BE"/>
                </a:solidFill>
                <a:latin typeface="Calibri" pitchFamily="34" charset="0"/>
                <a:ea typeface="Calibri" pitchFamily="34" charset="-122"/>
                <a:cs typeface="Calibri" pitchFamily="34" charset="-120"/>
              </a:rPr>
              <a:t>controlled vs live execution mode — a live file exists only if a provider actually ran</a:t>
            </a:r>
            <a:endParaRPr lang="en-US" sz="1050" dirty="0"/>
          </a:p>
          <a:p>
            <a:pPr marL="342900" indent="-342900">
              <a:lnSpc>
                <a:spcPts val="1350"/>
              </a:lnSpc>
              <a:spcAft>
                <a:spcPts val="800"/>
              </a:spcAft>
              <a:buSzPct val="100000"/>
              <a:buChar char="–"/>
            </a:pPr>
            <a:r>
              <a:rPr lang="en-US" sz="1050" dirty="0">
                <a:solidFill>
                  <a:srgbClr val="A7B2BE"/>
                </a:solidFill>
                <a:latin typeface="Calibri" pitchFamily="34" charset="0"/>
                <a:ea typeface="Calibri" pitchFamily="34" charset="-122"/>
                <a:cs typeface="Calibri" pitchFamily="34" charset="-120"/>
              </a:rPr>
              <a:t>per-sample predictions and latency, aggregate and per-class metrics</a:t>
            </a:r>
            <a:endParaRPr lang="en-US" sz="1050" dirty="0"/>
          </a:p>
          <a:p>
            <a:pPr marL="342900" indent="-342900">
              <a:lnSpc>
                <a:spcPts val="1350"/>
              </a:lnSpc>
              <a:spcAft>
                <a:spcPts val="800"/>
              </a:spcAft>
              <a:buSzPct val="100000"/>
              <a:buChar char="–"/>
            </a:pPr>
            <a:r>
              <a:rPr lang="en-US" sz="1050" dirty="0">
                <a:solidFill>
                  <a:srgbClr val="A7B2BE"/>
                </a:solidFill>
                <a:latin typeface="Calibri" pitchFamily="34" charset="0"/>
                <a:ea typeface="Calibri" pitchFamily="34" charset="-122"/>
                <a:cs typeface="Calibri" pitchFamily="34" charset="-120"/>
              </a:rPr>
              <a:t>thresholds, pass/fail, and an explicit limitations list</a:t>
            </a:r>
            <a:endParaRPr lang="en-US" sz="1050" dirty="0"/>
          </a:p>
        </p:txBody>
      </p:sp>
      <p:sp>
        <p:nvSpPr>
          <p:cNvPr id="34" name="Text 32"/>
          <p:cNvSpPr txBox="1"/>
          <p:nvPr/>
        </p:nvSpPr>
        <p:spPr>
          <a:xfrm>
            <a:off x="8046720" y="4791456"/>
            <a:ext cx="3401568" cy="585216"/>
          </a:xfrm>
          <a:prstGeom prst="rect">
            <a:avLst/>
          </a:prstGeom>
          <a:noFill/>
          <a:ln/>
        </p:spPr>
        <p:txBody>
          <a:bodyPr wrap="square" lIns="0" tIns="0" rIns="0" bIns="0" rtlCol="0" anchor="t"/>
          <a:lstStyle/>
          <a:p>
            <a:pPr indent="0" marL="0">
              <a:lnSpc>
                <a:spcPts val="1300"/>
              </a:lnSpc>
              <a:buNone/>
            </a:pPr>
            <a:r>
              <a:rPr lang="en-US" sz="1050" i="1" dirty="0">
                <a:solidFill>
                  <a:srgbClr val="00926B"/>
                </a:solidFill>
                <a:latin typeface="Calibri" pitchFamily="34" charset="0"/>
                <a:ea typeface="Calibri" pitchFamily="34" charset="-122"/>
                <a:cs typeface="Calibri" pitchFamily="34" charset="-120"/>
              </a:rPr>
              <a:t>Every artefact names the command that produced it and states, in its own header, what it does not prove.</a:t>
            </a:r>
            <a:endParaRPr lang="en-US" sz="1050" dirty="0"/>
          </a:p>
        </p:txBody>
      </p:sp>
      <p:sp>
        <p:nvSpPr>
          <p:cNvPr id="35" name="Text 33"/>
          <p:cNvSpPr txBox="1"/>
          <p:nvPr/>
        </p:nvSpPr>
        <p:spPr>
          <a:xfrm>
            <a:off x="11430000" y="6345936"/>
            <a:ext cx="457200" cy="274320"/>
          </a:xfrm>
          <a:prstGeom prst="rect">
            <a:avLst/>
          </a:prstGeom>
          <a:noFill/>
          <a:ln/>
        </p:spPr>
        <p:txBody>
          <a:bodyPr wrap="square" lIns="0" tIns="0" rIns="0" bIns="0" rtlCol="0" anchor="ctr"/>
          <a:lstStyle/>
          <a:p>
            <a:pPr algn="r" indent="0" marL="0">
              <a:buNone/>
            </a:pPr>
            <a:r>
              <a:rPr lang="en-US" sz="950" dirty="0">
                <a:solidFill>
                  <a:srgbClr val="5B6672"/>
                </a:solidFill>
                <a:latin typeface="Courier New" pitchFamily="34" charset="0"/>
                <a:ea typeface="Courier New" pitchFamily="34" charset="-122"/>
                <a:cs typeface="Courier New"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160" kern="0" dirty="0">
                <a:solidFill>
                  <a:srgbClr val="00926B"/>
                </a:solidFill>
                <a:latin typeface="Courier New" pitchFamily="34" charset="0"/>
                <a:ea typeface="Courier New" pitchFamily="34" charset="-122"/>
                <a:cs typeface="Courier New" pitchFamily="34" charset="-120"/>
              </a:rPr>
              <a:t>VERIFICATION</a:t>
            </a:r>
            <a:endParaRPr lang="en-US" sz="10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Every claim on the preceding slides has an executable check behind it</a:t>
            </a:r>
            <a:endParaRPr lang="en-US" sz="2800" dirty="0"/>
          </a:p>
        </p:txBody>
      </p:sp>
      <p:sp>
        <p:nvSpPr>
          <p:cNvPr id="4" name="Text 2"/>
          <p:cNvSpPr txBox="1"/>
          <p:nvPr/>
        </p:nvSpPr>
        <p:spPr>
          <a:xfrm>
            <a:off x="566928" y="1627632"/>
            <a:ext cx="365760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351 cases · 34 files</a:t>
            </a:r>
            <a:endParaRPr lang="en-US" sz="1700" dirty="0"/>
          </a:p>
        </p:txBody>
      </p:sp>
      <p:sp>
        <p:nvSpPr>
          <p:cNvPr id="5" name="Text 3"/>
          <p:cNvSpPr txBox="1"/>
          <p:nvPr/>
        </p:nvSpPr>
        <p:spPr>
          <a:xfrm>
            <a:off x="566928" y="2103120"/>
            <a:ext cx="1737360" cy="274320"/>
          </a:xfrm>
          <a:prstGeom prst="rect">
            <a:avLst/>
          </a:prstGeom>
          <a:noFill/>
          <a:ln/>
        </p:spPr>
        <p:txBody>
          <a:bodyPr wrap="square" lIns="0" tIns="0" rIns="0" bIns="0" rtlCol="0" anchor="t"/>
          <a:lstStyle/>
          <a:p>
            <a:pPr indent="0" marL="0">
              <a:buNone/>
            </a:pPr>
            <a:r>
              <a:rPr lang="en-US" sz="1100" dirty="0">
                <a:solidFill>
                  <a:srgbClr val="A7B2BE"/>
                </a:solidFill>
                <a:latin typeface="Courier New" pitchFamily="34" charset="0"/>
                <a:ea typeface="Courier New" pitchFamily="34" charset="-122"/>
                <a:cs typeface="Courier New" pitchFamily="34" charset="-120"/>
              </a:rPr>
              <a:t>benchmark</a:t>
            </a:r>
            <a:endParaRPr lang="en-US" sz="1100" dirty="0"/>
          </a:p>
        </p:txBody>
      </p:sp>
      <p:sp>
        <p:nvSpPr>
          <p:cNvPr id="6" name="Shape 4"/>
          <p:cNvSpPr/>
          <p:nvPr/>
        </p:nvSpPr>
        <p:spPr>
          <a:xfrm>
            <a:off x="2340864" y="2157984"/>
            <a:ext cx="2331720" cy="164592"/>
          </a:xfrm>
          <a:prstGeom prst="rect">
            <a:avLst/>
          </a:prstGeom>
          <a:solidFill>
            <a:srgbClr val="00926B"/>
          </a:solidFill>
          <a:ln/>
        </p:spPr>
      </p:sp>
      <p:sp>
        <p:nvSpPr>
          <p:cNvPr id="7" name="Text 5"/>
          <p:cNvSpPr txBox="1"/>
          <p:nvPr/>
        </p:nvSpPr>
        <p:spPr>
          <a:xfrm>
            <a:off x="4773168" y="2103120"/>
            <a:ext cx="502920" cy="274320"/>
          </a:xfrm>
          <a:prstGeom prst="rect">
            <a:avLst/>
          </a:prstGeom>
          <a:noFill/>
          <a:ln/>
        </p:spPr>
        <p:txBody>
          <a:bodyPr wrap="square" lIns="0" tIns="0" rIns="0" bIns="0" rtlCol="0" anchor="t"/>
          <a:lstStyle/>
          <a:p>
            <a:pPr algn="r" indent="0" marL="0">
              <a:buNone/>
            </a:pPr>
            <a:r>
              <a:rPr lang="en-US" sz="1100" b="1" dirty="0">
                <a:solidFill>
                  <a:srgbClr val="FFFFFF"/>
                </a:solidFill>
                <a:latin typeface="Courier New" pitchFamily="34" charset="0"/>
                <a:ea typeface="Courier New" pitchFamily="34" charset="-122"/>
                <a:cs typeface="Courier New" pitchFamily="34" charset="-120"/>
              </a:rPr>
              <a:t>230</a:t>
            </a:r>
            <a:endParaRPr lang="en-US" sz="1100" dirty="0"/>
          </a:p>
        </p:txBody>
      </p:sp>
      <p:sp>
        <p:nvSpPr>
          <p:cNvPr id="8" name="Text 6"/>
          <p:cNvSpPr txBox="1"/>
          <p:nvPr/>
        </p:nvSpPr>
        <p:spPr>
          <a:xfrm>
            <a:off x="566928" y="2505456"/>
            <a:ext cx="1737360" cy="274320"/>
          </a:xfrm>
          <a:prstGeom prst="rect">
            <a:avLst/>
          </a:prstGeom>
          <a:noFill/>
          <a:ln/>
        </p:spPr>
        <p:txBody>
          <a:bodyPr wrap="square" lIns="0" tIns="0" rIns="0" bIns="0" rtlCol="0" anchor="t"/>
          <a:lstStyle/>
          <a:p>
            <a:pPr indent="0" marL="0">
              <a:buNone/>
            </a:pPr>
            <a:r>
              <a:rPr lang="en-US" sz="1100" dirty="0">
                <a:solidFill>
                  <a:srgbClr val="A7B2BE"/>
                </a:solidFill>
                <a:latin typeface="Courier New" pitchFamily="34" charset="0"/>
                <a:ea typeface="Courier New" pitchFamily="34" charset="-122"/>
                <a:cs typeface="Courier New" pitchFamily="34" charset="-120"/>
              </a:rPr>
              <a:t>vision-benchmark</a:t>
            </a:r>
            <a:endParaRPr lang="en-US" sz="1100" dirty="0"/>
          </a:p>
        </p:txBody>
      </p:sp>
      <p:sp>
        <p:nvSpPr>
          <p:cNvPr id="9" name="Shape 7"/>
          <p:cNvSpPr/>
          <p:nvPr/>
        </p:nvSpPr>
        <p:spPr>
          <a:xfrm>
            <a:off x="2340864" y="2560320"/>
            <a:ext cx="547447" cy="164592"/>
          </a:xfrm>
          <a:prstGeom prst="rect">
            <a:avLst/>
          </a:prstGeom>
          <a:solidFill>
            <a:srgbClr val="1F6B57"/>
          </a:solidFill>
          <a:ln/>
        </p:spPr>
      </p:sp>
      <p:sp>
        <p:nvSpPr>
          <p:cNvPr id="10" name="Text 8"/>
          <p:cNvSpPr txBox="1"/>
          <p:nvPr/>
        </p:nvSpPr>
        <p:spPr>
          <a:xfrm>
            <a:off x="4773168" y="2505456"/>
            <a:ext cx="502920" cy="274320"/>
          </a:xfrm>
          <a:prstGeom prst="rect">
            <a:avLst/>
          </a:prstGeom>
          <a:noFill/>
          <a:ln/>
        </p:spPr>
        <p:txBody>
          <a:bodyPr wrap="square" lIns="0" tIns="0" rIns="0" bIns="0" rtlCol="0" anchor="t"/>
          <a:lstStyle/>
          <a:p>
            <a:pPr algn="r" indent="0" marL="0">
              <a:buNone/>
            </a:pPr>
            <a:r>
              <a:rPr lang="en-US" sz="1100" b="1" dirty="0">
                <a:solidFill>
                  <a:srgbClr val="FFFFFF"/>
                </a:solidFill>
                <a:latin typeface="Courier New" pitchFamily="34" charset="0"/>
                <a:ea typeface="Courier New" pitchFamily="34" charset="-122"/>
                <a:cs typeface="Courier New" pitchFamily="34" charset="-120"/>
              </a:rPr>
              <a:t>54</a:t>
            </a:r>
            <a:endParaRPr lang="en-US" sz="1100" dirty="0"/>
          </a:p>
        </p:txBody>
      </p:sp>
      <p:sp>
        <p:nvSpPr>
          <p:cNvPr id="11" name="Text 9"/>
          <p:cNvSpPr txBox="1"/>
          <p:nvPr/>
        </p:nvSpPr>
        <p:spPr>
          <a:xfrm>
            <a:off x="566928" y="2907792"/>
            <a:ext cx="1737360" cy="274320"/>
          </a:xfrm>
          <a:prstGeom prst="rect">
            <a:avLst/>
          </a:prstGeom>
          <a:noFill/>
          <a:ln/>
        </p:spPr>
        <p:txBody>
          <a:bodyPr wrap="square" lIns="0" tIns="0" rIns="0" bIns="0" rtlCol="0" anchor="t"/>
          <a:lstStyle/>
          <a:p>
            <a:pPr indent="0" marL="0">
              <a:buNone/>
            </a:pPr>
            <a:r>
              <a:rPr lang="en-US" sz="1100" dirty="0">
                <a:solidFill>
                  <a:srgbClr val="A7B2BE"/>
                </a:solidFill>
                <a:latin typeface="Courier New" pitchFamily="34" charset="0"/>
                <a:ea typeface="Courier New" pitchFamily="34" charset="-122"/>
                <a:cs typeface="Courier New" pitchFamily="34" charset="-120"/>
              </a:rPr>
              <a:t>dashboard</a:t>
            </a:r>
            <a:endParaRPr lang="en-US" sz="1100" dirty="0"/>
          </a:p>
        </p:txBody>
      </p:sp>
      <p:sp>
        <p:nvSpPr>
          <p:cNvPr id="12" name="Shape 10"/>
          <p:cNvSpPr/>
          <p:nvPr/>
        </p:nvSpPr>
        <p:spPr>
          <a:xfrm>
            <a:off x="2340864" y="2962656"/>
            <a:ext cx="334551" cy="164592"/>
          </a:xfrm>
          <a:prstGeom prst="rect">
            <a:avLst/>
          </a:prstGeom>
          <a:solidFill>
            <a:srgbClr val="1F6B57"/>
          </a:solidFill>
          <a:ln/>
        </p:spPr>
      </p:sp>
      <p:sp>
        <p:nvSpPr>
          <p:cNvPr id="13" name="Text 11"/>
          <p:cNvSpPr txBox="1"/>
          <p:nvPr/>
        </p:nvSpPr>
        <p:spPr>
          <a:xfrm>
            <a:off x="4773168" y="2907792"/>
            <a:ext cx="502920" cy="274320"/>
          </a:xfrm>
          <a:prstGeom prst="rect">
            <a:avLst/>
          </a:prstGeom>
          <a:noFill/>
          <a:ln/>
        </p:spPr>
        <p:txBody>
          <a:bodyPr wrap="square" lIns="0" tIns="0" rIns="0" bIns="0" rtlCol="0" anchor="t"/>
          <a:lstStyle/>
          <a:p>
            <a:pPr algn="r" indent="0" marL="0">
              <a:buNone/>
            </a:pPr>
            <a:r>
              <a:rPr lang="en-US" sz="1100" b="1" dirty="0">
                <a:solidFill>
                  <a:srgbClr val="FFFFFF"/>
                </a:solidFill>
                <a:latin typeface="Courier New" pitchFamily="34" charset="0"/>
                <a:ea typeface="Courier New" pitchFamily="34" charset="-122"/>
                <a:cs typeface="Courier New" pitchFamily="34" charset="-120"/>
              </a:rPr>
              <a:t>33</a:t>
            </a:r>
            <a:endParaRPr lang="en-US" sz="1100" dirty="0"/>
          </a:p>
        </p:txBody>
      </p:sp>
      <p:sp>
        <p:nvSpPr>
          <p:cNvPr id="14" name="Text 12"/>
          <p:cNvSpPr txBox="1"/>
          <p:nvPr/>
        </p:nvSpPr>
        <p:spPr>
          <a:xfrm>
            <a:off x="566928" y="3310128"/>
            <a:ext cx="1737360" cy="274320"/>
          </a:xfrm>
          <a:prstGeom prst="rect">
            <a:avLst/>
          </a:prstGeom>
          <a:noFill/>
          <a:ln/>
        </p:spPr>
        <p:txBody>
          <a:bodyPr wrap="square" lIns="0" tIns="0" rIns="0" bIns="0" rtlCol="0" anchor="t"/>
          <a:lstStyle/>
          <a:p>
            <a:pPr indent="0" marL="0">
              <a:buNone/>
            </a:pPr>
            <a:r>
              <a:rPr lang="en-US" sz="1100" dirty="0">
                <a:solidFill>
                  <a:srgbClr val="A7B2BE"/>
                </a:solidFill>
                <a:latin typeface="Courier New" pitchFamily="34" charset="0"/>
                <a:ea typeface="Courier New" pitchFamily="34" charset="-122"/>
                <a:cs typeface="Courier New" pitchFamily="34" charset="-120"/>
              </a:rPr>
              <a:t>core</a:t>
            </a:r>
            <a:endParaRPr lang="en-US" sz="1100" dirty="0"/>
          </a:p>
        </p:txBody>
      </p:sp>
      <p:sp>
        <p:nvSpPr>
          <p:cNvPr id="15" name="Shape 13"/>
          <p:cNvSpPr/>
          <p:nvPr/>
        </p:nvSpPr>
        <p:spPr>
          <a:xfrm>
            <a:off x="2340864" y="3364992"/>
            <a:ext cx="253448" cy="164592"/>
          </a:xfrm>
          <a:prstGeom prst="rect">
            <a:avLst/>
          </a:prstGeom>
          <a:solidFill>
            <a:srgbClr val="1F6B57"/>
          </a:solidFill>
          <a:ln/>
        </p:spPr>
      </p:sp>
      <p:sp>
        <p:nvSpPr>
          <p:cNvPr id="16" name="Text 14"/>
          <p:cNvSpPr txBox="1"/>
          <p:nvPr/>
        </p:nvSpPr>
        <p:spPr>
          <a:xfrm>
            <a:off x="4773168" y="3310128"/>
            <a:ext cx="502920" cy="274320"/>
          </a:xfrm>
          <a:prstGeom prst="rect">
            <a:avLst/>
          </a:prstGeom>
          <a:noFill/>
          <a:ln/>
        </p:spPr>
        <p:txBody>
          <a:bodyPr wrap="square" lIns="0" tIns="0" rIns="0" bIns="0" rtlCol="0" anchor="t"/>
          <a:lstStyle/>
          <a:p>
            <a:pPr algn="r" indent="0" marL="0">
              <a:buNone/>
            </a:pPr>
            <a:r>
              <a:rPr lang="en-US" sz="1100" b="1" dirty="0">
                <a:solidFill>
                  <a:srgbClr val="FFFFFF"/>
                </a:solidFill>
                <a:latin typeface="Courier New" pitchFamily="34" charset="0"/>
                <a:ea typeface="Courier New" pitchFamily="34" charset="-122"/>
                <a:cs typeface="Courier New" pitchFamily="34" charset="-120"/>
              </a:rPr>
              <a:t>25</a:t>
            </a:r>
            <a:endParaRPr lang="en-US" sz="1100" dirty="0"/>
          </a:p>
        </p:txBody>
      </p:sp>
      <p:sp>
        <p:nvSpPr>
          <p:cNvPr id="17" name="Text 15"/>
          <p:cNvSpPr txBox="1"/>
          <p:nvPr/>
        </p:nvSpPr>
        <p:spPr>
          <a:xfrm>
            <a:off x="566928" y="3712464"/>
            <a:ext cx="1737360" cy="274320"/>
          </a:xfrm>
          <a:prstGeom prst="rect">
            <a:avLst/>
          </a:prstGeom>
          <a:noFill/>
          <a:ln/>
        </p:spPr>
        <p:txBody>
          <a:bodyPr wrap="square" lIns="0" tIns="0" rIns="0" bIns="0" rtlCol="0" anchor="t"/>
          <a:lstStyle/>
          <a:p>
            <a:pPr indent="0" marL="0">
              <a:buNone/>
            </a:pPr>
            <a:r>
              <a:rPr lang="en-US" sz="1100" dirty="0">
                <a:solidFill>
                  <a:srgbClr val="A7B2BE"/>
                </a:solidFill>
                <a:latin typeface="Courier New" pitchFamily="34" charset="0"/>
                <a:ea typeface="Courier New" pitchFamily="34" charset="-122"/>
                <a:cs typeface="Courier New" pitchFamily="34" charset="-120"/>
              </a:rPr>
              <a:t>evaluation</a:t>
            </a:r>
            <a:endParaRPr lang="en-US" sz="1100" dirty="0"/>
          </a:p>
        </p:txBody>
      </p:sp>
      <p:sp>
        <p:nvSpPr>
          <p:cNvPr id="18" name="Shape 16"/>
          <p:cNvSpPr/>
          <p:nvPr/>
        </p:nvSpPr>
        <p:spPr>
          <a:xfrm>
            <a:off x="2340864" y="3767328"/>
            <a:ext cx="91440" cy="164592"/>
          </a:xfrm>
          <a:prstGeom prst="rect">
            <a:avLst/>
          </a:prstGeom>
          <a:solidFill>
            <a:srgbClr val="1F6B57"/>
          </a:solidFill>
          <a:ln/>
        </p:spPr>
      </p:sp>
      <p:sp>
        <p:nvSpPr>
          <p:cNvPr id="19" name="Text 17"/>
          <p:cNvSpPr txBox="1"/>
          <p:nvPr/>
        </p:nvSpPr>
        <p:spPr>
          <a:xfrm>
            <a:off x="4773168" y="3712464"/>
            <a:ext cx="502920" cy="274320"/>
          </a:xfrm>
          <a:prstGeom prst="rect">
            <a:avLst/>
          </a:prstGeom>
          <a:noFill/>
          <a:ln/>
        </p:spPr>
        <p:txBody>
          <a:bodyPr wrap="square" lIns="0" tIns="0" rIns="0" bIns="0" rtlCol="0" anchor="t"/>
          <a:lstStyle/>
          <a:p>
            <a:pPr algn="r" indent="0" marL="0">
              <a:buNone/>
            </a:pPr>
            <a:r>
              <a:rPr lang="en-US" sz="1100" b="1" dirty="0">
                <a:solidFill>
                  <a:srgbClr val="FFFFFF"/>
                </a:solidFill>
                <a:latin typeface="Courier New" pitchFamily="34" charset="0"/>
                <a:ea typeface="Courier New" pitchFamily="34" charset="-122"/>
                <a:cs typeface="Courier New" pitchFamily="34" charset="-120"/>
              </a:rPr>
              <a:t>9</a:t>
            </a:r>
            <a:endParaRPr lang="en-US" sz="1100" dirty="0"/>
          </a:p>
        </p:txBody>
      </p:sp>
      <p:sp>
        <p:nvSpPr>
          <p:cNvPr id="20" name="Shape 18"/>
          <p:cNvSpPr/>
          <p:nvPr/>
        </p:nvSpPr>
        <p:spPr>
          <a:xfrm>
            <a:off x="5577840" y="1572768"/>
            <a:ext cx="6053328" cy="2212848"/>
          </a:xfrm>
          <a:prstGeom prst="roundRect">
            <a:avLst>
              <a:gd name="adj" fmla="val 3306"/>
            </a:avLst>
          </a:prstGeom>
          <a:solidFill>
            <a:srgbClr val="1B222C"/>
          </a:solidFill>
          <a:ln w="12700">
            <a:solidFill>
              <a:srgbClr val="1B222C"/>
            </a:solidFill>
            <a:prstDash val="solid"/>
          </a:ln>
        </p:spPr>
      </p:sp>
      <p:sp>
        <p:nvSpPr>
          <p:cNvPr id="21" name="Text 19"/>
          <p:cNvSpPr txBox="1"/>
          <p:nvPr/>
        </p:nvSpPr>
        <p:spPr>
          <a:xfrm>
            <a:off x="5870448" y="1773936"/>
            <a:ext cx="548640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Ten-case evaluation matrix — npm run eval:matrix</a:t>
            </a:r>
            <a:endParaRPr lang="en-US" sz="1350" dirty="0"/>
          </a:p>
        </p:txBody>
      </p:sp>
      <p:sp>
        <p:nvSpPr>
          <p:cNvPr id="22" name="Text 20"/>
          <p:cNvSpPr txBox="1"/>
          <p:nvPr/>
        </p:nvSpPr>
        <p:spPr>
          <a:xfrm>
            <a:off x="5870448" y="2121408"/>
            <a:ext cx="5486400" cy="640080"/>
          </a:xfrm>
          <a:prstGeom prst="rect">
            <a:avLst/>
          </a:prstGeom>
          <a:noFill/>
          <a:ln/>
        </p:spPr>
        <p:txBody>
          <a:bodyPr wrap="square" lIns="0" tIns="0" rIns="0" bIns="0" rtlCol="0" anchor="ctr"/>
          <a:lstStyle/>
          <a:p>
            <a:pPr indent="0" marL="0">
              <a:lnSpc>
                <a:spcPts val="1350"/>
              </a:lnSpc>
              <a:buNone/>
            </a:pPr>
            <a:r>
              <a:rPr lang="en-US" sz="1100" dirty="0">
                <a:solidFill>
                  <a:srgbClr val="A7B2BE"/>
                </a:solidFill>
                <a:latin typeface="Calibri" pitchFamily="34" charset="0"/>
                <a:ea typeface="Calibri" pitchFamily="34" charset="-122"/>
                <a:cs typeface="Calibri" pitchFamily="34" charset="-120"/>
              </a:rPr>
              <a:t>Runs the real schemas, normaliser, planner and calculator against 1 normal, 3 malformed, 1 ambiguous, 3 injection, 1 missing-evidence and 1 provider-failure case. all_cases_behaved_as_documented: true.</a:t>
            </a:r>
            <a:endParaRPr lang="en-US" sz="1100" dirty="0"/>
          </a:p>
        </p:txBody>
      </p:sp>
      <p:sp>
        <p:nvSpPr>
          <p:cNvPr id="23" name="Text 21"/>
          <p:cNvSpPr txBox="1"/>
          <p:nvPr/>
        </p:nvSpPr>
        <p:spPr>
          <a:xfrm>
            <a:off x="5870448" y="2816352"/>
            <a:ext cx="5486400" cy="731520"/>
          </a:xfrm>
          <a:prstGeom prst="rect">
            <a:avLst/>
          </a:prstGeom>
          <a:noFill/>
          <a:ln/>
        </p:spPr>
        <p:txBody>
          <a:bodyPr wrap="square" lIns="0" tIns="0" rIns="0" bIns="0" rtlCol="0" anchor="ctr"/>
          <a:lstStyle/>
          <a:p>
            <a:pPr indent="0" marL="0">
              <a:lnSpc>
                <a:spcPts val="1350"/>
              </a:lnSpc>
              <a:buNone/>
            </a:pPr>
            <a:r>
              <a:rPr lang="en-US" sz="1100" dirty="0">
                <a:solidFill>
                  <a:srgbClr val="00926B"/>
                </a:solidFill>
                <a:latin typeface="Calibri" pitchFamily="34" charset="0"/>
                <a:ea typeface="Calibri" pitchFamily="34" charset="-122"/>
                <a:cs typeface="Calibri" pitchFamily="34" charset="-120"/>
              </a:rPr>
              <a:t>Injection threat model: EdgePilot never acts on model output — it does not execute it, pass it to a tool, or put it in a query. Output is only ever matched against a closed label set; anything else is recorded as invalid.</a:t>
            </a:r>
            <a:endParaRPr lang="en-US" sz="1100" dirty="0"/>
          </a:p>
        </p:txBody>
      </p:sp>
      <p:sp>
        <p:nvSpPr>
          <p:cNvPr id="24" name="Text 22"/>
          <p:cNvSpPr txBox="1"/>
          <p:nvPr/>
        </p:nvSpPr>
        <p:spPr>
          <a:xfrm>
            <a:off x="566928" y="4261104"/>
            <a:ext cx="1005840" cy="274320"/>
          </a:xfrm>
          <a:prstGeom prst="rect">
            <a:avLst/>
          </a:prstGeom>
          <a:noFill/>
          <a:ln/>
        </p:spPr>
        <p:txBody>
          <a:bodyPr wrap="square" lIns="0" tIns="0" rIns="0" bIns="0" rtlCol="0" anchor="ctr"/>
          <a:lstStyle/>
          <a:p>
            <a:pPr indent="0" marL="0">
              <a:buNone/>
            </a:pPr>
            <a:r>
              <a:rPr lang="en-US" sz="1100" b="1" dirty="0">
                <a:solidFill>
                  <a:srgbClr val="00926B"/>
                </a:solidFill>
                <a:latin typeface="Courier New" pitchFamily="34" charset="0"/>
                <a:ea typeface="Courier New" pitchFamily="34" charset="-122"/>
                <a:cs typeface="Courier New" pitchFamily="34" charset="-120"/>
              </a:rPr>
              <a:t>CI</a:t>
            </a:r>
            <a:endParaRPr lang="en-US" sz="1100" dirty="0"/>
          </a:p>
        </p:txBody>
      </p:sp>
      <p:sp>
        <p:nvSpPr>
          <p:cNvPr id="25" name="Text 23"/>
          <p:cNvSpPr txBox="1"/>
          <p:nvPr/>
        </p:nvSpPr>
        <p:spPr>
          <a:xfrm>
            <a:off x="1645920" y="4261104"/>
            <a:ext cx="9966960" cy="310896"/>
          </a:xfrm>
          <a:prstGeom prst="rect">
            <a:avLst/>
          </a:prstGeom>
          <a:noFill/>
          <a:ln/>
        </p:spPr>
        <p:txBody>
          <a:bodyPr wrap="square" lIns="0" tIns="0" rIns="0" bIns="0" rtlCol="0" anchor="ctr"/>
          <a:lstStyle/>
          <a:p>
            <a:pPr indent="0" marL="0">
              <a:buNone/>
            </a:pPr>
            <a:r>
              <a:rPr lang="en-US" sz="1150" dirty="0">
                <a:solidFill>
                  <a:srgbClr val="A7B2BE"/>
                </a:solidFill>
                <a:latin typeface="Calibri" pitchFamily="34" charset="0"/>
                <a:ea typeface="Calibri" pitchFamily="34" charset="-122"/>
                <a:cs typeface="Calibri" pitchFamily="34" charset="-120"/>
              </a:rPr>
              <a:t>lint → jest → next build on Node 24, push and PR to main and dev</a:t>
            </a:r>
            <a:endParaRPr lang="en-US" sz="1150" dirty="0"/>
          </a:p>
        </p:txBody>
      </p:sp>
      <p:sp>
        <p:nvSpPr>
          <p:cNvPr id="26" name="Text 24"/>
          <p:cNvSpPr txBox="1"/>
          <p:nvPr/>
        </p:nvSpPr>
        <p:spPr>
          <a:xfrm>
            <a:off x="566928" y="4681728"/>
            <a:ext cx="1005840" cy="274320"/>
          </a:xfrm>
          <a:prstGeom prst="rect">
            <a:avLst/>
          </a:prstGeom>
          <a:noFill/>
          <a:ln/>
        </p:spPr>
        <p:txBody>
          <a:bodyPr wrap="square" lIns="0" tIns="0" rIns="0" bIns="0" rtlCol="0" anchor="ctr"/>
          <a:lstStyle/>
          <a:p>
            <a:pPr indent="0" marL="0">
              <a:buNone/>
            </a:pPr>
            <a:r>
              <a:rPr lang="en-US" sz="1100" b="1" dirty="0">
                <a:solidFill>
                  <a:srgbClr val="00926B"/>
                </a:solidFill>
                <a:latin typeface="Courier New" pitchFamily="34" charset="0"/>
                <a:ea typeface="Courier New" pitchFamily="34" charset="-122"/>
                <a:cs typeface="Courier New" pitchFamily="34" charset="-120"/>
              </a:rPr>
              <a:t>pretest</a:t>
            </a:r>
            <a:endParaRPr lang="en-US" sz="1100" dirty="0"/>
          </a:p>
        </p:txBody>
      </p:sp>
      <p:sp>
        <p:nvSpPr>
          <p:cNvPr id="27" name="Text 25"/>
          <p:cNvSpPr txBox="1"/>
          <p:nvPr/>
        </p:nvSpPr>
        <p:spPr>
          <a:xfrm>
            <a:off x="1645920" y="4681728"/>
            <a:ext cx="9966960" cy="310896"/>
          </a:xfrm>
          <a:prstGeom prst="rect">
            <a:avLst/>
          </a:prstGeom>
          <a:noFill/>
          <a:ln/>
        </p:spPr>
        <p:txBody>
          <a:bodyPr wrap="square" lIns="0" tIns="0" rIns="0" bIns="0" rtlCol="0" anchor="ctr"/>
          <a:lstStyle/>
          <a:p>
            <a:pPr indent="0" marL="0">
              <a:buNone/>
            </a:pPr>
            <a:r>
              <a:rPr lang="en-US" sz="1150" dirty="0">
                <a:solidFill>
                  <a:srgbClr val="A7B2BE"/>
                </a:solidFill>
                <a:latin typeface="Calibri" pitchFamily="34" charset="0"/>
                <a:ea typeface="Calibri" pitchFamily="34" charset="-122"/>
                <a:cs typeface="Calibri" pitchFamily="34" charset="-120"/>
              </a:rPr>
              <a:t>regenerates fixtures and controlled evidence, so a stale artefact fails the suite</a:t>
            </a:r>
            <a:endParaRPr lang="en-US" sz="1150" dirty="0"/>
          </a:p>
        </p:txBody>
      </p:sp>
      <p:sp>
        <p:nvSpPr>
          <p:cNvPr id="28" name="Text 26"/>
          <p:cNvSpPr txBox="1"/>
          <p:nvPr/>
        </p:nvSpPr>
        <p:spPr>
          <a:xfrm>
            <a:off x="566928" y="5102352"/>
            <a:ext cx="1005840" cy="274320"/>
          </a:xfrm>
          <a:prstGeom prst="rect">
            <a:avLst/>
          </a:prstGeom>
          <a:noFill/>
          <a:ln/>
        </p:spPr>
        <p:txBody>
          <a:bodyPr wrap="square" lIns="0" tIns="0" rIns="0" bIns="0" rtlCol="0" anchor="ctr"/>
          <a:lstStyle/>
          <a:p>
            <a:pPr indent="0" marL="0">
              <a:buNone/>
            </a:pPr>
            <a:r>
              <a:rPr lang="en-US" sz="1100" b="1" dirty="0">
                <a:solidFill>
                  <a:srgbClr val="00926B"/>
                </a:solidFill>
                <a:latin typeface="Courier New" pitchFamily="34" charset="0"/>
                <a:ea typeface="Courier New" pitchFamily="34" charset="-122"/>
                <a:cs typeface="Courier New" pitchFamily="34" charset="-120"/>
              </a:rPr>
              <a:t>Docker</a:t>
            </a:r>
            <a:endParaRPr lang="en-US" sz="1100" dirty="0"/>
          </a:p>
        </p:txBody>
      </p:sp>
      <p:sp>
        <p:nvSpPr>
          <p:cNvPr id="29" name="Text 27"/>
          <p:cNvSpPr txBox="1"/>
          <p:nvPr/>
        </p:nvSpPr>
        <p:spPr>
          <a:xfrm>
            <a:off x="1645920" y="5102352"/>
            <a:ext cx="9966960" cy="310896"/>
          </a:xfrm>
          <a:prstGeom prst="rect">
            <a:avLst/>
          </a:prstGeom>
          <a:noFill/>
          <a:ln/>
        </p:spPr>
        <p:txBody>
          <a:bodyPr wrap="square" lIns="0" tIns="0" rIns="0" bIns="0" rtlCol="0" anchor="ctr"/>
          <a:lstStyle/>
          <a:p>
            <a:pPr indent="0" marL="0">
              <a:buNone/>
            </a:pPr>
            <a:r>
              <a:rPr lang="en-US" sz="1150" dirty="0">
                <a:solidFill>
                  <a:srgbClr val="A7B2BE"/>
                </a:solidFill>
                <a:latin typeface="Calibri" pitchFamily="34" charset="0"/>
                <a:ea typeface="Calibri" pitchFamily="34" charset="-122"/>
                <a:cs typeface="Calibri" pitchFamily="34" charset="-120"/>
              </a:rPr>
              <a:t>compose profiles for postgres, ollama and app with healthchecks; standalone output traced by next.config</a:t>
            </a:r>
            <a:endParaRPr lang="en-US" sz="1150" dirty="0"/>
          </a:p>
        </p:txBody>
      </p:sp>
      <p:sp>
        <p:nvSpPr>
          <p:cNvPr id="30" name="Text 28"/>
          <p:cNvSpPr txBox="1"/>
          <p:nvPr/>
        </p:nvSpPr>
        <p:spPr>
          <a:xfrm>
            <a:off x="566928" y="5522976"/>
            <a:ext cx="1005840" cy="274320"/>
          </a:xfrm>
          <a:prstGeom prst="rect">
            <a:avLst/>
          </a:prstGeom>
          <a:noFill/>
          <a:ln/>
        </p:spPr>
        <p:txBody>
          <a:bodyPr wrap="square" lIns="0" tIns="0" rIns="0" bIns="0" rtlCol="0" anchor="ctr"/>
          <a:lstStyle/>
          <a:p>
            <a:pPr indent="0" marL="0">
              <a:buNone/>
            </a:pPr>
            <a:r>
              <a:rPr lang="en-US" sz="1100" b="1" dirty="0">
                <a:solidFill>
                  <a:srgbClr val="00926B"/>
                </a:solidFill>
                <a:latin typeface="Courier New" pitchFamily="34" charset="0"/>
                <a:ea typeface="Courier New" pitchFamily="34" charset="-122"/>
                <a:cs typeface="Courier New" pitchFamily="34" charset="-120"/>
              </a:rPr>
              <a:t>Neon</a:t>
            </a:r>
            <a:endParaRPr lang="en-US" sz="1100" dirty="0"/>
          </a:p>
        </p:txBody>
      </p:sp>
      <p:sp>
        <p:nvSpPr>
          <p:cNvPr id="31" name="Text 29"/>
          <p:cNvSpPr txBox="1"/>
          <p:nvPr/>
        </p:nvSpPr>
        <p:spPr>
          <a:xfrm>
            <a:off x="1645920" y="5522976"/>
            <a:ext cx="9966960" cy="310896"/>
          </a:xfrm>
          <a:prstGeom prst="rect">
            <a:avLst/>
          </a:prstGeom>
          <a:noFill/>
          <a:ln/>
        </p:spPr>
        <p:txBody>
          <a:bodyPr wrap="square" lIns="0" tIns="0" rIns="0" bIns="0" rtlCol="0" anchor="ctr"/>
          <a:lstStyle/>
          <a:p>
            <a:pPr indent="0" marL="0">
              <a:buNone/>
            </a:pPr>
            <a:r>
              <a:rPr lang="en-US" sz="1150" dirty="0">
                <a:solidFill>
                  <a:srgbClr val="A7B2BE"/>
                </a:solidFill>
                <a:latin typeface="Calibri" pitchFamily="34" charset="0"/>
                <a:ea typeface="Calibri" pitchFamily="34" charset="-122"/>
                <a:cs typeface="Calibri" pitchFamily="34" charset="-120"/>
              </a:rPr>
              <a:t>pooled url for the app, unpooled directUrl for migrations — pgBouncer cannot carry DDL</a:t>
            </a:r>
            <a:endParaRPr lang="en-US" sz="1150" dirty="0"/>
          </a:p>
        </p:txBody>
      </p:sp>
      <p:sp>
        <p:nvSpPr>
          <p:cNvPr id="32" name="Text 30"/>
          <p:cNvSpPr txBox="1"/>
          <p:nvPr/>
        </p:nvSpPr>
        <p:spPr>
          <a:xfrm>
            <a:off x="566928" y="5943600"/>
            <a:ext cx="1005840" cy="274320"/>
          </a:xfrm>
          <a:prstGeom prst="rect">
            <a:avLst/>
          </a:prstGeom>
          <a:noFill/>
          <a:ln/>
        </p:spPr>
        <p:txBody>
          <a:bodyPr wrap="square" lIns="0" tIns="0" rIns="0" bIns="0" rtlCol="0" anchor="ctr"/>
          <a:lstStyle/>
          <a:p>
            <a:pPr indent="0" marL="0">
              <a:buNone/>
            </a:pPr>
            <a:r>
              <a:rPr lang="en-US" sz="1100" b="1" dirty="0">
                <a:solidFill>
                  <a:srgbClr val="00926B"/>
                </a:solidFill>
                <a:latin typeface="Courier New" pitchFamily="34" charset="0"/>
                <a:ea typeface="Courier New" pitchFamily="34" charset="-122"/>
                <a:cs typeface="Courier New" pitchFamily="34" charset="-120"/>
              </a:rPr>
              <a:t>Logging</a:t>
            </a:r>
            <a:endParaRPr lang="en-US" sz="1100" dirty="0"/>
          </a:p>
        </p:txBody>
      </p:sp>
      <p:sp>
        <p:nvSpPr>
          <p:cNvPr id="33" name="Text 31"/>
          <p:cNvSpPr txBox="1"/>
          <p:nvPr/>
        </p:nvSpPr>
        <p:spPr>
          <a:xfrm>
            <a:off x="1645920" y="5943600"/>
            <a:ext cx="9966960" cy="310896"/>
          </a:xfrm>
          <a:prstGeom prst="rect">
            <a:avLst/>
          </a:prstGeom>
          <a:noFill/>
          <a:ln/>
        </p:spPr>
        <p:txBody>
          <a:bodyPr wrap="square" lIns="0" tIns="0" rIns="0" bIns="0" rtlCol="0" anchor="ctr"/>
          <a:lstStyle/>
          <a:p>
            <a:pPr indent="0" marL="0">
              <a:buNone/>
            </a:pPr>
            <a:r>
              <a:rPr lang="en-US" sz="1150" dirty="0">
                <a:solidFill>
                  <a:srgbClr val="A7B2BE"/>
                </a:solidFill>
                <a:latin typeface="Calibri" pitchFamily="34" charset="0"/>
                <a:ea typeface="Calibri" pitchFamily="34" charset="-122"/>
                <a:cs typeface="Calibri" pitchFamily="34" charset="-120"/>
              </a:rPr>
              <a:t>session log digests prompts (length + 12 hex of SHA-256); credential-shaped keys are stripped at any depth, with no opt-out</a:t>
            </a:r>
            <a:endParaRPr lang="en-US" sz="1150" dirty="0"/>
          </a:p>
        </p:txBody>
      </p:sp>
      <p:sp>
        <p:nvSpPr>
          <p:cNvPr id="34" name="Text 32"/>
          <p:cNvSpPr txBox="1"/>
          <p:nvPr/>
        </p:nvSpPr>
        <p:spPr>
          <a:xfrm>
            <a:off x="566928" y="6455664"/>
            <a:ext cx="11064240" cy="274320"/>
          </a:xfrm>
          <a:prstGeom prst="rect">
            <a:avLst/>
          </a:prstGeom>
          <a:noFill/>
          <a:ln/>
        </p:spPr>
        <p:txBody>
          <a:bodyPr wrap="square" lIns="0" tIns="0" rIns="0" bIns="0" rtlCol="0" anchor="ctr"/>
          <a:lstStyle/>
          <a:p>
            <a:pPr indent="0" marL="0">
              <a:buNone/>
            </a:pPr>
            <a:r>
              <a:rPr lang="en-US" sz="1050" i="1" dirty="0">
                <a:solidFill>
                  <a:srgbClr val="6E7A86"/>
                </a:solidFill>
                <a:latin typeface="Calibri" pitchFamily="34" charset="0"/>
                <a:ea typeface="Calibri" pitchFamily="34" charset="-122"/>
                <a:cs typeface="Calibri" pitchFamily="34" charset="-120"/>
              </a:rPr>
              <a:t>Not yet in the contract: no authentication on any route; ownership is derived from workloads.user_id, and every response says so in limitations.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EdgePilot AI - Technical Overview</dc:title>
  <dc:subject>PptxGenJS Presentation</dc:subject>
  <dc:creator>EdgePilot AI</dc:creator>
  <cp:lastModifiedBy>EdgePilot AI</cp:lastModifiedBy>
  <cp:revision>1</cp:revision>
  <dcterms:created xsi:type="dcterms:W3CDTF">2026-09-01T09:32:44Z</dcterms:created>
  <dcterms:modified xsi:type="dcterms:W3CDTF">2026-09-01T09:32:44Z</dcterms:modified>
</cp:coreProperties>
</file>